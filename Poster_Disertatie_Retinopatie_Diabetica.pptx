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7550755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</p:sldIdLst>
  <p:sldSz cx="15113000" cy="10693400"/>
  <p:notesSz cx="6858000" cy="9144000"/>
  <p:embeddedFontLst>
    <p:embeddedFont>
      <p:font typeface="Arial Bold" panose="020B0704020202020204" pitchFamily="3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55600F-C4AF-59AF-E797-7F3831D60B3D}" name="Marius Enachescu - M16421" initials="ME" userId="S::marius.enachescu@microchip.com::d9b9fbc2-f89b-4d31-850b-4c1433f91fb3" providerId="AD"/>
  <p188:author id="{A2822312-285A-EE07-5195-C85D3D4420B6}" name="Iulia-Angela MIHALCEA (129048)" initials="IM" userId="S::iulia_angela.popa@upb.ro::8ad1c617-5100-4017-8733-5718c5da3e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C48"/>
    <a:srgbClr val="0E1946"/>
    <a:srgbClr val="15077B"/>
    <a:srgbClr val="1C0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52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microsoft.com/office/2018/10/relationships/authors" Target="authors.xml"/></Relationships>
</file>

<file path=ppt/comments/modernComment_104_755075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AC2A28-BDC4-4E83-82FD-63411B7F4541}" authorId="{A2822312-285A-EE07-5195-C85D3D4420B6}" created="2025-05-13T10:41:52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spMk id="14" creationId="{7BD96CFE-E0BD-6CA0-2F01-594F06B4A320}"/>
    </ac:deMkLst>
    <p188:txBody>
      <a:bodyPr/>
      <a:lstStyle/>
      <a:p>
        <a:r>
          <a:rPr lang="en-US"/>
          <a:t>Titlul lucrării - Font Arial Bold, dimensiunea 22</a:t>
        </a:r>
      </a:p>
    </p188:txBody>
  </p188:cm>
  <p188:cm id="{068AA0DB-3086-4969-8053-09C9BD2C3556}" authorId="{A2822312-285A-EE07-5195-C85D3D4420B6}" created="2025-05-13T10:43:45.3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spMk id="17" creationId="{C9D81920-32AD-1FC7-D9A7-592BC7436A17}"/>
    </ac:deMkLst>
    <p188:txBody>
      <a:bodyPr/>
      <a:lstStyle/>
      <a:p>
        <a:r>
          <a:rPr lang="en-US"/>
          <a:t>Arial dimensiunea 12
Student/Studentă (bold)
Profesor sau Profesori Coordonatori (Bold)</a:t>
        </a:r>
      </a:p>
    </p188:txBody>
  </p188:cm>
  <p188:cm id="{B883DB88-EB8F-47FA-8B98-9433CB33026F}" authorId="{A2822312-285A-EE07-5195-C85D3D4420B6}" created="2025-05-13T10:44:26.6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spMk id="45" creationId="{4CE2D894-CA62-EF1F-E487-570C911A900B}"/>
    </ac:deMkLst>
    <p188:txBody>
      <a:bodyPr/>
      <a:lstStyle/>
      <a:p>
        <a:r>
          <a:rPr lang="en-US"/>
          <a:t>Toate secțiunile lucrării Arial dimeniunea 10</a:t>
        </a:r>
      </a:p>
    </p188:txBody>
  </p188:cm>
  <p188:cm id="{BA4D9125-0697-4426-9FF7-06D09F2446DA}" authorId="{A2822312-285A-EE07-5195-C85D3D4420B6}" created="2025-05-13T10:44:52.5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spMk id="38" creationId="{9F715CB6-EED3-9A42-033C-79467F5C611B}"/>
    </ac:deMkLst>
    <p188:txBody>
      <a:bodyPr/>
      <a:lstStyle/>
      <a:p>
        <a:r>
          <a:rPr lang="en-US"/>
          <a:t>Spațiu dedicat poze/grafice etc.</a:t>
        </a:r>
      </a:p>
    </p188:txBody>
  </p188:cm>
  <p188:cm id="{E91D824A-6952-4314-8956-C541E0624A12}" authorId="{A2822312-285A-EE07-5195-C85D3D4420B6}" created="2025-05-13T10:45:20.6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grpSpMk id="21" creationId="{45988B13-8A94-F40A-65E7-662E61CA7E24}"/>
    </ac:deMkLst>
    <p188:txBody>
      <a:bodyPr/>
      <a:lstStyle/>
      <a:p>
        <a:r>
          <a:rPr lang="en-US"/>
          <a:t>Spațiu dedicat poze/grafice etc.</a:t>
        </a:r>
      </a:p>
    </p188:txBody>
  </p188:cm>
  <p188:cm id="{0D3AD74E-EC3E-440D-A851-C748B72D25A7}" authorId="{A2822312-285A-EE07-5195-C85D3D4420B6}" created="2025-05-13T10:45:36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8207187" sldId="260"/>
      <ac:spMk id="28" creationId="{14FF541B-F844-5895-DCC2-142E3202D446}"/>
    </ac:deMkLst>
    <p188:txBody>
      <a:bodyPr/>
      <a:lstStyle/>
      <a:p>
        <a:r>
          <a:rPr lang="en-US"/>
          <a:t>Spațiu dedicat poze/grafice etc.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microsoft.com/office/2018/10/relationships/comments" Target="../comments/modernComment_104_755075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6E38-FAE3-FF14-731A-E54AA825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6B4A08-E8F0-AA2D-F969-EF8B3F9526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5120000" cy="10692000"/>
          </a:xfrm>
          <a:custGeom>
            <a:avLst/>
            <a:gdLst/>
            <a:ahLst/>
            <a:cxnLst/>
            <a:rect l="l" t="t" r="r" b="b"/>
            <a:pathLst>
              <a:path w="15120000" h="10692000">
                <a:moveTo>
                  <a:pt x="0" y="0"/>
                </a:moveTo>
                <a:lnTo>
                  <a:pt x="15120000" y="0"/>
                </a:lnTo>
                <a:lnTo>
                  <a:pt x="1512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solidFill>
            <a:srgbClr val="0E1946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275405-B6FF-C775-4F0E-9D7D6A8578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0" y="-19255"/>
            <a:ext cx="4094858" cy="4094858"/>
          </a:xfrm>
          <a:custGeom>
            <a:avLst/>
            <a:gdLst/>
            <a:ahLst/>
            <a:cxnLst/>
            <a:rect l="l" t="t" r="r" b="b"/>
            <a:pathLst>
              <a:path w="6312945" h="6312945">
                <a:moveTo>
                  <a:pt x="0" y="6312944"/>
                </a:moveTo>
                <a:lnTo>
                  <a:pt x="6312945" y="6312944"/>
                </a:lnTo>
                <a:lnTo>
                  <a:pt x="6312945" y="0"/>
                </a:lnTo>
                <a:lnTo>
                  <a:pt x="0" y="0"/>
                </a:lnTo>
                <a:lnTo>
                  <a:pt x="0" y="63129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E5FD16C-83C3-3F42-359D-9552ACD866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183182" y="6785283"/>
            <a:ext cx="3925972" cy="3925972"/>
          </a:xfrm>
          <a:custGeom>
            <a:avLst/>
            <a:gdLst/>
            <a:ahLst/>
            <a:cxnLst/>
            <a:rect l="l" t="t" r="r" b="b"/>
            <a:pathLst>
              <a:path w="5567436" h="5567436">
                <a:moveTo>
                  <a:pt x="5567436" y="0"/>
                </a:moveTo>
                <a:lnTo>
                  <a:pt x="0" y="0"/>
                </a:lnTo>
                <a:lnTo>
                  <a:pt x="0" y="5567436"/>
                </a:lnTo>
                <a:lnTo>
                  <a:pt x="5567436" y="5567436"/>
                </a:lnTo>
                <a:lnTo>
                  <a:pt x="55674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88168A1-B448-1DBC-BBF5-D5DF29917C27}"/>
              </a:ext>
            </a:extLst>
          </p:cNvPr>
          <p:cNvGrpSpPr>
            <a:grpSpLocks/>
          </p:cNvGrpSpPr>
          <p:nvPr/>
        </p:nvGrpSpPr>
        <p:grpSpPr>
          <a:xfrm>
            <a:off x="316117" y="-170098"/>
            <a:ext cx="14480766" cy="10439036"/>
            <a:chOff x="0" y="-28575"/>
            <a:chExt cx="3669400" cy="26452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F5630DA-4FC0-0868-27C8-50EB92E5C12A}"/>
                </a:ext>
              </a:extLst>
            </p:cNvPr>
            <p:cNvSpPr>
              <a:spLocks/>
            </p:cNvSpPr>
            <p:nvPr/>
          </p:nvSpPr>
          <p:spPr>
            <a:xfrm>
              <a:off x="15372" y="66641"/>
              <a:ext cx="3654028" cy="2550017"/>
            </a:xfrm>
            <a:custGeom>
              <a:avLst/>
              <a:gdLst/>
              <a:ahLst/>
              <a:cxnLst/>
              <a:rect l="l" t="t" r="r" b="b"/>
              <a:pathLst>
                <a:path w="3654028" h="2550017">
                  <a:moveTo>
                    <a:pt x="28455" y="0"/>
                  </a:moveTo>
                  <a:lnTo>
                    <a:pt x="3625573" y="0"/>
                  </a:lnTo>
                  <a:cubicBezTo>
                    <a:pt x="3641288" y="0"/>
                    <a:pt x="3654028" y="12740"/>
                    <a:pt x="3654028" y="28455"/>
                  </a:cubicBezTo>
                  <a:lnTo>
                    <a:pt x="3654028" y="2521562"/>
                  </a:lnTo>
                  <a:cubicBezTo>
                    <a:pt x="3654028" y="2537277"/>
                    <a:pt x="3641288" y="2550017"/>
                    <a:pt x="3625573" y="2550017"/>
                  </a:cubicBezTo>
                  <a:lnTo>
                    <a:pt x="28455" y="2550017"/>
                  </a:lnTo>
                  <a:cubicBezTo>
                    <a:pt x="12740" y="2550017"/>
                    <a:pt x="0" y="2537277"/>
                    <a:pt x="0" y="2521562"/>
                  </a:cubicBezTo>
                  <a:lnTo>
                    <a:pt x="0" y="28455"/>
                  </a:lnTo>
                  <a:cubicBezTo>
                    <a:pt x="0" y="12740"/>
                    <a:pt x="12740" y="0"/>
                    <a:pt x="2845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332461F-3CCA-5A6A-6F59-72AB2C7F34F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28575"/>
              <a:ext cx="3654028" cy="2578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9FE336-7ED2-8DEF-AEC7-5FAB3F41A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291" y="709587"/>
            <a:ext cx="1421584" cy="557905"/>
          </a:xfrm>
          <a:custGeom>
            <a:avLst/>
            <a:gdLst/>
            <a:ahLst/>
            <a:cxnLst/>
            <a:rect l="l" t="t" r="r" b="b"/>
            <a:pathLst>
              <a:path w="1421584" h="557905">
                <a:moveTo>
                  <a:pt x="0" y="0"/>
                </a:moveTo>
                <a:lnTo>
                  <a:pt x="1421585" y="0"/>
                </a:lnTo>
                <a:lnTo>
                  <a:pt x="1421585" y="557905"/>
                </a:lnTo>
                <a:lnTo>
                  <a:pt x="0" y="557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881EBB1-FC3F-6FA7-DE90-68C7A822EE9F}"/>
              </a:ext>
            </a:extLst>
          </p:cNvPr>
          <p:cNvGrpSpPr/>
          <p:nvPr/>
        </p:nvGrpSpPr>
        <p:grpSpPr>
          <a:xfrm>
            <a:off x="7921874" y="389110"/>
            <a:ext cx="6397834" cy="1992220"/>
            <a:chOff x="0" y="-22225"/>
            <a:chExt cx="1621200" cy="504825"/>
          </a:xfrm>
          <a:solidFill>
            <a:srgbClr val="0E1946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15785A6-2EB2-1CE6-F06E-B3584D5F6F3A}"/>
                </a:ext>
              </a:extLst>
            </p:cNvPr>
            <p:cNvSpPr/>
            <p:nvPr/>
          </p:nvSpPr>
          <p:spPr>
            <a:xfrm>
              <a:off x="0" y="0"/>
              <a:ext cx="1621200" cy="482600"/>
            </a:xfrm>
            <a:custGeom>
              <a:avLst/>
              <a:gdLst/>
              <a:ahLst/>
              <a:cxnLst/>
              <a:rect l="l" t="t" r="r" b="b"/>
              <a:pathLst>
                <a:path w="1621200" h="482600">
                  <a:moveTo>
                    <a:pt x="1383075" y="0"/>
                  </a:moveTo>
                  <a:lnTo>
                    <a:pt x="1621200" y="238125"/>
                  </a:lnTo>
                  <a:lnTo>
                    <a:pt x="1621200" y="244475"/>
                  </a:lnTo>
                  <a:lnTo>
                    <a:pt x="1383075" y="482600"/>
                  </a:lnTo>
                  <a:lnTo>
                    <a:pt x="238125" y="482600"/>
                  </a:lnTo>
                  <a:lnTo>
                    <a:pt x="0" y="2444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383075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BD96CFE-E0BD-6CA0-2F01-594F06B4A320}"/>
                </a:ext>
              </a:extLst>
            </p:cNvPr>
            <p:cNvSpPr txBox="1"/>
            <p:nvPr/>
          </p:nvSpPr>
          <p:spPr>
            <a:xfrm>
              <a:off x="63500" y="-22225"/>
              <a:ext cx="1461363" cy="4413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„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Analiza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imaginilor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cu fund de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ochi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pentru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ajutor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în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diagnosticul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retinopatiei</a:t>
              </a:r>
              <a:r>
                <a:rPr lang="en-US" sz="22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diabetice</a:t>
              </a:r>
              <a:r>
                <a:rPr lang="en-US" sz="2199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”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1ABB3BE-07C5-912D-08AB-E63F06F92C9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926923" y="2446501"/>
            <a:ext cx="6397834" cy="660891"/>
            <a:chOff x="0" y="-116455"/>
            <a:chExt cx="1621200" cy="221030"/>
          </a:xfrm>
          <a:solidFill>
            <a:srgbClr val="0E1946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6B24F3C-B76D-1A95-DA03-113464829F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109661"/>
              <a:ext cx="1621200" cy="214236"/>
            </a:xfrm>
            <a:custGeom>
              <a:avLst/>
              <a:gdLst/>
              <a:ahLst/>
              <a:cxnLst/>
              <a:rect l="l" t="t" r="r" b="b"/>
              <a:pathLst>
                <a:path w="1621200" h="214236">
                  <a:moveTo>
                    <a:pt x="1621200" y="0"/>
                  </a:moveTo>
                  <a:lnTo>
                    <a:pt x="0" y="0"/>
                  </a:lnTo>
                  <a:lnTo>
                    <a:pt x="101600" y="107118"/>
                  </a:lnTo>
                  <a:lnTo>
                    <a:pt x="0" y="214236"/>
                  </a:lnTo>
                  <a:lnTo>
                    <a:pt x="1621200" y="214236"/>
                  </a:lnTo>
                  <a:lnTo>
                    <a:pt x="1519600" y="107118"/>
                  </a:lnTo>
                  <a:lnTo>
                    <a:pt x="162120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9D81920-32AD-1FC7-D9A7-592BC7436A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184" y="-116455"/>
              <a:ext cx="1443400" cy="2142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Student</a:t>
              </a:r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Stancovici Marian</a:t>
              </a:r>
            </a:p>
            <a:p>
              <a:pPr algn="ctr">
                <a:lnSpc>
                  <a:spcPts val="1679"/>
                </a:lnSpc>
              </a:pP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Profesor</a:t>
              </a: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Coordonator</a:t>
              </a:r>
              <a:endPara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  <a:p>
              <a:pPr algn="ctr">
                <a:lnSpc>
                  <a:spcPts val="1679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Conf. Dr. Ing. Laura-Maria Florea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4715A3AA-890F-438F-4586-4889E73D29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18568" y="5807306"/>
            <a:ext cx="2955576" cy="303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79"/>
              </a:lnSpc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E5225067-5699-FAF7-902C-64FB069382E6}"/>
              </a:ext>
            </a:extLst>
          </p:cNvPr>
          <p:cNvSpPr txBox="1">
            <a:spLocks/>
          </p:cNvSpPr>
          <p:nvPr/>
        </p:nvSpPr>
        <p:spPr>
          <a:xfrm>
            <a:off x="2221875" y="517273"/>
            <a:ext cx="4689597" cy="893318"/>
          </a:xfrm>
          <a:prstGeom prst="rect">
            <a:avLst/>
          </a:prstGeom>
          <a:noFill/>
        </p:spPr>
        <p:txBody>
          <a:bodyPr lIns="76200" tIns="76200" rIns="76200" bIns="76200" rtlCol="0" anchor="ctr"/>
          <a:lstStyle/>
          <a:p>
            <a:pPr algn="l">
              <a:lnSpc>
                <a:spcPts val="1679"/>
              </a:lnSpc>
            </a:pP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Universitatea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Națională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Știință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și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Tehnologie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POLITEHNICA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București</a:t>
            </a:r>
            <a:endParaRPr lang="en-US" sz="1000" b="1" dirty="0"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algn="l">
              <a:lnSpc>
                <a:spcPts val="1679"/>
              </a:lnSpc>
            </a:pP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Facultatea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Electronică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,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Telecomunicații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și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Tehnologia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Informației</a:t>
            </a:r>
            <a:endParaRPr lang="en-US" sz="1000" b="1" dirty="0"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algn="l">
              <a:lnSpc>
                <a:spcPts val="1679"/>
              </a:lnSpc>
            </a:pP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Specializarea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Tehnici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000" b="1" dirty="0" err="1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Avansate</a:t>
            </a:r>
            <a:r>
              <a:rPr lang="en-US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Imagistic</a:t>
            </a:r>
            <a:r>
              <a:rPr lang="ro-RO" sz="10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ă Digitală (TAID)</a:t>
            </a:r>
            <a:endParaRPr lang="en-US" sz="1000" b="1" dirty="0"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CD5E86-10CD-E832-C927-EA12C652BE27}"/>
              </a:ext>
            </a:extLst>
          </p:cNvPr>
          <p:cNvSpPr/>
          <p:nvPr/>
        </p:nvSpPr>
        <p:spPr>
          <a:xfrm>
            <a:off x="665647" y="1429075"/>
            <a:ext cx="7102643" cy="1570591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E2D894-CA62-EF1F-E487-570C911A900B}"/>
              </a:ext>
            </a:extLst>
          </p:cNvPr>
          <p:cNvSpPr txBox="1"/>
          <p:nvPr/>
        </p:nvSpPr>
        <p:spPr>
          <a:xfrm>
            <a:off x="855801" y="1543767"/>
            <a:ext cx="665271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Introducere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/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Motivare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algn="l"/>
            <a:endParaRPr lang="en-US" sz="1400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Retinopatia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diabetică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o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cauză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majoră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pierdere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prevenibilă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vederii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Screening-ul automat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poate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sprijini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medicii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prin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trierea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rapidă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a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imaginilor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fundus.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Problema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este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dificilă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deoarece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clasele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0–4 sunt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ordonate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clinic,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iar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leziunile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incipiente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sunt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subtile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D92857-A283-4F76-4C96-4B5569C8C969}"/>
              </a:ext>
            </a:extLst>
          </p:cNvPr>
          <p:cNvSpPr/>
          <p:nvPr/>
        </p:nvSpPr>
        <p:spPr>
          <a:xfrm>
            <a:off x="4227704" y="3161132"/>
            <a:ext cx="3897758" cy="2379112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F94EDA-25D6-8000-C341-7FC33967449D}"/>
              </a:ext>
            </a:extLst>
          </p:cNvPr>
          <p:cNvSpPr txBox="1"/>
          <p:nvPr/>
        </p:nvSpPr>
        <p:spPr>
          <a:xfrm>
            <a:off x="4420176" y="3277138"/>
            <a:ext cx="3576089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79"/>
              </a:lnSpc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2.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Stadiul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actual al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domeniului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endParaRPr lang="en-US" sz="1400" b="1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Metodele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moderne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folosesc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rețele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CNN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transfer learning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clasificarea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imaginilor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retiniene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Literatura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evidențiază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arhitecturi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precum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ResNet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, Inception,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EfficientNet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explicabile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Provocări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dezechilibru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clase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variații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între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dataset-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uri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risc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de data leakage.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8F3CE8-A57B-8D62-7B60-10689F2B248F}"/>
              </a:ext>
            </a:extLst>
          </p:cNvPr>
          <p:cNvSpPr/>
          <p:nvPr/>
        </p:nvSpPr>
        <p:spPr>
          <a:xfrm>
            <a:off x="498168" y="5965632"/>
            <a:ext cx="3442175" cy="4094858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79"/>
              </a:lnSpc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3.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Contribuția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studentului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Construirea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unui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pipeline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PyTorch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încărcare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preprocesare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antrenare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evaluare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Compararea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arhitecturilor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funcțiilor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pierdere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seturi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APTOS,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EyePACS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Balanced_Aug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Identificarea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data leakage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în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Diabetic_Balanced_Data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folosirea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unui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split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grupat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Integrarea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modelelor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într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-o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aplicație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web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inferență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Flask + React.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Integrarea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cu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sistemul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final </a:t>
            </a:r>
            <a:r>
              <a:rPr lang="ro-RO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î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dou</a:t>
            </a:r>
            <a:r>
              <a:rPr lang="ro-RO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etape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binarizare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-&gt;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clasificare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835273-4CC2-BBA0-5C81-2B9396621BAC}"/>
              </a:ext>
            </a:extLst>
          </p:cNvPr>
          <p:cNvSpPr/>
          <p:nvPr/>
        </p:nvSpPr>
        <p:spPr>
          <a:xfrm>
            <a:off x="4077755" y="8261943"/>
            <a:ext cx="4777314" cy="1856485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 Bold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 Bold"/>
              </a:rPr>
              <a:t>6.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 Bold"/>
              </a:rPr>
              <a:t>Concluzii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 Bold"/>
            </a:endParaRPr>
          </a:p>
          <a:p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 Bold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Sistemul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demonstrează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utilitatea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transfer learning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pentru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analiza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imaginilor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fundus.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Abordarea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în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două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etape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permite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separarea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detecției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bolii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gradarea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severității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Direcții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viitoare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augmentări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robuste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Visual Transformers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cascadă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binar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+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regresie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0–4</a:t>
            </a:r>
          </a:p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88938C6-0533-EC3F-7D16-18C41507528E}"/>
              </a:ext>
            </a:extLst>
          </p:cNvPr>
          <p:cNvSpPr/>
          <p:nvPr/>
        </p:nvSpPr>
        <p:spPr>
          <a:xfrm>
            <a:off x="9050558" y="6986771"/>
            <a:ext cx="5562600" cy="3128259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79"/>
              </a:lnSpc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4.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Evaluarea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performanțelor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Metrici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urmărite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Accuracy, Macro F1, Balanced Accuracy, AUC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Quadratic Weighted Kappa.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Analiza include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matrice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confuzie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curbe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ROC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rapoarte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precision/recall/F1.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Experimentele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finale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separă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detecția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binară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gradarea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severității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clasele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1–4.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Validarea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urmărește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atât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scorul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global,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cât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și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distanța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clinică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dintre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clasele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confundate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A7D7EC-5F25-3CBB-8A2A-57F77C759E8F}"/>
              </a:ext>
            </a:extLst>
          </p:cNvPr>
          <p:cNvSpPr/>
          <p:nvPr/>
        </p:nvSpPr>
        <p:spPr>
          <a:xfrm>
            <a:off x="8426502" y="3354851"/>
            <a:ext cx="3301249" cy="3422818"/>
          </a:xfrm>
          <a:prstGeom prst="roundRect">
            <a:avLst/>
          </a:prstGeom>
          <a:solidFill>
            <a:srgbClr val="130C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79"/>
              </a:lnSpc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5.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Rezultate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Model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binar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EfficientNet-B3: cel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bun AUC pe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validare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= 0,8602.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Cross-entropy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multiclasă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Accuracy test = 0,6618; QWK = 0,6247.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Regresie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1–4: QWK test = 0,6440, cu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praguri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optimizate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validare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>
              <a:lnSpc>
                <a:spcPts val="1679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•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Formularea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ordinală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obține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cel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mai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bun QWK test = 0,6561; 93,2%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dintre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erori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sunt la un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singur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grad.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9EB38-68B4-CB6F-C2CF-C4A661E7C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6948" y="3410761"/>
            <a:ext cx="2779424" cy="33723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555829-FFDF-DE50-6942-D555BA962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48" y="3036712"/>
            <a:ext cx="3262586" cy="28221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3D67B0-90DE-EC93-6584-562A204D6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377" y="5769629"/>
            <a:ext cx="1951450" cy="12103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3988FF-E92A-EAAE-CA66-C1A7D44720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3992" y="5807306"/>
            <a:ext cx="1895627" cy="10023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710974-5C12-6A99-2FC3-54163826A5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5531" y="6980022"/>
            <a:ext cx="1781175" cy="110477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91914F-9C3E-26B5-9084-480E6A1CF0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5939246" y="6986771"/>
            <a:ext cx="2955577" cy="118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071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405</Words>
  <Application>Microsoft Office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disertație - Retinopatie diabetică</dc:title>
  <dc:creator>Marius Enachescu - M16421</dc:creator>
  <cp:lastModifiedBy>gregsoft16@outlook.com</cp:lastModifiedBy>
  <cp:revision>18</cp:revision>
  <dcterms:created xsi:type="dcterms:W3CDTF">2006-08-16T00:00:00Z</dcterms:created>
  <dcterms:modified xsi:type="dcterms:W3CDTF">2026-06-15T10:42:40Z</dcterms:modified>
  <dc:identifier>DAGnUNJ27vQ</dc:identifier>
</cp:coreProperties>
</file>