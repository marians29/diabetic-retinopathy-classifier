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0" r:id="rId2"/>
  </p:sldIdLst>
  <p:sldSz cx="151130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55600F-C4AF-59AF-E797-7F3831D60B3D}" name="Marius Enachescu - M16421" initials="ME" userId="S::marius.enachescu@microchip.com::d9b9fbc2-f89b-4d31-850b-4c1433f91fb3" providerId="AD"/>
  <p188:author id="{A2822312-285A-EE07-5195-C85D3D4420B6}" name="Iulia-Angela MIHALCEA (129048)" initials="IM" userId="S::iulia_angela.popa@upb.ro::8ad1c617-5100-4017-8733-5718c5da3ec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0C48"/>
    <a:srgbClr val="0E1946"/>
    <a:srgbClr val="15077B"/>
    <a:srgbClr val="1C09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1524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Relationship Id="rId9" Type="http://schemas.microsoft.com/office/2018/10/relationships/authors" Target="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66E38-FAE3-FF14-731A-E54AA825A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C6B4A08-E8F0-AA2D-F969-EF8B3F95261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5120000" cy="10692000"/>
          </a:xfrm>
          <a:custGeom>
            <a:avLst/>
            <a:gdLst/>
            <a:ahLst/>
            <a:cxnLst/>
            <a:rect l="l" t="t" r="r" b="b"/>
            <a:pathLst>
              <a:path w="15120000" h="10692000">
                <a:moveTo>
                  <a:pt x="0" y="0"/>
                </a:moveTo>
                <a:lnTo>
                  <a:pt x="15120000" y="0"/>
                </a:lnTo>
                <a:lnTo>
                  <a:pt x="15120000" y="10692000"/>
                </a:lnTo>
                <a:lnTo>
                  <a:pt x="0" y="10692000"/>
                </a:lnTo>
                <a:lnTo>
                  <a:pt x="0" y="0"/>
                </a:lnTo>
                <a:close/>
              </a:path>
            </a:pathLst>
          </a:custGeom>
          <a:solidFill>
            <a:srgbClr val="0E1946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1275405-B6FF-C775-4F0E-9D7D6A8578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0" y="-19255"/>
            <a:ext cx="4094858" cy="4094858"/>
          </a:xfrm>
          <a:custGeom>
            <a:avLst/>
            <a:gdLst/>
            <a:ahLst/>
            <a:cxnLst/>
            <a:rect l="l" t="t" r="r" b="b"/>
            <a:pathLst>
              <a:path w="6312945" h="6312945">
                <a:moveTo>
                  <a:pt x="0" y="6312944"/>
                </a:moveTo>
                <a:lnTo>
                  <a:pt x="6312945" y="6312944"/>
                </a:lnTo>
                <a:lnTo>
                  <a:pt x="6312945" y="0"/>
                </a:lnTo>
                <a:lnTo>
                  <a:pt x="0" y="0"/>
                </a:lnTo>
                <a:lnTo>
                  <a:pt x="0" y="631294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E5FD16C-83C3-3F42-359D-9552ACD8669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11183182" y="6785283"/>
            <a:ext cx="3925972" cy="3925972"/>
          </a:xfrm>
          <a:custGeom>
            <a:avLst/>
            <a:gdLst/>
            <a:ahLst/>
            <a:cxnLst/>
            <a:rect l="l" t="t" r="r" b="b"/>
            <a:pathLst>
              <a:path w="5567436" h="5567436">
                <a:moveTo>
                  <a:pt x="5567436" y="0"/>
                </a:moveTo>
                <a:lnTo>
                  <a:pt x="0" y="0"/>
                </a:lnTo>
                <a:lnTo>
                  <a:pt x="0" y="5567436"/>
                </a:lnTo>
                <a:lnTo>
                  <a:pt x="5567436" y="5567436"/>
                </a:lnTo>
                <a:lnTo>
                  <a:pt x="55674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F88168A1-B448-1DBC-BBF5-D5DF29917C27}"/>
              </a:ext>
            </a:extLst>
          </p:cNvPr>
          <p:cNvGrpSpPr>
            <a:grpSpLocks/>
          </p:cNvGrpSpPr>
          <p:nvPr/>
        </p:nvGrpSpPr>
        <p:grpSpPr>
          <a:xfrm>
            <a:off x="316117" y="-170098"/>
            <a:ext cx="14480766" cy="10439036"/>
            <a:chOff x="0" y="-28575"/>
            <a:chExt cx="3669400" cy="2645233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F5630DA-4FC0-0868-27C8-50EB92E5C12A}"/>
                </a:ext>
              </a:extLst>
            </p:cNvPr>
            <p:cNvSpPr>
              <a:spLocks/>
            </p:cNvSpPr>
            <p:nvPr/>
          </p:nvSpPr>
          <p:spPr>
            <a:xfrm>
              <a:off x="15372" y="66641"/>
              <a:ext cx="3654028" cy="2550017"/>
            </a:xfrm>
            <a:custGeom>
              <a:avLst/>
              <a:gdLst/>
              <a:ahLst/>
              <a:cxnLst/>
              <a:rect l="l" t="t" r="r" b="b"/>
              <a:pathLst>
                <a:path w="3654028" h="2550017">
                  <a:moveTo>
                    <a:pt x="28455" y="0"/>
                  </a:moveTo>
                  <a:lnTo>
                    <a:pt x="3625573" y="0"/>
                  </a:lnTo>
                  <a:cubicBezTo>
                    <a:pt x="3641288" y="0"/>
                    <a:pt x="3654028" y="12740"/>
                    <a:pt x="3654028" y="28455"/>
                  </a:cubicBezTo>
                  <a:lnTo>
                    <a:pt x="3654028" y="2521562"/>
                  </a:lnTo>
                  <a:cubicBezTo>
                    <a:pt x="3654028" y="2537277"/>
                    <a:pt x="3641288" y="2550017"/>
                    <a:pt x="3625573" y="2550017"/>
                  </a:cubicBezTo>
                  <a:lnTo>
                    <a:pt x="28455" y="2550017"/>
                  </a:lnTo>
                  <a:cubicBezTo>
                    <a:pt x="12740" y="2550017"/>
                    <a:pt x="0" y="2537277"/>
                    <a:pt x="0" y="2521562"/>
                  </a:cubicBezTo>
                  <a:lnTo>
                    <a:pt x="0" y="28455"/>
                  </a:lnTo>
                  <a:cubicBezTo>
                    <a:pt x="0" y="12740"/>
                    <a:pt x="12740" y="0"/>
                    <a:pt x="28455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332461F-3CCA-5A6A-6F59-72AB2C7F34F8}"/>
                </a:ext>
              </a:extLst>
            </p:cNvPr>
            <p:cNvSpPr txBox="1">
              <a:spLocks/>
            </p:cNvSpPr>
            <p:nvPr/>
          </p:nvSpPr>
          <p:spPr>
            <a:xfrm>
              <a:off x="0" y="-28575"/>
              <a:ext cx="3654028" cy="25785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649FE336-7ED2-8DEF-AEC7-5FAB3F41A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291" y="709587"/>
            <a:ext cx="1421584" cy="557905"/>
          </a:xfrm>
          <a:custGeom>
            <a:avLst/>
            <a:gdLst/>
            <a:ahLst/>
            <a:cxnLst/>
            <a:rect l="l" t="t" r="r" b="b"/>
            <a:pathLst>
              <a:path w="1421584" h="557905">
                <a:moveTo>
                  <a:pt x="0" y="0"/>
                </a:moveTo>
                <a:lnTo>
                  <a:pt x="1421585" y="0"/>
                </a:lnTo>
                <a:lnTo>
                  <a:pt x="1421585" y="557905"/>
                </a:lnTo>
                <a:lnTo>
                  <a:pt x="0" y="557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2" name="Group 12">
            <a:extLst>
              <a:ext uri="{FF2B5EF4-FFF2-40B4-BE49-F238E27FC236}">
                <a16:creationId xmlns:a16="http://schemas.microsoft.com/office/drawing/2014/main" id="{F881EBB1-FC3F-6FA7-DE90-68C7A822EE9F}"/>
              </a:ext>
            </a:extLst>
          </p:cNvPr>
          <p:cNvGrpSpPr/>
          <p:nvPr/>
        </p:nvGrpSpPr>
        <p:grpSpPr>
          <a:xfrm>
            <a:off x="7921874" y="389110"/>
            <a:ext cx="6397834" cy="1992220"/>
            <a:chOff x="0" y="-22225"/>
            <a:chExt cx="1621200" cy="504825"/>
          </a:xfrm>
          <a:solidFill>
            <a:srgbClr val="0E1946"/>
          </a:solidFill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F15785A6-2EB2-1CE6-F06E-B3584D5F6F3A}"/>
                </a:ext>
              </a:extLst>
            </p:cNvPr>
            <p:cNvSpPr/>
            <p:nvPr/>
          </p:nvSpPr>
          <p:spPr>
            <a:xfrm>
              <a:off x="0" y="0"/>
              <a:ext cx="1621200" cy="482600"/>
            </a:xfrm>
            <a:custGeom>
              <a:avLst/>
              <a:gdLst/>
              <a:ahLst/>
              <a:cxnLst/>
              <a:rect l="l" t="t" r="r" b="b"/>
              <a:pathLst>
                <a:path w="1621200" h="482600">
                  <a:moveTo>
                    <a:pt x="1383075" y="0"/>
                  </a:moveTo>
                  <a:lnTo>
                    <a:pt x="1621200" y="238125"/>
                  </a:lnTo>
                  <a:lnTo>
                    <a:pt x="1621200" y="244475"/>
                  </a:lnTo>
                  <a:lnTo>
                    <a:pt x="1383075" y="482600"/>
                  </a:lnTo>
                  <a:lnTo>
                    <a:pt x="238125" y="482600"/>
                  </a:lnTo>
                  <a:lnTo>
                    <a:pt x="0" y="2444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383075" y="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7BD96CFE-E0BD-6CA0-2F01-594F06B4A320}"/>
                </a:ext>
              </a:extLst>
            </p:cNvPr>
            <p:cNvSpPr txBox="1"/>
            <p:nvPr/>
          </p:nvSpPr>
          <p:spPr>
            <a:xfrm>
              <a:off x="63500" y="-22225"/>
              <a:ext cx="1461363" cy="44132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r>
                <a:rPr lang="en-US" sz="2199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„</a:t>
              </a:r>
              <a:r>
                <a:rPr lang="en-US" sz="22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Analiza </a:t>
              </a:r>
              <a:r>
                <a:rPr lang="en-US" sz="22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imaginilor</a:t>
              </a:r>
              <a:r>
                <a:rPr lang="en-US" sz="22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cu fund de </a:t>
              </a:r>
              <a:r>
                <a:rPr lang="en-US" sz="22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ochi</a:t>
              </a:r>
              <a:r>
                <a:rPr lang="en-US" sz="22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2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pentru</a:t>
              </a:r>
              <a:r>
                <a:rPr lang="en-US" sz="22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2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ajutor</a:t>
              </a:r>
              <a:r>
                <a:rPr lang="en-US" sz="22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2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în</a:t>
              </a:r>
              <a:r>
                <a:rPr lang="en-US" sz="22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2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diagnosticul</a:t>
              </a:r>
              <a:r>
                <a:rPr lang="en-US" sz="22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2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retinopatiei</a:t>
              </a:r>
              <a:r>
                <a:rPr lang="en-US" sz="22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2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diabetice</a:t>
              </a:r>
              <a:r>
                <a:rPr lang="en-US" sz="2199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”</a:t>
              </a: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01ABB3BE-07C5-912D-08AB-E63F06F92C9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926923" y="2446501"/>
            <a:ext cx="6397834" cy="660891"/>
            <a:chOff x="0" y="-116455"/>
            <a:chExt cx="1621200" cy="221030"/>
          </a:xfrm>
          <a:solidFill>
            <a:srgbClr val="0E1946"/>
          </a:solidFill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76B24F3C-B76D-1A95-DA03-113464829F1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109661"/>
              <a:ext cx="1621200" cy="214236"/>
            </a:xfrm>
            <a:custGeom>
              <a:avLst/>
              <a:gdLst/>
              <a:ahLst/>
              <a:cxnLst/>
              <a:rect l="l" t="t" r="r" b="b"/>
              <a:pathLst>
                <a:path w="1621200" h="214236">
                  <a:moveTo>
                    <a:pt x="1621200" y="0"/>
                  </a:moveTo>
                  <a:lnTo>
                    <a:pt x="0" y="0"/>
                  </a:lnTo>
                  <a:lnTo>
                    <a:pt x="101600" y="107118"/>
                  </a:lnTo>
                  <a:lnTo>
                    <a:pt x="0" y="214236"/>
                  </a:lnTo>
                  <a:lnTo>
                    <a:pt x="1621200" y="214236"/>
                  </a:lnTo>
                  <a:lnTo>
                    <a:pt x="1519600" y="107118"/>
                  </a:lnTo>
                  <a:lnTo>
                    <a:pt x="1621200" y="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C9D81920-32AD-1FC7-D9A7-592BC7436A17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184" y="-116455"/>
              <a:ext cx="1443400" cy="21423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6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Student</a:t>
              </a: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Arial"/>
                  <a:cs typeface="Arial" panose="020B0604020202020204" pitchFamily="34" charset="0"/>
                  <a:sym typeface="Arial"/>
                </a:rPr>
                <a:t> Stancovici Marian</a:t>
              </a:r>
            </a:p>
            <a:p>
              <a:pPr algn="ctr">
                <a:lnSpc>
                  <a:spcPts val="1679"/>
                </a:lnSpc>
              </a:pPr>
              <a:r>
                <a:rPr lang="en-US" sz="16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Profesor</a:t>
              </a:r>
              <a:r>
                <a:rPr lang="en-US" sz="1600" b="1" dirty="0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1600" b="1" dirty="0" err="1">
                  <a:solidFill>
                    <a:schemeClr val="bg1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Coordonator</a:t>
              </a:r>
              <a:endParaRPr lang="en-US" sz="16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endParaRPr>
            </a:p>
            <a:p>
              <a:pPr algn="ctr">
                <a:lnSpc>
                  <a:spcPts val="1679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Arial"/>
                  <a:cs typeface="Arial" panose="020B0604020202020204" pitchFamily="34" charset="0"/>
                  <a:sym typeface="Arial"/>
                </a:rPr>
                <a:t>Conf. Dr. Ing. Laura-Maria Florea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4715A3AA-890F-438F-4586-4889E73D298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18568" y="5807306"/>
            <a:ext cx="2955576" cy="303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79"/>
              </a:lnSpc>
            </a:pP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E5225067-5699-FAF7-902C-64FB069382E6}"/>
              </a:ext>
            </a:extLst>
          </p:cNvPr>
          <p:cNvSpPr txBox="1">
            <a:spLocks/>
          </p:cNvSpPr>
          <p:nvPr/>
        </p:nvSpPr>
        <p:spPr>
          <a:xfrm>
            <a:off x="2221875" y="517273"/>
            <a:ext cx="4689597" cy="893318"/>
          </a:xfrm>
          <a:prstGeom prst="rect">
            <a:avLst/>
          </a:prstGeom>
          <a:noFill/>
        </p:spPr>
        <p:txBody>
          <a:bodyPr lIns="76200" tIns="76200" rIns="76200" bIns="76200" rtlCol="0" anchor="ctr"/>
          <a:lstStyle/>
          <a:p>
            <a:pPr algn="l">
              <a:lnSpc>
                <a:spcPts val="1679"/>
              </a:lnSpc>
            </a:pP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Universitatea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Națională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de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Știință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și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Tehnologie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POLITEHNICA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București</a:t>
            </a:r>
            <a:endParaRPr lang="en-US" sz="1000" b="1" dirty="0"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 algn="l">
              <a:lnSpc>
                <a:spcPts val="1679"/>
              </a:lnSpc>
            </a:pP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Facultatea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de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Electronică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,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Telecomunicații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și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Tehnologia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Informației</a:t>
            </a:r>
            <a:endParaRPr lang="en-US" sz="1000" b="1" dirty="0"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 algn="l">
              <a:lnSpc>
                <a:spcPts val="1679"/>
              </a:lnSpc>
            </a:pP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Specializarea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Tehnici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000" b="1" dirty="0" err="1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Avansate</a:t>
            </a:r>
            <a:r>
              <a:rPr lang="en-US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de Imagistic</a:t>
            </a:r>
            <a:r>
              <a:rPr lang="ro-RO" sz="10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ă Digitală (TAID)</a:t>
            </a:r>
            <a:endParaRPr lang="en-US" sz="1000" b="1" dirty="0"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CD5E86-10CD-E832-C927-EA12C652BE27}"/>
              </a:ext>
            </a:extLst>
          </p:cNvPr>
          <p:cNvSpPr/>
          <p:nvPr/>
        </p:nvSpPr>
        <p:spPr>
          <a:xfrm>
            <a:off x="665647" y="1429075"/>
            <a:ext cx="7102643" cy="1570591"/>
          </a:xfrm>
          <a:prstGeom prst="roundRect">
            <a:avLst/>
          </a:prstGeom>
          <a:solidFill>
            <a:srgbClr val="130C4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E2D894-CA62-EF1F-E487-570C911A900B}"/>
              </a:ext>
            </a:extLst>
          </p:cNvPr>
          <p:cNvSpPr txBox="1"/>
          <p:nvPr/>
        </p:nvSpPr>
        <p:spPr>
          <a:xfrm>
            <a:off x="855801" y="1543767"/>
            <a:ext cx="665271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l">
              <a:buAutoNum type="arabicPeriod"/>
            </a:pPr>
            <a:r>
              <a:rPr lang="en-US" sz="16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Introducere</a:t>
            </a:r>
            <a:r>
              <a:rPr lang="en-US" sz="16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/ </a:t>
            </a:r>
            <a:r>
              <a:rPr lang="en-US" sz="16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Motivare</a:t>
            </a:r>
            <a:endParaRPr lang="en-US" sz="1600" b="1" dirty="0">
              <a:solidFill>
                <a:schemeClr val="bg1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 algn="l"/>
            <a:endParaRPr lang="en-US" sz="1400" b="1" dirty="0">
              <a:solidFill>
                <a:schemeClr val="bg1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Retinopatia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diabetică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este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o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cauză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majoră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de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pierdere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prevenibilă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a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vederii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.</a:t>
            </a: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• Screening-ul automat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poate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sprijini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medicii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prin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trierea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rapidă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a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imaginilor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fundus.</a:t>
            </a: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Problema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este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dificilă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deoarece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clasele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0–4 sunt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ordonate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clinic,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iar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leziunile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incipiente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sunt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subtile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9D92857-A283-4F76-4C96-4B5569C8C969}"/>
              </a:ext>
            </a:extLst>
          </p:cNvPr>
          <p:cNvSpPr/>
          <p:nvPr/>
        </p:nvSpPr>
        <p:spPr>
          <a:xfrm>
            <a:off x="4227704" y="3161132"/>
            <a:ext cx="3897758" cy="2379112"/>
          </a:xfrm>
          <a:prstGeom prst="roundRect">
            <a:avLst/>
          </a:prstGeom>
          <a:solidFill>
            <a:srgbClr val="130C4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F94EDA-25D6-8000-C341-7FC33967449D}"/>
              </a:ext>
            </a:extLst>
          </p:cNvPr>
          <p:cNvSpPr txBox="1"/>
          <p:nvPr/>
        </p:nvSpPr>
        <p:spPr>
          <a:xfrm>
            <a:off x="4420176" y="3277138"/>
            <a:ext cx="3576089" cy="26237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79"/>
              </a:lnSpc>
            </a:pPr>
            <a:r>
              <a:rPr lang="en-US" sz="16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2. </a:t>
            </a:r>
            <a:r>
              <a:rPr lang="en-US" sz="16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Stadiul</a:t>
            </a:r>
            <a:r>
              <a:rPr lang="en-US" sz="16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actual al </a:t>
            </a:r>
            <a:r>
              <a:rPr lang="en-US" sz="16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domeniului</a:t>
            </a:r>
            <a:endParaRPr lang="en-US" sz="1600" b="1" dirty="0">
              <a:solidFill>
                <a:schemeClr val="bg1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>
              <a:lnSpc>
                <a:spcPts val="1679"/>
              </a:lnSpc>
            </a:pPr>
            <a:endParaRPr lang="en-US" sz="1400" b="1" dirty="0">
              <a:solidFill>
                <a:schemeClr val="bg1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Metodele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moderne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folosesc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rețele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CNN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transfer learning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pentru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clasificarea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imaginilor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retiniene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.</a:t>
            </a: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Literatura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evidențiază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arhitecturi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precum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ResNet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, Inception,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EfficientNet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modele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explicabile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.</a:t>
            </a: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Provocări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: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dezechilibru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de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clase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variații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între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dataset-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uri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risc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de data leakage.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C8F3CE8-A57B-8D62-7B60-10689F2B248F}"/>
              </a:ext>
            </a:extLst>
          </p:cNvPr>
          <p:cNvSpPr/>
          <p:nvPr/>
        </p:nvSpPr>
        <p:spPr>
          <a:xfrm>
            <a:off x="498168" y="5965632"/>
            <a:ext cx="3442175" cy="4094858"/>
          </a:xfrm>
          <a:prstGeom prst="roundRect">
            <a:avLst/>
          </a:prstGeom>
          <a:solidFill>
            <a:srgbClr val="130C4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679"/>
              </a:lnSpc>
            </a:pPr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3. </a:t>
            </a:r>
            <a:r>
              <a:rPr lang="en-US" sz="20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Contribuția</a:t>
            </a:r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studentului</a:t>
            </a:r>
            <a:endParaRPr lang="en-US" sz="2000" b="1" dirty="0">
              <a:solidFill>
                <a:schemeClr val="bg1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>
              <a:lnSpc>
                <a:spcPts val="1679"/>
              </a:lnSpc>
            </a:pPr>
            <a:endParaRPr lang="en-US" b="1" dirty="0">
              <a:solidFill>
                <a:schemeClr val="bg1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Construirea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unui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pipeline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PyTorch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pentru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încărcare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preprocesare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antrenare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evaluare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Compararea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arhitecturilor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funcțiilor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de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pierdere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pe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seturi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APTOS,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EyePACS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Balanced_Aug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Identificarea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data leakage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în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Diabetic_Balanced_Data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folosirea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unui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split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grupat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Integrarea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modelelor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într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-o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aplicație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web de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inferență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Flask + React.</a:t>
            </a: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Integrarea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cu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sistemul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final </a:t>
            </a:r>
            <a:r>
              <a:rPr lang="ro-RO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î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n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dou</a:t>
            </a:r>
            <a:r>
              <a:rPr lang="ro-RO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etape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: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binarizare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-&gt;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clasificare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835273-4CC2-BBA0-5C81-2B9396621BAC}"/>
              </a:ext>
            </a:extLst>
          </p:cNvPr>
          <p:cNvSpPr/>
          <p:nvPr/>
        </p:nvSpPr>
        <p:spPr>
          <a:xfrm>
            <a:off x="4077755" y="8261943"/>
            <a:ext cx="4777314" cy="1856485"/>
          </a:xfrm>
          <a:prstGeom prst="roundRect">
            <a:avLst/>
          </a:prstGeom>
          <a:solidFill>
            <a:srgbClr val="130C4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 Bold"/>
              </a:rPr>
              <a:t> </a:t>
            </a:r>
          </a:p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 Bold"/>
              </a:rPr>
              <a:t>6. </a:t>
            </a:r>
            <a:r>
              <a:rPr lang="en-US" sz="2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 Bold"/>
              </a:rPr>
              <a:t>Concluzii</a:t>
            </a:r>
            <a:endParaRPr lang="en-US" sz="2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 Bold"/>
            </a:endParaRPr>
          </a:p>
          <a:p>
            <a:endParaRPr lang="en-US" sz="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 Bold"/>
            </a:endParaRP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Sistemul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demonstrează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utilitatea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transfer learning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pentru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analiza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imaginilor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fundus.</a:t>
            </a: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Abordarea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în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două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etape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permite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separarea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detecției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bolii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de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gradarea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severității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.</a:t>
            </a:r>
          </a:p>
          <a:p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Direcții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viitoare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: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augmentări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mai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robuste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, Visual Transformers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cascadă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binar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+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regresie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 0–4</a:t>
            </a:r>
          </a:p>
          <a:p>
            <a:pPr algn="ctr"/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88938C6-0533-EC3F-7D16-18C41507528E}"/>
              </a:ext>
            </a:extLst>
          </p:cNvPr>
          <p:cNvSpPr/>
          <p:nvPr/>
        </p:nvSpPr>
        <p:spPr>
          <a:xfrm>
            <a:off x="9050558" y="6986771"/>
            <a:ext cx="5562600" cy="3128259"/>
          </a:xfrm>
          <a:prstGeom prst="roundRect">
            <a:avLst/>
          </a:prstGeom>
          <a:solidFill>
            <a:srgbClr val="130C4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679"/>
              </a:lnSpc>
            </a:pPr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4. </a:t>
            </a:r>
            <a:r>
              <a:rPr lang="en-US" sz="20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Evaluarea</a:t>
            </a:r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performanțelor</a:t>
            </a:r>
            <a:endParaRPr lang="en-US" sz="2000" b="1" dirty="0">
              <a:solidFill>
                <a:schemeClr val="bg1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>
              <a:lnSpc>
                <a:spcPts val="1679"/>
              </a:lnSpc>
            </a:pPr>
            <a:endParaRPr lang="en-US" b="1" dirty="0">
              <a:solidFill>
                <a:schemeClr val="bg1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Metrici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urmărite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: Accuracy, Macro F1, AUC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Quadratic Weighted Kappa.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Analiza include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matrice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de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confuzie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curbe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ROC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rapoarte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precision/recall/F1.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Experimentele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finale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separă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detecția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binară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de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gradarea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severității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pe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clasele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1–4.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Validarea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urmărește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atât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scorul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global,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cât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și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distanța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clinică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dintre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clasele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confundate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.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7A7D7EC-5F25-3CBB-8A2A-57F77C759E8F}"/>
              </a:ext>
            </a:extLst>
          </p:cNvPr>
          <p:cNvSpPr/>
          <p:nvPr/>
        </p:nvSpPr>
        <p:spPr>
          <a:xfrm>
            <a:off x="8426502" y="3354851"/>
            <a:ext cx="3301249" cy="3422818"/>
          </a:xfrm>
          <a:prstGeom prst="roundRect">
            <a:avLst/>
          </a:prstGeom>
          <a:solidFill>
            <a:srgbClr val="130C4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679"/>
              </a:lnSpc>
            </a:pPr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5. </a:t>
            </a:r>
            <a:r>
              <a:rPr lang="en-US" sz="2000" b="1" dirty="0" err="1">
                <a:solidFill>
                  <a:schemeClr val="bg1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Rezultate</a:t>
            </a:r>
            <a:endParaRPr lang="en-US" sz="2000" b="1" dirty="0">
              <a:solidFill>
                <a:schemeClr val="bg1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>
              <a:lnSpc>
                <a:spcPts val="1679"/>
              </a:lnSpc>
            </a:pPr>
            <a:endParaRPr lang="en-US" b="1" dirty="0">
              <a:solidFill>
                <a:schemeClr val="bg1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Model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binar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EfficientNet-B3: cel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mai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bun AUC pe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validare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= 0,8602.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Cross-entropy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multiclasă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: Accuracy test = 0,6618; QWK = 0,6247.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Regresie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1–4: QWK test = 0,6440, cu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praguri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optimizate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pe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validare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.</a:t>
            </a:r>
          </a:p>
          <a:p>
            <a:pPr>
              <a:lnSpc>
                <a:spcPts val="1679"/>
              </a:lnSpc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Formularea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ordinală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obține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cel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mai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bun QWK test = 0,6561; 93,2%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dintre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erori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sunt la un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singur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grad.</a:t>
            </a:r>
          </a:p>
          <a:p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6B11734-1F8D-4849-4599-50B657213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72288" y="3192877"/>
            <a:ext cx="2713558" cy="368298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2FB3220-1933-E1F1-33D8-7AD42CA83A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22" y="3193795"/>
            <a:ext cx="3373958" cy="269284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6EE2F81-4FA7-A8D8-7DF9-8CE355EBF9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8984" y="5726141"/>
            <a:ext cx="1961396" cy="12165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992C15F-7BD7-B437-B2E8-108205A3DF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4181" y="5619732"/>
            <a:ext cx="2411989" cy="127535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C1277AA4-CC1A-2143-E43E-8BA9FB1909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71895" y="7020473"/>
            <a:ext cx="1820210" cy="112899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C4F842F-6215-A94E-646A-3CCDFEF216F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54423" y="6976482"/>
            <a:ext cx="2831456" cy="1137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207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402</Words>
  <Application>Microsoft Office PowerPoint</Application>
  <PresentationFormat>Custom</PresentationFormat>
  <Paragraphs>43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Arial 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disertație - Retinopatie diabetică</dc:title>
  <dc:creator>Marius Enachescu - M16421</dc:creator>
  <cp:lastModifiedBy>gregsoft16@outlook.com</cp:lastModifiedBy>
  <cp:revision>20</cp:revision>
  <dcterms:created xsi:type="dcterms:W3CDTF">2006-08-16T00:00:00Z</dcterms:created>
  <dcterms:modified xsi:type="dcterms:W3CDTF">2026-06-19T17:00:57Z</dcterms:modified>
  <dc:identifier>DAGnUNJ27vQ</dc:identifier>
</cp:coreProperties>
</file>