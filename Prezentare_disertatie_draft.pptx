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81" r:id="rId2"/>
    <p:sldId id="278" r:id="rId3"/>
    <p:sldId id="300" r:id="rId4"/>
    <p:sldId id="302" r:id="rId5"/>
    <p:sldId id="323" r:id="rId6"/>
    <p:sldId id="299" r:id="rId7"/>
    <p:sldId id="324" r:id="rId8"/>
    <p:sldId id="304" r:id="rId9"/>
    <p:sldId id="325" r:id="rId10"/>
    <p:sldId id="334" r:id="rId11"/>
    <p:sldId id="335" r:id="rId12"/>
    <p:sldId id="330" r:id="rId13"/>
    <p:sldId id="306" r:id="rId14"/>
    <p:sldId id="327" r:id="rId15"/>
    <p:sldId id="308" r:id="rId16"/>
    <p:sldId id="329" r:id="rId17"/>
    <p:sldId id="336" r:id="rId18"/>
    <p:sldId id="331" r:id="rId19"/>
    <p:sldId id="338" r:id="rId20"/>
    <p:sldId id="301" r:id="rId21"/>
    <p:sldId id="310" r:id="rId22"/>
    <p:sldId id="333" r:id="rId23"/>
    <p:sldId id="318" r:id="rId24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regsoft16@outlook.com" initials="g" lastIdx="19" clrIdx="0">
    <p:extLst>
      <p:ext uri="{19B8F6BF-5375-455C-9EA6-DF929625EA0E}">
        <p15:presenceInfo xmlns:p15="http://schemas.microsoft.com/office/powerpoint/2012/main" userId="06488fe1f43fc14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554"/>
    <a:srgbClr val="009644"/>
    <a:srgbClr val="E8E8E8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09" autoAdjust="0"/>
  </p:normalViewPr>
  <p:slideViewPr>
    <p:cSldViewPr>
      <p:cViewPr varScale="1">
        <p:scale>
          <a:sx n="107" d="100"/>
          <a:sy n="107" d="100"/>
        </p:scale>
        <p:origin x="696" y="138"/>
      </p:cViewPr>
      <p:guideLst>
        <p:guide orient="horz" pos="2160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B737B-28AB-39B5-E422-9D28209D1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1EC08-73B3-B236-E910-927D80542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82EB20-A6AB-374A-B145-DE1883D95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https://pixabay.com/en/seminar-lecture-study-student-2654142/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93B3E-690A-FDFE-124F-B1BDE3911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2D21D1-52E2-420B-B491-CFF6D7BB79F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9429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7E2C7-ABAA-E48F-F47F-D074D814C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B063A1-93AA-0138-F293-BA5DBAA046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DBDD2-E3C0-F277-9E51-FFDE46FB0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https://pixabay.com/en/books-science-shelf-library-book-408220/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382EE-05C8-528B-B2B4-69BA9DC8BB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2D21D1-52E2-420B-B491-CFF6D7BB79F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001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D21D1-52E2-420B-B491-CFF6D7BB79F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993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D21D1-52E2-420B-B491-CFF6D7BB79F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918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12188825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3887117"/>
            <a:ext cx="10360501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4399020"/>
            <a:ext cx="8532178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8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718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23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3"/>
            <a:ext cx="10360501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70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3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3"/>
            <a:ext cx="5383398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8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5"/>
            <a:ext cx="5385514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7" y="1535115"/>
            <a:ext cx="538763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7" y="2174875"/>
            <a:ext cx="5387630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899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C90D8B8-307A-4993-9315-0D6ADDAA6CEB}"/>
              </a:ext>
            </a:extLst>
          </p:cNvPr>
          <p:cNvCxnSpPr/>
          <p:nvPr userDrawn="1"/>
        </p:nvCxnSpPr>
        <p:spPr>
          <a:xfrm>
            <a:off x="609441" y="6448926"/>
            <a:ext cx="10969943" cy="0"/>
          </a:xfrm>
          <a:prstGeom prst="line">
            <a:avLst/>
          </a:prstGeom>
          <a:ln>
            <a:solidFill>
              <a:schemeClr val="bg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49A4D36-ACE7-46EE-977E-260D55BF45D2}"/>
              </a:ext>
            </a:extLst>
          </p:cNvPr>
          <p:cNvSpPr/>
          <p:nvPr userDrawn="1"/>
        </p:nvSpPr>
        <p:spPr>
          <a:xfrm>
            <a:off x="5917950" y="6272463"/>
            <a:ext cx="352925" cy="35292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5836203" y="6244059"/>
            <a:ext cx="516420" cy="385017"/>
          </a:xfrm>
        </p:spPr>
        <p:txBody>
          <a:bodyPr/>
          <a:lstStyle>
            <a:lvl1pPr algn="ctr">
              <a:defRPr sz="1400">
                <a:solidFill>
                  <a:schemeClr val="bg1"/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7936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87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49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5" y="273051"/>
            <a:ext cx="4010039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4"/>
            <a:ext cx="6813892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5" y="1435103"/>
            <a:ext cx="4010039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81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2"/>
            <a:ext cx="7313295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40"/>
            <a:ext cx="7313295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14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58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41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41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22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41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6"/>
            <a:ext cx="10969943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3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3"/>
            <a:ext cx="385979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6" y="6356353"/>
            <a:ext cx="2844059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63" r:id="rId8"/>
    <p:sldLayoutId id="2147483662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mc.ncbi.nlm.nih.gov/articles/PMC10219065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6E8E-2183-93F5-E615-A92262984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1217544-110E-6EF6-BDDB-4733C10041FB}"/>
              </a:ext>
            </a:extLst>
          </p:cNvPr>
          <p:cNvSpPr/>
          <p:nvPr/>
        </p:nvSpPr>
        <p:spPr>
          <a:xfrm>
            <a:off x="1" y="0"/>
            <a:ext cx="12188825" cy="6858000"/>
          </a:xfrm>
          <a:prstGeom prst="rect">
            <a:avLst/>
          </a:prstGeom>
          <a:solidFill>
            <a:schemeClr val="accent2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53BA5B-66E5-86E9-4947-C943BE623CD0}"/>
              </a:ext>
            </a:extLst>
          </p:cNvPr>
          <p:cNvSpPr/>
          <p:nvPr/>
        </p:nvSpPr>
        <p:spPr>
          <a:xfrm>
            <a:off x="11413" y="-16706"/>
            <a:ext cx="12188825" cy="1307995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6A48E-5CD5-D43B-2C70-050298EA9266}"/>
              </a:ext>
            </a:extLst>
          </p:cNvPr>
          <p:cNvSpPr txBox="1"/>
          <p:nvPr/>
        </p:nvSpPr>
        <p:spPr>
          <a:xfrm>
            <a:off x="-121146" y="1897303"/>
            <a:ext cx="124311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Student: Stancovici Marian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B4888F-7DD9-F4B7-D55C-A7F1BD2FB545}"/>
              </a:ext>
            </a:extLst>
          </p:cNvPr>
          <p:cNvSpPr txBox="1"/>
          <p:nvPr/>
        </p:nvSpPr>
        <p:spPr>
          <a:xfrm>
            <a:off x="-117884" y="2569443"/>
            <a:ext cx="124311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Coordonator</a:t>
            </a:r>
            <a:r>
              <a:rPr lang="en-IN" sz="2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br>
              <a:rPr lang="en-IN" sz="2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IN" sz="2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pt-BR" sz="2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Conf. dr. ing. Laura Maria Florea</a:t>
            </a:r>
            <a:endParaRPr lang="ro-RO" sz="22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DEB-49F7-FFA0-7FCC-72CA9FCD3D31}"/>
              </a:ext>
            </a:extLst>
          </p:cNvPr>
          <p:cNvSpPr txBox="1"/>
          <p:nvPr/>
        </p:nvSpPr>
        <p:spPr>
          <a:xfrm>
            <a:off x="-121146" y="4927867"/>
            <a:ext cx="12431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sz="18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Facultatea de Electronică, Telecomunicații și Tehnologia Informației</a:t>
            </a:r>
            <a:endParaRPr lang="en-IN" sz="18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612BCD-A998-4A0B-4966-5AF9F89B5C9F}"/>
              </a:ext>
            </a:extLst>
          </p:cNvPr>
          <p:cNvSpPr txBox="1"/>
          <p:nvPr/>
        </p:nvSpPr>
        <p:spPr>
          <a:xfrm>
            <a:off x="-109733" y="5658818"/>
            <a:ext cx="12431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Iunie</a:t>
            </a:r>
            <a:r>
              <a:rPr lang="ro-RO" sz="18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202</a:t>
            </a:r>
            <a:r>
              <a:rPr lang="en-US" sz="18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F8191B-BE35-C118-8185-C56496657098}"/>
              </a:ext>
            </a:extLst>
          </p:cNvPr>
          <p:cNvSpPr txBox="1"/>
          <p:nvPr/>
        </p:nvSpPr>
        <p:spPr>
          <a:xfrm>
            <a:off x="90542" y="87050"/>
            <a:ext cx="124311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Analiza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imaginilor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cu fund de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ochi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pentru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ajutor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în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</a:p>
          <a:p>
            <a:pPr algn="ctr"/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diagnosticul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retinopatiei</a:t>
            </a:r>
            <a:r>
              <a:rPr lang="en-IN" sz="3000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IN" sz="3000" b="1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diabetice</a:t>
            </a:r>
            <a:endParaRPr lang="en-IN" sz="3000" b="1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28" name="Picture 4" descr="Departamentul de Telecomunicatii | Site-ul Departamentului ...">
            <a:extLst>
              <a:ext uri="{FF2B5EF4-FFF2-40B4-BE49-F238E27FC236}">
                <a16:creationId xmlns:a16="http://schemas.microsoft.com/office/drawing/2014/main" id="{1C767D0D-81D6-A774-5E25-158B3837D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733" y="5151643"/>
            <a:ext cx="1788789" cy="1753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6538C8-345B-21EE-CC02-7D0B6F70B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695" y="5333196"/>
            <a:ext cx="1903283" cy="154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779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7EAC1-3BD2-9A4B-362B-C296498F4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0377DD-8F04-13AB-8D7B-8988D46D6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RO" b="1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Cuprins</a:t>
            </a:r>
            <a:endParaRPr lang="en-IN" b="1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C07CDA-5A9E-E5B7-F54B-8A5DC33E053B}"/>
              </a:ext>
            </a:extLst>
          </p:cNvPr>
          <p:cNvSpPr/>
          <p:nvPr/>
        </p:nvSpPr>
        <p:spPr>
          <a:xfrm>
            <a:off x="1125860" y="1700808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DC3490-B013-93DE-FA5A-19DD00754603}"/>
              </a:ext>
            </a:extLst>
          </p:cNvPr>
          <p:cNvSpPr/>
          <p:nvPr/>
        </p:nvSpPr>
        <p:spPr>
          <a:xfrm>
            <a:off x="1125860" y="2271810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6B87C6-C3A7-ABCD-53C2-4203631B94E3}"/>
              </a:ext>
            </a:extLst>
          </p:cNvPr>
          <p:cNvSpPr/>
          <p:nvPr/>
        </p:nvSpPr>
        <p:spPr>
          <a:xfrm>
            <a:off x="1125860" y="2842812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F76ADB9-C204-6773-46A3-769D274131F8}"/>
              </a:ext>
            </a:extLst>
          </p:cNvPr>
          <p:cNvSpPr/>
          <p:nvPr/>
        </p:nvSpPr>
        <p:spPr>
          <a:xfrm>
            <a:off x="1125860" y="3413814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D98317D-3C74-05BB-3A5C-96F9F26B232C}"/>
              </a:ext>
            </a:extLst>
          </p:cNvPr>
          <p:cNvSpPr/>
          <p:nvPr/>
        </p:nvSpPr>
        <p:spPr>
          <a:xfrm>
            <a:off x="1125860" y="3984816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5D626C-B72B-AB5A-0EE3-56D2E09397AC}"/>
              </a:ext>
            </a:extLst>
          </p:cNvPr>
          <p:cNvSpPr/>
          <p:nvPr/>
        </p:nvSpPr>
        <p:spPr>
          <a:xfrm>
            <a:off x="1476574" y="1600515"/>
            <a:ext cx="86409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ro-RO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Introducere</a:t>
            </a:r>
            <a:endParaRPr lang="en-IN" sz="18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DD2E85C-30F2-EABB-2209-F40B3F5C030E}"/>
              </a:ext>
            </a:extLst>
          </p:cNvPr>
          <p:cNvCxnSpPr>
            <a:cxnSpLocks/>
          </p:cNvCxnSpPr>
          <p:nvPr/>
        </p:nvCxnSpPr>
        <p:spPr>
          <a:xfrm>
            <a:off x="1091684" y="2000625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CAD1EF9-B3E2-49B0-BB91-C87BB57C2BC7}"/>
              </a:ext>
            </a:extLst>
          </p:cNvPr>
          <p:cNvSpPr/>
          <p:nvPr/>
        </p:nvSpPr>
        <p:spPr>
          <a:xfrm>
            <a:off x="1476574" y="2179635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Date </a:t>
            </a:r>
            <a:r>
              <a:rPr lang="en-US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utilizate</a:t>
            </a: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și</a:t>
            </a: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preprocesare</a:t>
            </a:r>
            <a:endParaRPr lang="en-US" sz="18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39B76AF-15B0-E45A-44D5-234F5E175B55}"/>
              </a:ext>
            </a:extLst>
          </p:cNvPr>
          <p:cNvCxnSpPr>
            <a:cxnSpLocks/>
          </p:cNvCxnSpPr>
          <p:nvPr/>
        </p:nvCxnSpPr>
        <p:spPr>
          <a:xfrm>
            <a:off x="1091684" y="2579745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B29B5457-2DEB-C42C-1698-543FF2D4C51D}"/>
              </a:ext>
            </a:extLst>
          </p:cNvPr>
          <p:cNvSpPr/>
          <p:nvPr/>
        </p:nvSpPr>
        <p:spPr>
          <a:xfrm>
            <a:off x="1476574" y="2758755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it-IT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Schema bloc a sistemului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0444004-9261-C670-EA93-94024D122122}"/>
              </a:ext>
            </a:extLst>
          </p:cNvPr>
          <p:cNvCxnSpPr>
            <a:cxnSpLocks/>
          </p:cNvCxnSpPr>
          <p:nvPr/>
        </p:nvCxnSpPr>
        <p:spPr>
          <a:xfrm>
            <a:off x="1091684" y="3158865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9087EBD-8B5B-D84B-556C-F5CCA134C694}"/>
              </a:ext>
            </a:extLst>
          </p:cNvPr>
          <p:cNvSpPr/>
          <p:nvPr/>
        </p:nvSpPr>
        <p:spPr>
          <a:xfrm>
            <a:off x="1476574" y="3337875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Arhitecturi</a:t>
            </a: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utilizate</a:t>
            </a:r>
            <a:endParaRPr lang="ro-RO" sz="1800" dirty="0">
              <a:solidFill>
                <a:schemeClr val="tx1">
                  <a:lumMod val="75000"/>
                  <a:lumOff val="2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D1C0E94-5A5A-69C2-B8EB-7654B1ED5E6F}"/>
              </a:ext>
            </a:extLst>
          </p:cNvPr>
          <p:cNvCxnSpPr>
            <a:cxnSpLocks/>
          </p:cNvCxnSpPr>
          <p:nvPr/>
        </p:nvCxnSpPr>
        <p:spPr>
          <a:xfrm>
            <a:off x="1091684" y="3737985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47877F61-A681-9678-7022-B388021C070E}"/>
              </a:ext>
            </a:extLst>
          </p:cNvPr>
          <p:cNvSpPr/>
          <p:nvPr/>
        </p:nvSpPr>
        <p:spPr>
          <a:xfrm>
            <a:off x="1476574" y="3901755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pt-BR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Sistem final în două etape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68BE8CF-BEE7-C9A8-B1B1-EF6E83C8C2D4}"/>
              </a:ext>
            </a:extLst>
          </p:cNvPr>
          <p:cNvCxnSpPr>
            <a:cxnSpLocks/>
          </p:cNvCxnSpPr>
          <p:nvPr/>
        </p:nvCxnSpPr>
        <p:spPr>
          <a:xfrm>
            <a:off x="1091684" y="4301865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40C90BF3-10F2-A92B-5380-8B8D909565FD}"/>
              </a:ext>
            </a:extLst>
          </p:cNvPr>
          <p:cNvSpPr/>
          <p:nvPr/>
        </p:nvSpPr>
        <p:spPr>
          <a:xfrm>
            <a:off x="10651443" y="1600515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01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BA57680-413D-C841-3151-30EFB8668EB4}"/>
              </a:ext>
            </a:extLst>
          </p:cNvPr>
          <p:cNvSpPr/>
          <p:nvPr/>
        </p:nvSpPr>
        <p:spPr>
          <a:xfrm>
            <a:off x="10651443" y="2179635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F4AB7D-5B40-BDAD-77F4-2FA0D5FE6827}"/>
              </a:ext>
            </a:extLst>
          </p:cNvPr>
          <p:cNvSpPr/>
          <p:nvPr/>
        </p:nvSpPr>
        <p:spPr>
          <a:xfrm>
            <a:off x="10651443" y="2758755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03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6C001BA-858B-CE68-AB91-EF7551C3C7E0}"/>
              </a:ext>
            </a:extLst>
          </p:cNvPr>
          <p:cNvSpPr/>
          <p:nvPr/>
        </p:nvSpPr>
        <p:spPr>
          <a:xfrm>
            <a:off x="10651443" y="3337875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04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3F29B2F-0FE5-A47F-AADA-B7BA8471532A}"/>
              </a:ext>
            </a:extLst>
          </p:cNvPr>
          <p:cNvSpPr/>
          <p:nvPr/>
        </p:nvSpPr>
        <p:spPr>
          <a:xfrm>
            <a:off x="10651443" y="3901755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05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033E4B-8389-C6AC-2CD9-1DDFDC98F19C}"/>
              </a:ext>
            </a:extLst>
          </p:cNvPr>
          <p:cNvSpPr/>
          <p:nvPr/>
        </p:nvSpPr>
        <p:spPr>
          <a:xfrm>
            <a:off x="1125860" y="4548695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4EB837-DFE8-F9DB-BC0B-A8B436636006}"/>
              </a:ext>
            </a:extLst>
          </p:cNvPr>
          <p:cNvSpPr/>
          <p:nvPr/>
        </p:nvSpPr>
        <p:spPr>
          <a:xfrm>
            <a:off x="1476574" y="4465634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ro-RO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Rezultate experimentale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38888AD-D828-E3BA-C941-27AEED8A4EC5}"/>
              </a:ext>
            </a:extLst>
          </p:cNvPr>
          <p:cNvCxnSpPr>
            <a:cxnSpLocks/>
          </p:cNvCxnSpPr>
          <p:nvPr/>
        </p:nvCxnSpPr>
        <p:spPr>
          <a:xfrm>
            <a:off x="1091684" y="4865744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CD367-685E-BCBF-03E7-A26E3648DBF0}"/>
              </a:ext>
            </a:extLst>
          </p:cNvPr>
          <p:cNvSpPr/>
          <p:nvPr/>
        </p:nvSpPr>
        <p:spPr>
          <a:xfrm>
            <a:off x="10651443" y="4465634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06</a:t>
            </a:r>
            <a:endParaRPr lang="en-IN" sz="2000" b="1" dirty="0">
              <a:solidFill>
                <a:srgbClr val="00755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74D04-ACF8-D3E0-4EC6-9B2ADDB62C52}"/>
              </a:ext>
            </a:extLst>
          </p:cNvPr>
          <p:cNvSpPr/>
          <p:nvPr/>
        </p:nvSpPr>
        <p:spPr>
          <a:xfrm>
            <a:off x="1146484" y="5052343"/>
            <a:ext cx="173758" cy="17375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A1ACFA-CF40-A2C7-8FE2-CF89EE2B2455}"/>
              </a:ext>
            </a:extLst>
          </p:cNvPr>
          <p:cNvSpPr/>
          <p:nvPr/>
        </p:nvSpPr>
        <p:spPr>
          <a:xfrm>
            <a:off x="1497198" y="4969282"/>
            <a:ext cx="762282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ro-RO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Concluzii și direcții viitoare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C582A7-C515-8AFF-A958-4B1464E217EC}"/>
              </a:ext>
            </a:extLst>
          </p:cNvPr>
          <p:cNvCxnSpPr>
            <a:cxnSpLocks/>
          </p:cNvCxnSpPr>
          <p:nvPr/>
        </p:nvCxnSpPr>
        <p:spPr>
          <a:xfrm>
            <a:off x="1112308" y="5369392"/>
            <a:ext cx="998047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2EFA23-3FBA-0302-3459-32FCA254F6EE}"/>
              </a:ext>
            </a:extLst>
          </p:cNvPr>
          <p:cNvSpPr/>
          <p:nvPr/>
        </p:nvSpPr>
        <p:spPr>
          <a:xfrm>
            <a:off x="10672067" y="4969282"/>
            <a:ext cx="5433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/>
            <a:r>
              <a:rPr lang="en-US" sz="2000" b="1" dirty="0">
                <a:solidFill>
                  <a:srgbClr val="007554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07</a:t>
            </a:r>
            <a:endParaRPr lang="ro-RO" sz="2000" b="1" dirty="0">
              <a:solidFill>
                <a:srgbClr val="00755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783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EEFFE8-5E38-AED9-DF62-EC96A7972E79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rgbClr val="007554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A3FBC-2805-87D7-3D33-3F09B1AA9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ro-RO" b="1" dirty="0">
                <a:solidFill>
                  <a:schemeClr val="bg1"/>
                </a:solidFill>
              </a:rPr>
              <a:t>Introducere</a:t>
            </a:r>
          </a:p>
        </p:txBody>
      </p:sp>
    </p:spTree>
    <p:extLst>
      <p:ext uri="{BB962C8B-B14F-4D97-AF65-F5344CB8AC3E}">
        <p14:creationId xmlns:p14="http://schemas.microsoft.com/office/powerpoint/2010/main" val="3183977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BE0626-445A-60E3-A91E-0FF3F4416666}"/>
              </a:ext>
            </a:extLst>
          </p:cNvPr>
          <p:cNvSpPr/>
          <p:nvPr/>
        </p:nvSpPr>
        <p:spPr>
          <a:xfrm>
            <a:off x="-1" y="-16705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78929-09CC-633E-634C-D2527E9A6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en-US" dirty="0" err="1">
                <a:solidFill>
                  <a:schemeClr val="bg1"/>
                </a:solidFill>
              </a:rPr>
              <a:t>Retinopatia</a:t>
            </a:r>
            <a:r>
              <a:rPr lang="en-US" dirty="0">
                <a:solidFill>
                  <a:schemeClr val="bg1"/>
                </a:solidFill>
              </a:rPr>
              <a:t> diabetic</a:t>
            </a:r>
            <a:r>
              <a:rPr lang="ro-RO" dirty="0">
                <a:solidFill>
                  <a:schemeClr val="bg1"/>
                </a:solidFill>
              </a:rPr>
              <a:t>ă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o-RO" dirty="0">
                <a:solidFill>
                  <a:schemeClr val="bg1"/>
                </a:solidFill>
              </a:rPr>
              <a:t>ș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imaginile</a:t>
            </a:r>
            <a:r>
              <a:rPr lang="en-US" dirty="0">
                <a:solidFill>
                  <a:schemeClr val="bg1"/>
                </a:solidFill>
              </a:rPr>
              <a:t> fundus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A3944C-F412-DE53-EA95-B8FE236243A1}"/>
              </a:ext>
            </a:extLst>
          </p:cNvPr>
          <p:cNvSpPr txBox="1">
            <a:spLocks/>
          </p:cNvSpPr>
          <p:nvPr/>
        </p:nvSpPr>
        <p:spPr>
          <a:xfrm>
            <a:off x="333772" y="709229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80FC1-AC16-D5D5-8E38-2DC00970B51C}"/>
              </a:ext>
            </a:extLst>
          </p:cNvPr>
          <p:cNvSpPr txBox="1"/>
          <p:nvPr/>
        </p:nvSpPr>
        <p:spPr>
          <a:xfrm>
            <a:off x="189756" y="1196752"/>
            <a:ext cx="5281598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ro-R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Complicație oculară apărută la pacienții cu diabet zaharat 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t-B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Prezintă 4 stadii evolutive de boală: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Ușoară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Moderată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Severă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it-IT" sz="1600" dirty="0">
                <a:latin typeface="Arial" panose="020B0604020202020204" pitchFamily="34" charset="0"/>
                <a:cs typeface="Arial" panose="020B0604020202020204" pitchFamily="34" charset="0"/>
              </a:rPr>
              <a:t>Proliferativă</a:t>
            </a:r>
          </a:p>
          <a:p>
            <a:pPr lvl="1">
              <a:spcAft>
                <a:spcPts val="600"/>
              </a:spcAft>
            </a:pPr>
            <a:endParaRPr lang="it-IT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caracterizează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vizual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prin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Microanevrisme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Hemoragii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intraretiniene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Exsudate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dure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și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moi </a:t>
            </a: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Neovascularizație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Clasificare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automat</a:t>
            </a:r>
            <a:r>
              <a:rPr lang="ro-R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-&gt; </a:t>
            </a:r>
            <a:r>
              <a:rPr lang="ro-RO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ușurăm munca medicului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5A3FEC-8CA8-2DA2-1CB4-D36E463CB0CB}"/>
              </a:ext>
            </a:extLst>
          </p:cNvPr>
          <p:cNvSpPr/>
          <p:nvPr/>
        </p:nvSpPr>
        <p:spPr>
          <a:xfrm>
            <a:off x="7174532" y="6021288"/>
            <a:ext cx="792088" cy="799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F2B41F-FD80-5481-2BDE-C297FB513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228" y="1543811"/>
            <a:ext cx="7303740" cy="486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76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131F2-48D5-4115-B334-27EDD540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6CD0C98-F1BA-B8BD-EFB4-629302FD8B6A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>
              <a:solidFill>
                <a:srgbClr val="007554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846DCA-5750-6300-1171-892E10B2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ro-RO" dirty="0">
                <a:solidFill>
                  <a:schemeClr val="bg1"/>
                </a:solidFill>
              </a:rPr>
              <a:t>Date utilizate și preprocesări</a:t>
            </a:r>
            <a:endParaRPr lang="ro-RO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7129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BE0626-445A-60E3-A91E-0FF3F4416666}"/>
              </a:ext>
            </a:extLst>
          </p:cNvPr>
          <p:cNvSpPr/>
          <p:nvPr/>
        </p:nvSpPr>
        <p:spPr>
          <a:xfrm>
            <a:off x="19209" y="0"/>
            <a:ext cx="8451466" cy="711082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78929-09CC-633E-634C-D2527E9A6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-36005"/>
            <a:ext cx="10969943" cy="711081"/>
          </a:xfrm>
        </p:spPr>
        <p:txBody>
          <a:bodyPr/>
          <a:lstStyle/>
          <a:p>
            <a:r>
              <a:rPr lang="ro-RO" dirty="0">
                <a:solidFill>
                  <a:schemeClr val="bg1"/>
                </a:solidFill>
              </a:rPr>
              <a:t>Date utilizate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A3944C-F412-DE53-EA95-B8FE236243A1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A1B25D-DFE8-0E70-7C30-9F905EA292BE}"/>
              </a:ext>
            </a:extLst>
          </p:cNvPr>
          <p:cNvSpPr txBox="1"/>
          <p:nvPr/>
        </p:nvSpPr>
        <p:spPr>
          <a:xfrm>
            <a:off x="23900" y="1014533"/>
            <a:ext cx="5281598" cy="6078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Seturi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date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analizate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o-R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APTOS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3662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imagini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total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2930/366/366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antrenare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validare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testare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Cel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echilibrat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ca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compozitie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EyePACS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88700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imagini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total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Mare,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plin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zgomot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Folosit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pentru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modelul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principal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70/20/10</a:t>
            </a:r>
          </a:p>
          <a:p>
            <a:pPr lvl="2">
              <a:spcAft>
                <a:spcPts val="600"/>
              </a:spcAft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52393" lvl="1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Diabetic Retinopathy (resized)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35126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imagini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total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Distributie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70/20/10</a:t>
            </a: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561887" lvl="2" indent="-342900"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451BC1-4BA2-845F-2906-B31826D30CD2}"/>
              </a:ext>
            </a:extLst>
          </p:cNvPr>
          <p:cNvSpPr txBox="1"/>
          <p:nvPr/>
        </p:nvSpPr>
        <p:spPr>
          <a:xfrm>
            <a:off x="8614692" y="1988840"/>
            <a:ext cx="2535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871EF4-17E8-5F8D-0E1F-772EFE7AE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675" y="62386"/>
            <a:ext cx="3732067" cy="226492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ECEF2C-13C5-2C4A-85D2-8E7B4BE34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675" y="2314433"/>
            <a:ext cx="3732067" cy="22649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994EE57-F8FF-7763-D87E-AA10D699C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0675" y="4579360"/>
            <a:ext cx="3732067" cy="2264928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4F033E8-AA27-D7FA-CE3B-60260C45313D}"/>
              </a:ext>
            </a:extLst>
          </p:cNvPr>
          <p:cNvSpPr/>
          <p:nvPr/>
        </p:nvSpPr>
        <p:spPr>
          <a:xfrm rot="5400000" flipV="1">
            <a:off x="5299587" y="3686912"/>
            <a:ext cx="6270169" cy="72007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1507128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7F62C-FF5F-D694-CB50-61F808FC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17FB9E-04D6-8B52-29B0-2817C6804732}"/>
              </a:ext>
            </a:extLst>
          </p:cNvPr>
          <p:cNvSpPr/>
          <p:nvPr/>
        </p:nvSpPr>
        <p:spPr>
          <a:xfrm>
            <a:off x="0" y="-108840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C742C0-AE2B-4C2C-81C0-CEF9367F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-36005"/>
            <a:ext cx="10969943" cy="711081"/>
          </a:xfrm>
        </p:spPr>
        <p:txBody>
          <a:bodyPr/>
          <a:lstStyle/>
          <a:p>
            <a:r>
              <a:rPr lang="ro-RO" dirty="0">
                <a:solidFill>
                  <a:schemeClr val="bg1"/>
                </a:solidFill>
              </a:rPr>
              <a:t>Preprocesări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o-RO" dirty="0">
                <a:solidFill>
                  <a:schemeClr val="bg1"/>
                </a:solidFill>
              </a:rPr>
              <a:t>și augmentări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77808FE-C51E-EA52-2D4B-194F9BBEDB48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DA6FDB-19F6-CD60-1581-A2CB91160522}"/>
              </a:ext>
            </a:extLst>
          </p:cNvPr>
          <p:cNvSpPr txBox="1"/>
          <p:nvPr/>
        </p:nvSpPr>
        <p:spPr>
          <a:xfrm>
            <a:off x="268963" y="1027459"/>
            <a:ext cx="6210245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Corec</a:t>
            </a:r>
            <a:r>
              <a:rPr lang="ro-RO" sz="1600" dirty="0"/>
              <a:t>ția ben-graham (</a:t>
            </a:r>
            <a:r>
              <a:rPr lang="en-US" sz="1600" dirty="0" err="1"/>
              <a:t>Uniformizarea</a:t>
            </a:r>
            <a:r>
              <a:rPr lang="en-US" sz="1600" dirty="0"/>
              <a:t> </a:t>
            </a:r>
            <a:r>
              <a:rPr lang="en-US" sz="1600" dirty="0" err="1"/>
              <a:t>iluminării</a:t>
            </a:r>
            <a:r>
              <a:rPr lang="ro-RO" sz="1600" dirty="0"/>
              <a:t>)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Imagine = </a:t>
            </a:r>
            <a:r>
              <a:rPr lang="en-US" sz="1600" dirty="0"/>
              <a:t>original * 4 - blur * 4 + 128</a:t>
            </a:r>
          </a:p>
          <a:p>
            <a:pPr lvl="1"/>
            <a:endParaRPr lang="ro-RO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Experimente</a:t>
            </a:r>
            <a:r>
              <a:rPr lang="en-US" sz="1600" dirty="0"/>
              <a:t>: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Augmentari</a:t>
            </a:r>
            <a:r>
              <a:rPr lang="en-US" sz="1600" dirty="0"/>
              <a:t> successive </a:t>
            </a:r>
            <a:r>
              <a:rPr lang="en-US" sz="1600" dirty="0" err="1"/>
              <a:t>pentru</a:t>
            </a:r>
            <a:r>
              <a:rPr lang="en-US" sz="1600" dirty="0"/>
              <a:t> </a:t>
            </a:r>
            <a:r>
              <a:rPr lang="en-US" sz="1600" dirty="0" err="1"/>
              <a:t>echilibrarea</a:t>
            </a:r>
            <a:r>
              <a:rPr lang="en-US" sz="1600" dirty="0"/>
              <a:t> </a:t>
            </a:r>
            <a:r>
              <a:rPr lang="en-US" sz="1600" dirty="0" err="1"/>
              <a:t>claselor</a:t>
            </a:r>
            <a:endParaRPr lang="en-US" sz="1600" dirty="0"/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Flip, Affine, Blur, Color-jitter, </a:t>
            </a:r>
            <a:r>
              <a:rPr lang="en-US" sz="1600" dirty="0" err="1"/>
              <a:t>Zgomot</a:t>
            </a:r>
            <a:r>
              <a:rPr lang="en-US" sz="1600" dirty="0"/>
              <a:t> gaussian)</a:t>
            </a:r>
          </a:p>
          <a:p>
            <a:pPr lvl="1"/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Model principal:</a:t>
            </a:r>
            <a:endParaRPr lang="ro-RO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Augmentări</a:t>
            </a:r>
            <a:r>
              <a:rPr lang="en-US" sz="1600" dirty="0"/>
              <a:t> </a:t>
            </a:r>
            <a:r>
              <a:rPr lang="en-US" sz="1600" dirty="0" err="1"/>
              <a:t>pentru</a:t>
            </a:r>
            <a:r>
              <a:rPr lang="en-US" sz="1600" dirty="0"/>
              <a:t> </a:t>
            </a:r>
            <a:r>
              <a:rPr lang="en-US" sz="1600" dirty="0" err="1"/>
              <a:t>echilibrarea</a:t>
            </a:r>
            <a:r>
              <a:rPr lang="en-US" sz="1600" dirty="0"/>
              <a:t> </a:t>
            </a:r>
            <a:r>
              <a:rPr lang="en-US" sz="1600" dirty="0" err="1"/>
              <a:t>claselor</a:t>
            </a:r>
            <a:r>
              <a:rPr lang="en-US" sz="1600" dirty="0"/>
              <a:t> 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(Flip </a:t>
            </a:r>
            <a:r>
              <a:rPr lang="en-US" sz="1600" dirty="0" err="1"/>
              <a:t>orizontal</a:t>
            </a:r>
            <a:r>
              <a:rPr lang="en-US" sz="1600" dirty="0"/>
              <a:t>, Flip vertical, Rota</a:t>
            </a:r>
            <a:r>
              <a:rPr lang="ro-RO" sz="1600" dirty="0"/>
              <a:t>ție</a:t>
            </a:r>
            <a:r>
              <a:rPr lang="en-US" sz="1600" dirty="0"/>
              <a:t>)</a:t>
            </a:r>
            <a:r>
              <a:rPr lang="ro-RO" sz="1600" dirty="0"/>
              <a:t> 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Augmentari in timpul antrenării</a:t>
            </a:r>
            <a:endParaRPr lang="en-US" sz="1600" dirty="0"/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(Flip-</a:t>
            </a:r>
            <a:r>
              <a:rPr lang="en-US" sz="1600" dirty="0" err="1"/>
              <a:t>uri</a:t>
            </a:r>
            <a:r>
              <a:rPr lang="en-US" sz="1600" dirty="0"/>
              <a:t>, </a:t>
            </a:r>
            <a:r>
              <a:rPr lang="en-US" sz="1600" dirty="0" err="1"/>
              <a:t>Rotatii</a:t>
            </a:r>
            <a:r>
              <a:rPr lang="en-US" sz="1600" dirty="0"/>
              <a:t>, Color-jitter)</a:t>
            </a:r>
          </a:p>
          <a:p>
            <a:endParaRPr lang="ro-RO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26AD87-A5FF-E936-38A2-4A8AAD2DD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713" y="1166303"/>
            <a:ext cx="2272680" cy="22726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B387E41-A7DD-AE39-A7EE-32A716C34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7182" y="1166303"/>
            <a:ext cx="2272680" cy="22726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6F80061-A7BC-09FA-0F5F-7169CA450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5293" y="4009290"/>
            <a:ext cx="2226962" cy="222696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C3F6E4-9439-FFD2-8F9E-EDB3F5A175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5713" y="3963572"/>
            <a:ext cx="2272680" cy="227268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6B10CA1-F147-9DEB-AD0F-6F92FCA621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4363" y="4794227"/>
            <a:ext cx="1830652" cy="183065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480483A-7BDF-B882-5410-7302DF12E6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699" y="4839118"/>
            <a:ext cx="1754480" cy="175448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C526EEB-C145-B36E-428A-12DC1B6162F2}"/>
              </a:ext>
            </a:extLst>
          </p:cNvPr>
          <p:cNvSpPr/>
          <p:nvPr/>
        </p:nvSpPr>
        <p:spPr>
          <a:xfrm rot="5400000" flipV="1">
            <a:off x="3451781" y="3742392"/>
            <a:ext cx="6182924" cy="48292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FF8414-1CF6-5EDF-8F66-A512C6FED5CB}"/>
              </a:ext>
            </a:extLst>
          </p:cNvPr>
          <p:cNvSpPr txBox="1"/>
          <p:nvPr/>
        </p:nvSpPr>
        <p:spPr>
          <a:xfrm>
            <a:off x="7141005" y="817982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Imagine </a:t>
            </a:r>
            <a:r>
              <a:rPr lang="en-US" sz="1800" dirty="0" err="1"/>
              <a:t>originala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1B79C0-1A89-EAF5-2841-7898A6D4D6BE}"/>
              </a:ext>
            </a:extLst>
          </p:cNvPr>
          <p:cNvSpPr txBox="1"/>
          <p:nvPr/>
        </p:nvSpPr>
        <p:spPr>
          <a:xfrm>
            <a:off x="9882474" y="848931"/>
            <a:ext cx="2009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/>
              <a:t>Conversie</a:t>
            </a:r>
            <a:r>
              <a:rPr lang="en-US" sz="1800" dirty="0"/>
              <a:t> grayscale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01A88D-7133-728C-B3B8-4EC9BB55353C}"/>
              </a:ext>
            </a:extLst>
          </p:cNvPr>
          <p:cNvSpPr txBox="1"/>
          <p:nvPr/>
        </p:nvSpPr>
        <p:spPr>
          <a:xfrm>
            <a:off x="9821589" y="6305453"/>
            <a:ext cx="191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/>
              <a:t>Filtru</a:t>
            </a:r>
            <a:r>
              <a:rPr lang="en-US" sz="1800" dirty="0"/>
              <a:t> </a:t>
            </a:r>
            <a:r>
              <a:rPr lang="en-US" sz="1800" dirty="0" err="1"/>
              <a:t>ben_graham</a:t>
            </a:r>
            <a:endParaRPr lang="en-US" sz="1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21AF3F9-B063-B05F-D4D1-1C17A0298FD0}"/>
              </a:ext>
            </a:extLst>
          </p:cNvPr>
          <p:cNvSpPr txBox="1"/>
          <p:nvPr/>
        </p:nvSpPr>
        <p:spPr>
          <a:xfrm>
            <a:off x="7219552" y="6189926"/>
            <a:ext cx="16450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 err="1"/>
              <a:t>Adaugare</a:t>
            </a:r>
            <a:r>
              <a:rPr lang="en-US" sz="1800" dirty="0"/>
              <a:t> halo </a:t>
            </a:r>
            <a:br>
              <a:rPr lang="en-US" sz="1800" dirty="0"/>
            </a:br>
            <a:r>
              <a:rPr lang="en-US" sz="1800" dirty="0"/>
              <a:t>(imagine final</a:t>
            </a:r>
            <a:r>
              <a:rPr lang="ro-RO" sz="1800" dirty="0"/>
              <a:t>ă)</a:t>
            </a:r>
            <a:endParaRPr lang="en-US" sz="1800" dirty="0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03962A09-F65C-567B-B898-0E03CBFCA55F}"/>
              </a:ext>
            </a:extLst>
          </p:cNvPr>
          <p:cNvSpPr/>
          <p:nvPr/>
        </p:nvSpPr>
        <p:spPr>
          <a:xfrm>
            <a:off x="9178393" y="2187699"/>
            <a:ext cx="468789" cy="406277"/>
          </a:xfrm>
          <a:prstGeom prst="rightArrow">
            <a:avLst/>
          </a:prstGeom>
          <a:solidFill>
            <a:srgbClr val="00755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B47ED533-8B78-6908-26E2-0526C766779C}"/>
              </a:ext>
            </a:extLst>
          </p:cNvPr>
          <p:cNvSpPr/>
          <p:nvPr/>
        </p:nvSpPr>
        <p:spPr>
          <a:xfrm rot="5400000">
            <a:off x="10544379" y="3506245"/>
            <a:ext cx="468789" cy="406277"/>
          </a:xfrm>
          <a:prstGeom prst="rightArrow">
            <a:avLst/>
          </a:prstGeom>
          <a:solidFill>
            <a:srgbClr val="00755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2F8933E5-1D29-4B42-6204-8905E0ADCC16}"/>
              </a:ext>
            </a:extLst>
          </p:cNvPr>
          <p:cNvSpPr/>
          <p:nvPr/>
        </p:nvSpPr>
        <p:spPr>
          <a:xfrm rot="10800000">
            <a:off x="9178392" y="5003322"/>
            <a:ext cx="468789" cy="406277"/>
          </a:xfrm>
          <a:prstGeom prst="rightArrow">
            <a:avLst/>
          </a:prstGeom>
          <a:solidFill>
            <a:srgbClr val="00755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8C36C8-4DEC-50DC-24B1-AFD404DBC711}"/>
              </a:ext>
            </a:extLst>
          </p:cNvPr>
          <p:cNvSpPr/>
          <p:nvPr/>
        </p:nvSpPr>
        <p:spPr>
          <a:xfrm rot="10800000" flipV="1">
            <a:off x="-2" y="4509120"/>
            <a:ext cx="6519098" cy="91094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DEA5899E-3ABC-1331-03C1-F9AE7881F058}"/>
              </a:ext>
            </a:extLst>
          </p:cNvPr>
          <p:cNvSpPr/>
          <p:nvPr/>
        </p:nvSpPr>
        <p:spPr>
          <a:xfrm>
            <a:off x="2339927" y="5662413"/>
            <a:ext cx="1478290" cy="406277"/>
          </a:xfrm>
          <a:prstGeom prst="rightArrow">
            <a:avLst/>
          </a:prstGeom>
          <a:solidFill>
            <a:srgbClr val="00755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36756-0E80-A814-5324-543525518971}"/>
              </a:ext>
            </a:extLst>
          </p:cNvPr>
          <p:cNvSpPr txBox="1"/>
          <p:nvPr/>
        </p:nvSpPr>
        <p:spPr>
          <a:xfrm>
            <a:off x="2529816" y="5147990"/>
            <a:ext cx="10075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o-RO" sz="1400" dirty="0"/>
              <a:t>flip+affine+color-jitter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84360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EEFFE8-5E38-AED9-DF62-EC96A7972E79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A3FBC-2805-87D7-3D33-3F09B1AA9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ro-RO" sz="3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Schema bloc a sistemului</a:t>
            </a:r>
            <a:endParaRPr lang="en-US" sz="3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7289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F98B7-AE17-9152-A946-C5D6724B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B8A1AC8-66EE-6C75-5668-6EB3BFEC8B33}"/>
              </a:ext>
            </a:extLst>
          </p:cNvPr>
          <p:cNvSpPr/>
          <p:nvPr/>
        </p:nvSpPr>
        <p:spPr>
          <a:xfrm>
            <a:off x="0" y="-108840"/>
            <a:ext cx="12188825" cy="745747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9ABFF4-ECA1-8247-45A7-B89AFE26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0" y="-91508"/>
            <a:ext cx="10969943" cy="711081"/>
          </a:xfrm>
        </p:spPr>
        <p:txBody>
          <a:bodyPr/>
          <a:lstStyle/>
          <a:p>
            <a:r>
              <a:rPr lang="ro-RO" dirty="0">
                <a:solidFill>
                  <a:schemeClr val="bg1"/>
                </a:solidFill>
              </a:rPr>
              <a:t>Schema bloc 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sistemului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026A1B2-7BCD-4340-AECF-780D8DB97F45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E3ED9-907F-CC91-98B4-683B85924E03}"/>
              </a:ext>
            </a:extLst>
          </p:cNvPr>
          <p:cNvSpPr txBox="1"/>
          <p:nvPr/>
        </p:nvSpPr>
        <p:spPr>
          <a:xfrm>
            <a:off x="1341884" y="2780928"/>
            <a:ext cx="39604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Dataseturi</a:t>
            </a:r>
            <a:r>
              <a:rPr lang="en-US" sz="1600" dirty="0"/>
              <a:t> create </a:t>
            </a:r>
            <a:r>
              <a:rPr lang="en-US" sz="1600" dirty="0" err="1"/>
              <a:t>si</a:t>
            </a:r>
            <a:r>
              <a:rPr lang="en-US" sz="1600" dirty="0"/>
              <a:t> </a:t>
            </a:r>
            <a:r>
              <a:rPr lang="en-US" sz="1600" dirty="0" err="1"/>
              <a:t>echilibrate</a:t>
            </a:r>
            <a:r>
              <a:rPr lang="en-US" sz="1600" dirty="0"/>
              <a:t> </a:t>
            </a:r>
            <a:r>
              <a:rPr lang="en-US" sz="1600" dirty="0" err="1"/>
              <a:t>dedicat</a:t>
            </a:r>
            <a:r>
              <a:rPr lang="en-US" sz="1600" dirty="0"/>
              <a:t> </a:t>
            </a:r>
            <a:r>
              <a:rPr lang="en-US" sz="1600" dirty="0" err="1"/>
              <a:t>pentru</a:t>
            </a:r>
            <a:r>
              <a:rPr lang="en-US" sz="1600" dirty="0"/>
              <a:t> </a:t>
            </a:r>
            <a:r>
              <a:rPr lang="en-US" sz="1600" dirty="0" err="1"/>
              <a:t>fiecare</a:t>
            </a:r>
            <a:r>
              <a:rPr lang="en-US" sz="1600" dirty="0"/>
              <a:t> experiment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2 </a:t>
            </a:r>
            <a:r>
              <a:rPr lang="en-US" sz="1600" dirty="0" err="1"/>
              <a:t>ramuri</a:t>
            </a:r>
            <a:r>
              <a:rPr lang="en-US" sz="1600" dirty="0"/>
              <a:t>: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Experimente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Modelul</a:t>
            </a:r>
            <a:r>
              <a:rPr lang="en-US" sz="1600" dirty="0"/>
              <a:t> principal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Experimente</a:t>
            </a:r>
            <a:r>
              <a:rPr lang="en-US" sz="1600" dirty="0"/>
              <a:t> pe </a:t>
            </a:r>
            <a:r>
              <a:rPr lang="en-US" sz="1600" dirty="0" err="1"/>
              <a:t>dataseturi</a:t>
            </a:r>
            <a:r>
              <a:rPr lang="en-US" sz="1600" dirty="0"/>
              <a:t>: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Baseline (</a:t>
            </a:r>
            <a:r>
              <a:rPr lang="en-US" sz="1600" dirty="0" err="1"/>
              <a:t>fara</a:t>
            </a:r>
            <a:r>
              <a:rPr lang="en-US" sz="1600" dirty="0"/>
              <a:t> </a:t>
            </a:r>
            <a:r>
              <a:rPr lang="en-US" sz="1600" dirty="0" err="1"/>
              <a:t>augmentari</a:t>
            </a:r>
            <a:r>
              <a:rPr lang="en-US" sz="1600" dirty="0"/>
              <a:t>)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Cu </a:t>
            </a:r>
            <a:r>
              <a:rPr lang="en-US" sz="1600" dirty="0" err="1"/>
              <a:t>augmentari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Cu </a:t>
            </a:r>
            <a:r>
              <a:rPr lang="en-US" sz="1600" dirty="0" err="1"/>
              <a:t>augmentari</a:t>
            </a:r>
            <a:r>
              <a:rPr lang="en-US" sz="1600" dirty="0"/>
              <a:t> + </a:t>
            </a:r>
            <a:r>
              <a:rPr lang="en-US" sz="1600" dirty="0" err="1"/>
              <a:t>preprocesari</a:t>
            </a: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endParaRPr lang="en-US" sz="16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580DE9-B202-2085-7826-E92275D1C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4332" y="782579"/>
            <a:ext cx="6626525" cy="595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7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7DEE9-3E5D-2CD8-B846-935B985C6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080206-0EDA-2DD3-D720-57157362E3AD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9C06D8-9C7A-75F2-EC1E-05F6329D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en-US" sz="3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Arhitecturi</a:t>
            </a:r>
            <a:r>
              <a:rPr lang="en-US" sz="3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utilizate</a:t>
            </a:r>
            <a:endParaRPr lang="en-US" sz="360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219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8BB0-0DD6-FA9D-3085-6F0C7DE93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FEE0AC-641A-618F-791C-4F74DE67770D}"/>
              </a:ext>
            </a:extLst>
          </p:cNvPr>
          <p:cNvSpPr/>
          <p:nvPr/>
        </p:nvSpPr>
        <p:spPr>
          <a:xfrm>
            <a:off x="0" y="-108840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3241DB-3CF6-93D6-788F-228A5679D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40" y="-7992"/>
            <a:ext cx="10969943" cy="711081"/>
          </a:xfrm>
        </p:spPr>
        <p:txBody>
          <a:bodyPr/>
          <a:lstStyle/>
          <a:p>
            <a:r>
              <a:rPr lang="ro-RO" dirty="0">
                <a:solidFill>
                  <a:schemeClr val="bg1"/>
                </a:solidFill>
              </a:rPr>
              <a:t>Arhitectur</a:t>
            </a:r>
            <a:r>
              <a:rPr lang="en-US" dirty="0">
                <a:solidFill>
                  <a:schemeClr val="bg1"/>
                </a:solidFill>
              </a:rPr>
              <a:t>a principal</a:t>
            </a:r>
            <a:r>
              <a:rPr lang="ro-RO" dirty="0">
                <a:solidFill>
                  <a:schemeClr val="bg1"/>
                </a:solidFill>
              </a:rPr>
              <a:t>ă pentru experimente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A197F1-F482-8D7B-6090-154519124DA5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4A8EAC-FF38-BED0-52D8-E20440F715CD}"/>
              </a:ext>
            </a:extLst>
          </p:cNvPr>
          <p:cNvSpPr txBox="1"/>
          <p:nvPr/>
        </p:nvSpPr>
        <p:spPr>
          <a:xfrm>
            <a:off x="251429" y="1063045"/>
            <a:ext cx="367240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Resnet50:</a:t>
            </a:r>
            <a:endParaRPr lang="ro-RO" sz="1600" dirty="0"/>
          </a:p>
          <a:p>
            <a:endParaRPr lang="ro-RO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Compromis între complexitate, rezultate si rapiditate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ro-RO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Pre-antrenata pe ImageNet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ro-RO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~</a:t>
            </a:r>
            <a:r>
              <a:rPr lang="ro-RO" sz="1600" dirty="0"/>
              <a:t>25.6 milioane de parametrii</a:t>
            </a:r>
            <a:r>
              <a:rPr lang="en-US" sz="1600" dirty="0"/>
              <a:t> </a:t>
            </a:r>
            <a:r>
              <a:rPr lang="en-US" sz="1600" dirty="0" err="1"/>
              <a:t>antrenabili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50 </a:t>
            </a:r>
            <a:r>
              <a:rPr lang="en-US" sz="1600" dirty="0" err="1"/>
              <a:t>straturi</a:t>
            </a:r>
            <a:r>
              <a:rPr lang="en-US" sz="1600" dirty="0"/>
              <a:t>: </a:t>
            </a:r>
            <a:r>
              <a:rPr lang="en-US" sz="1600" dirty="0" err="1"/>
              <a:t>contine</a:t>
            </a:r>
            <a:r>
              <a:rPr lang="en-US" sz="1600" dirty="0"/>
              <a:t> </a:t>
            </a:r>
            <a:r>
              <a:rPr lang="en-US" sz="1600" dirty="0" err="1"/>
              <a:t>blocuri</a:t>
            </a:r>
            <a:r>
              <a:rPr lang="en-US" sz="1600" dirty="0"/>
              <a:t> </a:t>
            </a:r>
            <a:r>
              <a:rPr lang="en-US" sz="1600" dirty="0" err="1"/>
              <a:t>reziduale</a:t>
            </a:r>
            <a:r>
              <a:rPr lang="en-US" sz="1600" dirty="0"/>
              <a:t> (skip connections)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Adaugat</a:t>
            </a:r>
            <a:r>
              <a:rPr lang="en-US" sz="1600" dirty="0"/>
              <a:t> </a:t>
            </a:r>
            <a:r>
              <a:rPr lang="en-US" sz="1600" dirty="0" err="1"/>
              <a:t>strat</a:t>
            </a:r>
            <a:r>
              <a:rPr lang="en-US" sz="1600" dirty="0"/>
              <a:t> de dropout la final (0.5)</a:t>
            </a:r>
            <a:endParaRPr lang="ro-RO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022A19-070C-42AD-549D-F057B2B4DC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340" y="773192"/>
            <a:ext cx="6769696" cy="277375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2FBE01-B004-8EC6-ADA4-BF05AD516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547" y="3789040"/>
            <a:ext cx="7980512" cy="295389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3CD220B-F197-8341-27F6-BE9741AA1327}"/>
              </a:ext>
            </a:extLst>
          </p:cNvPr>
          <p:cNvSpPr txBox="1"/>
          <p:nvPr/>
        </p:nvSpPr>
        <p:spPr>
          <a:xfrm>
            <a:off x="55657" y="5794955"/>
            <a:ext cx="5518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 pe </a:t>
            </a:r>
            <a:r>
              <a:rPr lang="en-US" dirty="0" err="1"/>
              <a:t>incres</a:t>
            </a:r>
            <a:r>
              <a:rPr lang="en-US" dirty="0"/>
              <a:t> </a:t>
            </a:r>
            <a:r>
              <a:rPr lang="en-US" dirty="0" err="1"/>
              <a:t>dar</a:t>
            </a:r>
            <a:r>
              <a:rPr lang="en-US" dirty="0"/>
              <a:t> n au </a:t>
            </a:r>
            <a:r>
              <a:rPr lang="en-US" dirty="0" err="1"/>
              <a:t>dat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bune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90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546D85-B66F-0389-8BDE-E37DA56D027C}"/>
              </a:ext>
            </a:extLst>
          </p:cNvPr>
          <p:cNvSpPr txBox="1"/>
          <p:nvPr/>
        </p:nvSpPr>
        <p:spPr>
          <a:xfrm>
            <a:off x="-428" y="925935"/>
            <a:ext cx="657066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Efficientnet_b3:</a:t>
            </a:r>
          </a:p>
          <a:p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~12.2 </a:t>
            </a:r>
            <a:r>
              <a:rPr lang="en-US" sz="1600" dirty="0" err="1"/>
              <a:t>milioane</a:t>
            </a:r>
            <a:r>
              <a:rPr lang="en-US" sz="1600" dirty="0"/>
              <a:t> de </a:t>
            </a:r>
            <a:r>
              <a:rPr lang="en-US" sz="1600" dirty="0" err="1"/>
              <a:t>parametrii</a:t>
            </a:r>
            <a:r>
              <a:rPr lang="en-US" sz="1600" dirty="0"/>
              <a:t> </a:t>
            </a:r>
            <a:r>
              <a:rPr lang="en-US" sz="1600" dirty="0" err="1"/>
              <a:t>antrenabili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Extracție</a:t>
            </a:r>
            <a:r>
              <a:rPr lang="en-US" sz="1600" dirty="0"/>
              <a:t> de </a:t>
            </a:r>
            <a:r>
              <a:rPr lang="en-US" sz="1600" dirty="0" err="1"/>
              <a:t>trăsături</a:t>
            </a:r>
            <a:r>
              <a:rPr lang="en-US" sz="1600" dirty="0"/>
              <a:t> fine</a:t>
            </a:r>
            <a:endParaRPr lang="ro-RO" sz="1600" dirty="0"/>
          </a:p>
          <a:p>
            <a:pPr lvl="1"/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Blocuri</a:t>
            </a:r>
            <a:r>
              <a:rPr lang="en-US" sz="1600" dirty="0"/>
              <a:t> </a:t>
            </a:r>
            <a:r>
              <a:rPr lang="en-US" sz="1600" dirty="0" err="1"/>
              <a:t>MBConv</a:t>
            </a:r>
            <a:r>
              <a:rPr lang="en-US" sz="1600" dirty="0"/>
              <a:t>: </a:t>
            </a:r>
            <a:r>
              <a:rPr lang="en-US" sz="1600" dirty="0" err="1"/>
              <a:t>Utilizează</a:t>
            </a:r>
            <a:r>
              <a:rPr lang="en-US" sz="1600" dirty="0"/>
              <a:t> </a:t>
            </a:r>
            <a:r>
              <a:rPr lang="en-US" sz="1600" dirty="0" err="1"/>
              <a:t>convoluții</a:t>
            </a:r>
            <a:r>
              <a:rPr lang="en-US" sz="1600" dirty="0"/>
              <a:t> </a:t>
            </a:r>
            <a:r>
              <a:rPr lang="en-US" sz="1600" dirty="0" err="1"/>
              <a:t>depthwise</a:t>
            </a:r>
            <a:r>
              <a:rPr lang="en-US" sz="1600" dirty="0"/>
              <a:t> </a:t>
            </a:r>
            <a:r>
              <a:rPr lang="en-US" sz="1600" dirty="0" err="1"/>
              <a:t>separabile</a:t>
            </a:r>
            <a:r>
              <a:rPr lang="en-US" sz="1600" dirty="0"/>
              <a:t>.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Module de </a:t>
            </a:r>
            <a:r>
              <a:rPr lang="en-US" sz="1600" dirty="0" err="1"/>
              <a:t>Atenție</a:t>
            </a:r>
            <a:r>
              <a:rPr lang="en-US" sz="1600" dirty="0"/>
              <a:t> integrate (Squeeze-and-Excitation): </a:t>
            </a:r>
            <a:r>
              <a:rPr lang="ro-RO" sz="1600" dirty="0"/>
              <a:t>Concentarere pe canalele de trasaturi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Adaugat</a:t>
            </a:r>
            <a:r>
              <a:rPr lang="en-US" sz="1600" dirty="0"/>
              <a:t> </a:t>
            </a:r>
            <a:r>
              <a:rPr lang="en-US" sz="1600" dirty="0" err="1"/>
              <a:t>strat</a:t>
            </a:r>
            <a:r>
              <a:rPr lang="en-US" sz="1600" dirty="0"/>
              <a:t> de dropout la final (0.4)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1449D4-AF44-EC2B-7620-95ED4B24E2C4}"/>
              </a:ext>
            </a:extLst>
          </p:cNvPr>
          <p:cNvSpPr/>
          <p:nvPr/>
        </p:nvSpPr>
        <p:spPr>
          <a:xfrm>
            <a:off x="-1" y="-16705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DDC3036-66EB-6448-FCB0-EBE1221B863F}"/>
              </a:ext>
            </a:extLst>
          </p:cNvPr>
          <p:cNvSpPr txBox="1">
            <a:spLocks/>
          </p:cNvSpPr>
          <p:nvPr/>
        </p:nvSpPr>
        <p:spPr>
          <a:xfrm>
            <a:off x="117748" y="36832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>
                <a:solidFill>
                  <a:schemeClr val="bg1"/>
                </a:solidFill>
              </a:rPr>
              <a:t>Arhitectura sistemului principal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3074" name="Picture 2" descr="Jimaging 11 00279 g003">
            <a:extLst>
              <a:ext uri="{FF2B5EF4-FFF2-40B4-BE49-F238E27FC236}">
                <a16:creationId xmlns:a16="http://schemas.microsoft.com/office/drawing/2014/main" id="{9101ADBA-6391-8BE2-F26E-1EB96E96D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2321" y="891424"/>
            <a:ext cx="5511830" cy="592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3EB9B1F-76D7-4F68-6B7C-AE87CE983A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64" y="4408571"/>
            <a:ext cx="5688632" cy="241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537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EEFFE8-5E38-AED9-DF62-EC96A7972E79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A3FBC-2805-87D7-3D33-3F09B1AA9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pt-BR" sz="3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Sistem final în două etape</a:t>
            </a:r>
          </a:p>
        </p:txBody>
      </p:sp>
    </p:spTree>
    <p:extLst>
      <p:ext uri="{BB962C8B-B14F-4D97-AF65-F5344CB8AC3E}">
        <p14:creationId xmlns:p14="http://schemas.microsoft.com/office/powerpoint/2010/main" val="3167639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A3E2-D67A-C873-FA40-921075B88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B751390-9F3F-3B0E-29F8-29D90FF060D2}"/>
              </a:ext>
            </a:extLst>
          </p:cNvPr>
          <p:cNvSpPr/>
          <p:nvPr/>
        </p:nvSpPr>
        <p:spPr>
          <a:xfrm>
            <a:off x="-1" y="-16705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6DA728-536D-19DF-BD1E-2FC4AC98A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Sistem final în două etape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F8AFF1D-C667-4B44-0EC0-ED71A9F91EC1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C3005B-FF50-0A66-8D82-E27C630CAB2B}"/>
              </a:ext>
            </a:extLst>
          </p:cNvPr>
          <p:cNvSpPr txBox="1"/>
          <p:nvPr/>
        </p:nvSpPr>
        <p:spPr>
          <a:xfrm>
            <a:off x="837828" y="1628800"/>
            <a:ext cx="515643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Sistem</a:t>
            </a:r>
            <a:r>
              <a:rPr lang="en-US" sz="1800" dirty="0"/>
              <a:t> in </a:t>
            </a:r>
            <a:r>
              <a:rPr lang="en-US" sz="1800" dirty="0" err="1"/>
              <a:t>cascada</a:t>
            </a:r>
            <a:r>
              <a:rPr lang="en-US" sz="1800" dirty="0"/>
              <a:t> in 2 </a:t>
            </a:r>
            <a:r>
              <a:rPr lang="en-US" sz="1800" dirty="0" err="1"/>
              <a:t>etape</a:t>
            </a:r>
            <a:r>
              <a:rPr lang="en-US" sz="1800" dirty="0"/>
              <a:t>:</a:t>
            </a:r>
            <a:endParaRPr lang="ro-RO" sz="1800" dirty="0"/>
          </a:p>
          <a:p>
            <a:endParaRPr lang="en-US" sz="18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800" dirty="0"/>
              <a:t>Etapa 1: </a:t>
            </a:r>
            <a:r>
              <a:rPr lang="en-US" sz="1800" dirty="0" err="1"/>
              <a:t>triaj</a:t>
            </a:r>
            <a:r>
              <a:rPr lang="en-US" sz="1800" dirty="0"/>
              <a:t> </a:t>
            </a:r>
            <a:r>
              <a:rPr lang="en-US" sz="1800" dirty="0" err="1"/>
              <a:t>binar</a:t>
            </a:r>
            <a:endParaRPr lang="ro-RO" sz="18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800" dirty="0"/>
              <a:t>Etapa 2: </a:t>
            </a:r>
            <a:r>
              <a:rPr lang="en-US" sz="1800" dirty="0" err="1"/>
              <a:t>evaluarea</a:t>
            </a:r>
            <a:r>
              <a:rPr lang="en-US" sz="1800" dirty="0"/>
              <a:t> </a:t>
            </a:r>
            <a:r>
              <a:rPr lang="en-US" sz="1800" dirty="0" err="1"/>
              <a:t>severitatii</a:t>
            </a:r>
            <a:r>
              <a:rPr lang="en-US" sz="1800" dirty="0"/>
              <a:t> </a:t>
            </a:r>
            <a:r>
              <a:rPr lang="en-US" sz="1800" dirty="0" err="1"/>
              <a:t>bolii</a:t>
            </a:r>
            <a:endParaRPr lang="en-US" sz="18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Pentru</a:t>
            </a:r>
            <a:r>
              <a:rPr lang="en-US" sz="1800" dirty="0"/>
              <a:t> </a:t>
            </a:r>
            <a:r>
              <a:rPr lang="en-US" sz="1800" dirty="0" err="1"/>
              <a:t>modelul</a:t>
            </a:r>
            <a:r>
              <a:rPr lang="en-US" sz="1800" dirty="0"/>
              <a:t> </a:t>
            </a:r>
            <a:r>
              <a:rPr lang="en-US" sz="1800" dirty="0" err="1"/>
              <a:t>binar</a:t>
            </a:r>
            <a:r>
              <a:rPr lang="en-US" sz="1800" dirty="0"/>
              <a:t>: </a:t>
            </a:r>
            <a:endParaRPr lang="ro-RO" sz="18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800" dirty="0" err="1"/>
              <a:t>prag</a:t>
            </a:r>
            <a:r>
              <a:rPr lang="en-US" sz="1800" dirty="0"/>
              <a:t> </a:t>
            </a:r>
            <a:r>
              <a:rPr lang="en-US" sz="1800" dirty="0" err="1"/>
              <a:t>optimizat</a:t>
            </a:r>
            <a:r>
              <a:rPr lang="en-US" sz="1800" dirty="0"/>
              <a:t> </a:t>
            </a:r>
            <a:r>
              <a:rPr lang="en-US" sz="1800" dirty="0" err="1"/>
              <a:t>pentru</a:t>
            </a:r>
            <a:r>
              <a:rPr lang="en-US" sz="1800" dirty="0"/>
              <a:t> </a:t>
            </a:r>
            <a:r>
              <a:rPr lang="en-US" sz="1800" dirty="0" err="1"/>
              <a:t>minimizarea</a:t>
            </a:r>
            <a:r>
              <a:rPr lang="en-US" sz="1800" dirty="0"/>
              <a:t> </a:t>
            </a:r>
            <a:r>
              <a:rPr lang="en-US" sz="1800" dirty="0" err="1"/>
              <a:t>fals-negativilor</a:t>
            </a:r>
            <a:r>
              <a:rPr lang="en-US" sz="1800" dirty="0"/>
              <a:t> (</a:t>
            </a:r>
            <a:r>
              <a:rPr lang="en-US" sz="1800" dirty="0" err="1"/>
              <a:t>maximizarea</a:t>
            </a:r>
            <a:r>
              <a:rPr lang="en-US" sz="1800" dirty="0"/>
              <a:t> </a:t>
            </a:r>
            <a:r>
              <a:rPr lang="en-US" sz="1800" dirty="0" err="1"/>
              <a:t>scorului</a:t>
            </a:r>
            <a:r>
              <a:rPr lang="en-US" sz="1800" dirty="0"/>
              <a:t> F2)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800" dirty="0"/>
          </a:p>
          <a:p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FCB42A-0C25-51D6-4F50-DB0EC13B4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268" y="1084583"/>
            <a:ext cx="7272808" cy="5665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907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EEFFE8-5E38-AED9-DF62-EC96A7972E79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A3FBC-2805-87D7-3D33-3F09B1AA9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ro-RO" sz="3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Rezultate experimentale</a:t>
            </a:r>
          </a:p>
        </p:txBody>
      </p:sp>
    </p:spTree>
    <p:extLst>
      <p:ext uri="{BB962C8B-B14F-4D97-AF65-F5344CB8AC3E}">
        <p14:creationId xmlns:p14="http://schemas.microsoft.com/office/powerpoint/2010/main" val="4178735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694B1-767A-4135-7F71-A15C720E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0AFE6B-E4A1-7C10-B264-9018EB05A636}"/>
              </a:ext>
            </a:extLst>
          </p:cNvPr>
          <p:cNvSpPr/>
          <p:nvPr/>
        </p:nvSpPr>
        <p:spPr>
          <a:xfrm>
            <a:off x="0" y="0"/>
            <a:ext cx="2752522" cy="1018282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8160F-04B0-8488-6150-0E1E2CB2B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6268" y="188640"/>
            <a:ext cx="2736304" cy="511848"/>
          </a:xfrm>
        </p:spPr>
        <p:txBody>
          <a:bodyPr/>
          <a:lstStyle/>
          <a:p>
            <a:r>
              <a:rPr lang="en-US" sz="3200" dirty="0" err="1">
                <a:solidFill>
                  <a:schemeClr val="bg1"/>
                </a:solidFill>
              </a:rPr>
              <a:t>Experimente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dataseturi</a:t>
            </a:r>
            <a:endParaRPr lang="ro-RO" sz="32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A4342F-CCC3-6569-0AC2-49E6D42CA46A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B9B43-0FD6-B5AD-DD39-0888423E5740}"/>
              </a:ext>
            </a:extLst>
          </p:cNvPr>
          <p:cNvSpPr txBox="1"/>
          <p:nvPr/>
        </p:nvSpPr>
        <p:spPr>
          <a:xfrm>
            <a:off x="-2822" y="1700808"/>
            <a:ext cx="27999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64A42A-EB21-276D-94C4-28DE4F15B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522" y="-13157"/>
            <a:ext cx="9436303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C634BC-FD59-3276-2A43-C01BA972A4F8}"/>
              </a:ext>
            </a:extLst>
          </p:cNvPr>
          <p:cNvSpPr txBox="1"/>
          <p:nvPr/>
        </p:nvSpPr>
        <p:spPr>
          <a:xfrm>
            <a:off x="189756" y="2018602"/>
            <a:ext cx="230425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Coloane</a:t>
            </a:r>
            <a:r>
              <a:rPr lang="en-US" sz="1600" dirty="0"/>
              <a:t> – </a:t>
            </a:r>
            <a:r>
              <a:rPr lang="en-US" sz="1600" dirty="0" err="1"/>
              <a:t>dataseturile</a:t>
            </a: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Linii</a:t>
            </a:r>
            <a:r>
              <a:rPr lang="en-US" sz="1600" dirty="0"/>
              <a:t> – </a:t>
            </a:r>
            <a:r>
              <a:rPr lang="en-US" sz="1600" dirty="0" err="1"/>
              <a:t>configuratiile</a:t>
            </a:r>
            <a:r>
              <a:rPr lang="en-US" sz="1600" dirty="0"/>
              <a:t>:</a:t>
            </a:r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/>
              <a:t>Baseline</a:t>
            </a:r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Augmentat</a:t>
            </a:r>
            <a:endParaRPr lang="en-US" sz="1600" dirty="0"/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Augmentat</a:t>
            </a:r>
            <a:r>
              <a:rPr lang="en-US" sz="1600" dirty="0"/>
              <a:t> + </a:t>
            </a:r>
            <a:r>
              <a:rPr lang="en-US" sz="1600" dirty="0" err="1"/>
              <a:t>preprocesat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Clasa</a:t>
            </a:r>
            <a:r>
              <a:rPr lang="en-US" sz="1600" dirty="0"/>
              <a:t> 0 </a:t>
            </a:r>
            <a:r>
              <a:rPr lang="en-US" sz="1600" dirty="0" err="1"/>
              <a:t>majoritara</a:t>
            </a: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Augmentari</a:t>
            </a:r>
            <a:r>
              <a:rPr lang="en-US" sz="1600" dirty="0"/>
              <a:t> -&gt; </a:t>
            </a:r>
            <a:r>
              <a:rPr lang="en-US" sz="1600" dirty="0" err="1"/>
              <a:t>imbunatatiri</a:t>
            </a:r>
            <a:r>
              <a:rPr lang="en-US" sz="1600" dirty="0"/>
              <a:t> pe recall </a:t>
            </a:r>
            <a:r>
              <a:rPr lang="en-US" sz="1600" dirty="0" err="1"/>
              <a:t>si</a:t>
            </a:r>
            <a:r>
              <a:rPr lang="en-US" sz="1600" dirty="0"/>
              <a:t> F1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CDFD6B-0DF0-C601-79B4-7938AE0DBD1C}"/>
              </a:ext>
            </a:extLst>
          </p:cNvPr>
          <p:cNvSpPr/>
          <p:nvPr/>
        </p:nvSpPr>
        <p:spPr>
          <a:xfrm rot="5400000" flipV="1">
            <a:off x="-201831" y="3890489"/>
            <a:ext cx="5862988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1406465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93B20-25D3-1271-21D7-63D027BA4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9877D4-9319-97F8-46E5-F868B7560985}"/>
              </a:ext>
            </a:extLst>
          </p:cNvPr>
          <p:cNvSpPr/>
          <p:nvPr/>
        </p:nvSpPr>
        <p:spPr>
          <a:xfrm>
            <a:off x="-1" y="0"/>
            <a:ext cx="3493605" cy="992448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92B7F7-4A14-3285-7F8A-199ABF31B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497" y="94127"/>
            <a:ext cx="10969943" cy="711081"/>
          </a:xfrm>
        </p:spPr>
        <p:txBody>
          <a:bodyPr/>
          <a:lstStyle/>
          <a:p>
            <a:r>
              <a:rPr lang="ro-RO" sz="3200" dirty="0">
                <a:solidFill>
                  <a:schemeClr val="bg1"/>
                </a:solidFill>
              </a:rPr>
              <a:t>Experimente</a:t>
            </a:r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 err="1">
                <a:solidFill>
                  <a:schemeClr val="bg1"/>
                </a:solidFill>
              </a:rPr>
              <a:t>dataseturi</a:t>
            </a:r>
            <a:endParaRPr lang="ro-RO" sz="32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035D065-9DB5-F08D-ACDE-E744988443B9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D9EF22-2FE0-FD7A-F749-778FA324DF1A}"/>
              </a:ext>
            </a:extLst>
          </p:cNvPr>
          <p:cNvSpPr txBox="1"/>
          <p:nvPr/>
        </p:nvSpPr>
        <p:spPr>
          <a:xfrm>
            <a:off x="261764" y="1700808"/>
            <a:ext cx="3024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FA57CD-FD8A-AA57-B1DB-430B3A7E5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605" y="0"/>
            <a:ext cx="869522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C52EAA0-8B0F-ACA8-D150-9DC93FB25059}"/>
              </a:ext>
            </a:extLst>
          </p:cNvPr>
          <p:cNvSpPr txBox="1"/>
          <p:nvPr/>
        </p:nvSpPr>
        <p:spPr>
          <a:xfrm>
            <a:off x="20334" y="1844824"/>
            <a:ext cx="312175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Coloane</a:t>
            </a:r>
            <a:r>
              <a:rPr lang="en-US" sz="1600" dirty="0"/>
              <a:t> – </a:t>
            </a:r>
            <a:r>
              <a:rPr lang="en-US" sz="1600" dirty="0" err="1"/>
              <a:t>dataseturile</a:t>
            </a: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Linii</a:t>
            </a:r>
            <a:r>
              <a:rPr lang="en-US" sz="1600" dirty="0"/>
              <a:t> – </a:t>
            </a:r>
            <a:r>
              <a:rPr lang="en-US" sz="1600" dirty="0" err="1"/>
              <a:t>tipul</a:t>
            </a:r>
            <a:r>
              <a:rPr lang="en-US" sz="1600" dirty="0"/>
              <a:t> </a:t>
            </a:r>
            <a:r>
              <a:rPr lang="en-US" sz="1600" dirty="0" err="1"/>
              <a:t>datasetului</a:t>
            </a:r>
            <a:r>
              <a:rPr lang="en-US" sz="1600" dirty="0"/>
              <a:t>:</a:t>
            </a:r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/>
              <a:t>Baseline</a:t>
            </a:r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Augmentat</a:t>
            </a:r>
            <a:endParaRPr lang="en-US" sz="1600" dirty="0"/>
          </a:p>
          <a:p>
            <a:pPr marL="952393" lvl="1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Augmentat</a:t>
            </a:r>
            <a:r>
              <a:rPr lang="en-US" sz="1600" dirty="0"/>
              <a:t> + </a:t>
            </a:r>
            <a:r>
              <a:rPr lang="en-US" sz="1600" dirty="0" err="1"/>
              <a:t>preprocesat</a:t>
            </a:r>
            <a:endParaRPr lang="en-US" sz="1600" dirty="0"/>
          </a:p>
          <a:p>
            <a:pPr marL="952393" lvl="1" indent="-34290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Erori</a:t>
            </a:r>
            <a:r>
              <a:rPr lang="en-US" sz="1600" dirty="0"/>
              <a:t> </a:t>
            </a:r>
            <a:r>
              <a:rPr lang="en-US" sz="1600" dirty="0" err="1"/>
              <a:t>mici</a:t>
            </a:r>
            <a:r>
              <a:rPr lang="en-US" sz="1600" dirty="0"/>
              <a:t> </a:t>
            </a:r>
            <a:r>
              <a:rPr lang="en-US" sz="1600" dirty="0" err="1"/>
              <a:t>intre</a:t>
            </a:r>
            <a:r>
              <a:rPr lang="en-US" sz="1600" dirty="0"/>
              <a:t> </a:t>
            </a:r>
            <a:r>
              <a:rPr lang="en-US" sz="1600" dirty="0" err="1"/>
              <a:t>clase</a:t>
            </a:r>
            <a:r>
              <a:rPr lang="en-US" sz="1600" dirty="0"/>
              <a:t> marginale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Stadiile</a:t>
            </a:r>
            <a:r>
              <a:rPr lang="en-US" sz="1600" dirty="0"/>
              <a:t> de </a:t>
            </a:r>
            <a:r>
              <a:rPr lang="en-US" sz="1600" dirty="0" err="1"/>
              <a:t>tranzitie</a:t>
            </a:r>
            <a:r>
              <a:rPr lang="en-US" sz="1600" dirty="0"/>
              <a:t> </a:t>
            </a:r>
            <a:r>
              <a:rPr lang="en-US" sz="1600" dirty="0" err="1"/>
              <a:t>confundate</a:t>
            </a: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1600" dirty="0" err="1"/>
              <a:t>Acuratete</a:t>
            </a:r>
            <a:r>
              <a:rPr lang="en-US" sz="1600" dirty="0"/>
              <a:t> mare pe </a:t>
            </a:r>
            <a:r>
              <a:rPr lang="en-US" sz="1600" dirty="0" err="1"/>
              <a:t>clasa</a:t>
            </a:r>
            <a:r>
              <a:rPr lang="en-US" sz="1600" dirty="0"/>
              <a:t> 0 -&gt; </a:t>
            </a:r>
            <a:r>
              <a:rPr lang="en-US" sz="1600" dirty="0" err="1"/>
              <a:t>posibila</a:t>
            </a:r>
            <a:r>
              <a:rPr lang="en-US" sz="1600" dirty="0"/>
              <a:t> </a:t>
            </a:r>
            <a:r>
              <a:rPr lang="en-US" sz="1600" dirty="0" err="1"/>
              <a:t>solutie</a:t>
            </a:r>
            <a:r>
              <a:rPr lang="en-US" sz="1600" dirty="0"/>
              <a:t>: </a:t>
            </a:r>
            <a:r>
              <a:rPr lang="en-US" sz="1600" dirty="0" err="1"/>
              <a:t>sistem</a:t>
            </a:r>
            <a:r>
              <a:rPr lang="en-US" sz="1600" dirty="0"/>
              <a:t> in </a:t>
            </a:r>
            <a:r>
              <a:rPr lang="en-US" sz="1600" dirty="0" err="1"/>
              <a:t>cascada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8AD06E-8F48-701D-F730-7E3C5C300AB1}"/>
              </a:ext>
            </a:extLst>
          </p:cNvPr>
          <p:cNvSpPr/>
          <p:nvPr/>
        </p:nvSpPr>
        <p:spPr>
          <a:xfrm rot="5400000" flipV="1">
            <a:off x="528203" y="3846194"/>
            <a:ext cx="5869577" cy="81371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37556414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A1581-84C0-D0BD-C95F-5B6279512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3281CCC-FBD9-6991-4EB2-3BD7847C22FE}"/>
              </a:ext>
            </a:extLst>
          </p:cNvPr>
          <p:cNvSpPr/>
          <p:nvPr/>
        </p:nvSpPr>
        <p:spPr>
          <a:xfrm>
            <a:off x="-2753" y="0"/>
            <a:ext cx="8462542" cy="899620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BC3C9D-3235-E743-1B66-66BE9F79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Model principal – </a:t>
            </a:r>
            <a:r>
              <a:rPr lang="en-US" dirty="0" err="1">
                <a:solidFill>
                  <a:schemeClr val="bg1"/>
                </a:solidFill>
              </a:rPr>
              <a:t>etapa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binara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94118EC-6EC4-A2CD-5334-E10330617BE8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CDA14C-50A5-AC72-DBB9-8FFFBBCDD6D3}"/>
              </a:ext>
            </a:extLst>
          </p:cNvPr>
          <p:cNvSpPr txBox="1"/>
          <p:nvPr/>
        </p:nvSpPr>
        <p:spPr>
          <a:xfrm>
            <a:off x="0" y="899620"/>
            <a:ext cx="69127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Fine-tuning </a:t>
            </a:r>
            <a:r>
              <a:rPr lang="en-US" sz="1600" dirty="0" err="1"/>
              <a:t>în</a:t>
            </a:r>
            <a:r>
              <a:rPr lang="en-US" sz="1600" dirty="0"/>
              <a:t> 2 faze: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Faza</a:t>
            </a:r>
            <a:r>
              <a:rPr lang="en-US" sz="1600" dirty="0"/>
              <a:t> 1: backbone </a:t>
            </a:r>
            <a:r>
              <a:rPr lang="en-US" sz="1600" dirty="0" err="1"/>
              <a:t>înghețat</a:t>
            </a:r>
            <a:r>
              <a:rPr lang="en-US" sz="1600" dirty="0"/>
              <a:t> (capul de </a:t>
            </a:r>
            <a:r>
              <a:rPr lang="en-US" sz="1600" dirty="0" err="1"/>
              <a:t>clasificare</a:t>
            </a:r>
            <a:r>
              <a:rPr lang="en-US" sz="1600" dirty="0"/>
              <a:t>) 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3 </a:t>
            </a:r>
            <a:r>
              <a:rPr lang="en-US" sz="1600" dirty="0" err="1"/>
              <a:t>epoci</a:t>
            </a:r>
            <a:endParaRPr lang="en-US" sz="1600" dirty="0"/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Rata de </a:t>
            </a:r>
            <a:r>
              <a:rPr lang="en-US" sz="1600" dirty="0" err="1"/>
              <a:t>invatare</a:t>
            </a:r>
            <a:r>
              <a:rPr lang="en-US" sz="1600" dirty="0"/>
              <a:t> 1e-3</a:t>
            </a:r>
          </a:p>
          <a:p>
            <a:pPr lvl="2"/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Faza</a:t>
            </a:r>
            <a:r>
              <a:rPr lang="en-US" sz="1600" dirty="0"/>
              <a:t> 2: </a:t>
            </a:r>
            <a:r>
              <a:rPr lang="en-US" sz="1600" dirty="0" err="1"/>
              <a:t>antrenare</a:t>
            </a:r>
            <a:r>
              <a:rPr lang="en-US" sz="1600" dirty="0"/>
              <a:t> complete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Epocile</a:t>
            </a:r>
            <a:r>
              <a:rPr lang="en-US" sz="1600" dirty="0"/>
              <a:t> 4-30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Rata de </a:t>
            </a:r>
            <a:r>
              <a:rPr lang="en-US" sz="1600" dirty="0" err="1"/>
              <a:t>invatare</a:t>
            </a:r>
            <a:r>
              <a:rPr lang="en-US" sz="1600" dirty="0"/>
              <a:t> </a:t>
            </a:r>
            <a:r>
              <a:rPr lang="it-IT" sz="1600" dirty="0"/>
              <a:t>backbone: 1e-4, cap: 3e-4</a:t>
            </a:r>
          </a:p>
          <a:p>
            <a:pPr lvl="2"/>
            <a:endParaRPr lang="it-IT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BCEWithLogitsLoss</a:t>
            </a:r>
            <a:r>
              <a:rPr lang="en-US" sz="1600" dirty="0"/>
              <a:t> + </a:t>
            </a:r>
            <a:r>
              <a:rPr lang="en-US" sz="1600" dirty="0" err="1"/>
              <a:t>AdamW</a:t>
            </a:r>
            <a:r>
              <a:rPr lang="en-US" sz="1600" dirty="0"/>
              <a:t> + </a:t>
            </a:r>
            <a:r>
              <a:rPr lang="en-US" sz="1600" dirty="0" err="1"/>
              <a:t>weight_decay</a:t>
            </a:r>
            <a:r>
              <a:rPr lang="en-US" sz="1600" dirty="0"/>
              <a:t> (1e-4) + </a:t>
            </a:r>
            <a:r>
              <a:rPr lang="en-US" sz="1600" dirty="0" err="1"/>
              <a:t>ReduceLROnPlateau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Monitorizare</a:t>
            </a:r>
            <a:r>
              <a:rPr lang="en-US" sz="1600" dirty="0"/>
              <a:t> AUC pe </a:t>
            </a:r>
            <a:r>
              <a:rPr lang="en-US" sz="1600" dirty="0" err="1"/>
              <a:t>validare</a:t>
            </a:r>
            <a:r>
              <a:rPr lang="en-US" sz="1600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59293D3-2A7F-A4BA-C07E-DABD49B0D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790" y="0"/>
            <a:ext cx="3729035" cy="23129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A8BDF0-390C-A928-254D-A1C6B8711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9789" y="2276872"/>
            <a:ext cx="3729036" cy="23129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3B675C4-8873-E615-8FEB-A0FEF23DE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9789" y="4545054"/>
            <a:ext cx="3729036" cy="231294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F6DF700-13B7-86ED-1253-2AD2FC5711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58788"/>
            <a:ext cx="3834383" cy="237828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FE40784-B063-B89C-0EC7-F446F832A93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586" r="48855"/>
          <a:stretch>
            <a:fillRect/>
          </a:stretch>
        </p:blipFill>
        <p:spPr>
          <a:xfrm>
            <a:off x="4654252" y="3717032"/>
            <a:ext cx="3252353" cy="31409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8FD4BC-92BF-EAAE-8993-4DF0D49403F1}"/>
              </a:ext>
            </a:extLst>
          </p:cNvPr>
          <p:cNvSpPr/>
          <p:nvPr/>
        </p:nvSpPr>
        <p:spPr>
          <a:xfrm rot="5400000" flipV="1">
            <a:off x="5247569" y="3606343"/>
            <a:ext cx="6372395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5C4A69-DB12-C965-84E6-E9FFB6D94A72}"/>
              </a:ext>
            </a:extLst>
          </p:cNvPr>
          <p:cNvSpPr/>
          <p:nvPr/>
        </p:nvSpPr>
        <p:spPr>
          <a:xfrm rot="10800000" flipV="1">
            <a:off x="8442980" y="2260475"/>
            <a:ext cx="3769618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BC9063-9A88-852D-04FD-FFF6A8D41F88}"/>
              </a:ext>
            </a:extLst>
          </p:cNvPr>
          <p:cNvSpPr/>
          <p:nvPr/>
        </p:nvSpPr>
        <p:spPr>
          <a:xfrm rot="10800000" flipV="1">
            <a:off x="8419012" y="4545054"/>
            <a:ext cx="3769618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3909513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EF7-0008-E0F1-3A02-8D9178B34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024EA19-C5BB-C7B8-68DE-B884E1AEC602}"/>
              </a:ext>
            </a:extLst>
          </p:cNvPr>
          <p:cNvSpPr/>
          <p:nvPr/>
        </p:nvSpPr>
        <p:spPr>
          <a:xfrm>
            <a:off x="0" y="0"/>
            <a:ext cx="8470674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49079-247C-97A9-E674-7637E4A3A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Model principal – </a:t>
            </a:r>
            <a:r>
              <a:rPr lang="en-US" dirty="0" err="1">
                <a:solidFill>
                  <a:schemeClr val="bg1"/>
                </a:solidFill>
              </a:rPr>
              <a:t>etapa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clasificare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19155AB-4EF6-8A26-A86A-0F582B58186D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1E47A4-BAED-76B8-B3F4-F44C0F060A30}"/>
              </a:ext>
            </a:extLst>
          </p:cNvPr>
          <p:cNvSpPr txBox="1"/>
          <p:nvPr/>
        </p:nvSpPr>
        <p:spPr>
          <a:xfrm>
            <a:off x="7044" y="893584"/>
            <a:ext cx="795957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Fine-tuning </a:t>
            </a:r>
            <a:r>
              <a:rPr lang="en-US" sz="1600" dirty="0" err="1"/>
              <a:t>în</a:t>
            </a:r>
            <a:r>
              <a:rPr lang="en-US" sz="1600" dirty="0"/>
              <a:t> 2 faze:</a:t>
            </a:r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Faza</a:t>
            </a:r>
            <a:r>
              <a:rPr lang="en-US" sz="1600" dirty="0"/>
              <a:t> 1: backbone </a:t>
            </a:r>
            <a:r>
              <a:rPr lang="en-US" sz="1600" dirty="0" err="1"/>
              <a:t>înghețat</a:t>
            </a:r>
            <a:r>
              <a:rPr lang="en-US" sz="1600" dirty="0"/>
              <a:t> (capul de </a:t>
            </a:r>
            <a:r>
              <a:rPr lang="en-US" sz="1600" dirty="0" err="1"/>
              <a:t>clasificare</a:t>
            </a:r>
            <a:r>
              <a:rPr lang="en-US" sz="1600" dirty="0"/>
              <a:t>) 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5 </a:t>
            </a:r>
            <a:r>
              <a:rPr lang="en-US" sz="1600" dirty="0" err="1"/>
              <a:t>epoci</a:t>
            </a:r>
            <a:endParaRPr lang="en-US" sz="1600" dirty="0"/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Rata de </a:t>
            </a:r>
            <a:r>
              <a:rPr lang="en-US" sz="1600" dirty="0" err="1"/>
              <a:t>invatare</a:t>
            </a:r>
            <a:r>
              <a:rPr lang="en-US" sz="1600" dirty="0"/>
              <a:t> 1e-3</a:t>
            </a:r>
          </a:p>
          <a:p>
            <a:pPr lvl="2"/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Faza</a:t>
            </a:r>
            <a:r>
              <a:rPr lang="en-US" sz="1600" dirty="0"/>
              <a:t> 2: </a:t>
            </a:r>
            <a:r>
              <a:rPr lang="en-US" sz="1600" dirty="0" err="1"/>
              <a:t>antrenare</a:t>
            </a:r>
            <a:r>
              <a:rPr lang="en-US" sz="1600" dirty="0"/>
              <a:t> complete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Epocile</a:t>
            </a:r>
            <a:r>
              <a:rPr lang="en-US" sz="1600" dirty="0"/>
              <a:t> 6-50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r>
              <a:rPr lang="en-US" sz="1600" dirty="0"/>
              <a:t>Rata de </a:t>
            </a:r>
            <a:r>
              <a:rPr lang="en-US" sz="1600" dirty="0" err="1"/>
              <a:t>invatare</a:t>
            </a:r>
            <a:r>
              <a:rPr lang="en-US" sz="1600" dirty="0"/>
              <a:t> </a:t>
            </a:r>
            <a:r>
              <a:rPr lang="it-IT" sz="1600" dirty="0"/>
              <a:t>backbone: 1e-4, cap: 3e-4</a:t>
            </a:r>
          </a:p>
          <a:p>
            <a:pPr marL="1504737" lvl="2" indent="-285750">
              <a:buFont typeface="Wingdings" panose="05000000000000000000" pitchFamily="2" charset="2"/>
              <a:buChar char="Ø"/>
            </a:pPr>
            <a:endParaRPr lang="it-IT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/>
              <a:t>SmoothL1Loss + </a:t>
            </a:r>
            <a:r>
              <a:rPr lang="en-US" sz="1600" dirty="0" err="1"/>
              <a:t>AdamW</a:t>
            </a:r>
            <a:r>
              <a:rPr lang="en-US" sz="1600" dirty="0"/>
              <a:t> + </a:t>
            </a:r>
            <a:r>
              <a:rPr lang="en-US" sz="1600" dirty="0" err="1"/>
              <a:t>weight_decay</a:t>
            </a:r>
            <a:r>
              <a:rPr lang="en-US" sz="1600" dirty="0"/>
              <a:t> (1e-4) + </a:t>
            </a:r>
            <a:r>
              <a:rPr lang="en-US" sz="1600" dirty="0" err="1"/>
              <a:t>ReduceLROnPlateau</a:t>
            </a: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Metrica</a:t>
            </a:r>
            <a:r>
              <a:rPr lang="en-US" sz="1600" dirty="0"/>
              <a:t> </a:t>
            </a:r>
            <a:r>
              <a:rPr lang="en-US" sz="1600" dirty="0" err="1"/>
              <a:t>principala</a:t>
            </a:r>
            <a:r>
              <a:rPr lang="en-US" sz="1600" dirty="0"/>
              <a:t>: QWK pe </a:t>
            </a:r>
            <a:r>
              <a:rPr lang="en-US" sz="1600" dirty="0" err="1"/>
              <a:t>setul</a:t>
            </a:r>
            <a:r>
              <a:rPr lang="en-US" sz="1600" dirty="0"/>
              <a:t> de </a:t>
            </a:r>
            <a:r>
              <a:rPr lang="en-US" sz="1600" dirty="0" err="1"/>
              <a:t>validare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EF6F5D-4C9C-40A4-68DC-03A4D08F7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675" y="1"/>
            <a:ext cx="3718149" cy="23061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716165-2D09-D6BE-5C10-5817482DD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798" y="2276872"/>
            <a:ext cx="3715027" cy="23042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F947824-422F-43EE-9C69-DCD57825C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22" y="4573854"/>
            <a:ext cx="3682603" cy="22841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E137030-3CB3-6FCE-F206-83F154622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" y="4498479"/>
            <a:ext cx="3762375" cy="23336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A1BA732-256E-2F84-C99E-3F1CA73045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219" r="49409"/>
          <a:stretch>
            <a:fillRect/>
          </a:stretch>
        </p:blipFill>
        <p:spPr>
          <a:xfrm>
            <a:off x="4366220" y="4005064"/>
            <a:ext cx="3913561" cy="28529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54379D6-2990-A59C-E99B-EACA2E62631A}"/>
              </a:ext>
            </a:extLst>
          </p:cNvPr>
          <p:cNvSpPr/>
          <p:nvPr/>
        </p:nvSpPr>
        <p:spPr>
          <a:xfrm rot="5400000" flipV="1">
            <a:off x="5441404" y="3828729"/>
            <a:ext cx="6003153" cy="55390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F00B9F-7782-9A92-EF67-E19D5FB50CC7}"/>
              </a:ext>
            </a:extLst>
          </p:cNvPr>
          <p:cNvSpPr/>
          <p:nvPr/>
        </p:nvSpPr>
        <p:spPr>
          <a:xfrm rot="10800000" flipV="1">
            <a:off x="8442980" y="2260475"/>
            <a:ext cx="3769618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37BC50-9A6F-3C69-2E19-24FD6E6EF9A3}"/>
              </a:ext>
            </a:extLst>
          </p:cNvPr>
          <p:cNvSpPr/>
          <p:nvPr/>
        </p:nvSpPr>
        <p:spPr>
          <a:xfrm rot="10800000" flipV="1">
            <a:off x="8462714" y="4553756"/>
            <a:ext cx="3769618" cy="4571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399093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4BE0626-445A-60E3-A91E-0FF3F4416666}"/>
              </a:ext>
            </a:extLst>
          </p:cNvPr>
          <p:cNvSpPr/>
          <p:nvPr/>
        </p:nvSpPr>
        <p:spPr>
          <a:xfrm>
            <a:off x="-1" y="-16705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78929-09CC-633E-634C-D2527E9A6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Data leakage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DA3944C-F412-DE53-EA95-B8FE236243A1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A342F-B60D-BBF2-5B39-013B392ECAC3}"/>
              </a:ext>
            </a:extLst>
          </p:cNvPr>
          <p:cNvSpPr txBox="1"/>
          <p:nvPr/>
        </p:nvSpPr>
        <p:spPr>
          <a:xfrm>
            <a:off x="368552" y="1522372"/>
            <a:ext cx="436163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Pentru</a:t>
            </a:r>
            <a:r>
              <a:rPr lang="en-US" sz="1600" dirty="0"/>
              <a:t> </a:t>
            </a:r>
            <a:r>
              <a:rPr lang="en-US" sz="1600" dirty="0" err="1"/>
              <a:t>setul</a:t>
            </a:r>
            <a:r>
              <a:rPr lang="en-US" sz="1600" dirty="0"/>
              <a:t> de date </a:t>
            </a:r>
            <a:r>
              <a:rPr lang="en-US" sz="1600" dirty="0" err="1"/>
              <a:t>Diabetic_Balanced_Data</a:t>
            </a:r>
            <a:r>
              <a:rPr lang="en-US" sz="1600" dirty="0"/>
              <a:t>:</a:t>
            </a:r>
            <a:endParaRPr lang="ro-RO" sz="1600" dirty="0"/>
          </a:p>
          <a:p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Augment</a:t>
            </a:r>
            <a:r>
              <a:rPr lang="ro-RO" sz="1600" dirty="0"/>
              <a:t>ări intercalate intre splituri</a:t>
            </a:r>
          </a:p>
          <a:p>
            <a:pPr lvl="1"/>
            <a:r>
              <a:rPr lang="ro-RO" sz="1600" dirty="0"/>
              <a:t>      (train, val, test)</a:t>
            </a:r>
            <a:endParaRPr lang="en-US" sz="1600" dirty="0"/>
          </a:p>
          <a:p>
            <a:pPr lvl="1"/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r>
              <a:rPr lang="ro-RO" sz="1600" dirty="0"/>
              <a:t>Citat în articole de review (</a:t>
            </a:r>
            <a:r>
              <a:rPr lang="ro-RO" sz="1600" dirty="0">
                <a:hlinkClick r:id="rId2"/>
              </a:rPr>
              <a:t>link</a:t>
            </a:r>
            <a:r>
              <a:rPr lang="ro-RO" sz="1600" dirty="0"/>
              <a:t>)</a:t>
            </a: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39FE5F-231B-57ED-CA16-1587401A7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372" y="992448"/>
            <a:ext cx="6336704" cy="27835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C9CC60F-0795-EF33-82D3-546643E88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3" y="4020579"/>
            <a:ext cx="12188825" cy="28286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AE9772-F91D-05F7-10B0-84625D3828AF}"/>
              </a:ext>
            </a:extLst>
          </p:cNvPr>
          <p:cNvSpPr/>
          <p:nvPr/>
        </p:nvSpPr>
        <p:spPr>
          <a:xfrm rot="5400000" flipV="1">
            <a:off x="3485739" y="1953936"/>
            <a:ext cx="3400527" cy="55389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0ACBA-1AAC-0E63-CBE1-D3E2C51FD04D}"/>
              </a:ext>
            </a:extLst>
          </p:cNvPr>
          <p:cNvSpPr/>
          <p:nvPr/>
        </p:nvSpPr>
        <p:spPr>
          <a:xfrm rot="10800000" flipV="1">
            <a:off x="-2461" y="3681894"/>
            <a:ext cx="5216157" cy="94150"/>
          </a:xfrm>
          <a:prstGeom prst="rect">
            <a:avLst/>
          </a:prstGeom>
          <a:solidFill>
            <a:srgbClr val="00755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</p:spTree>
    <p:extLst>
      <p:ext uri="{BB962C8B-B14F-4D97-AF65-F5344CB8AC3E}">
        <p14:creationId xmlns:p14="http://schemas.microsoft.com/office/powerpoint/2010/main" val="3924164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EEFFE8-5E38-AED9-DF62-EC96A7972E79}"/>
              </a:ext>
            </a:extLst>
          </p:cNvPr>
          <p:cNvSpPr/>
          <p:nvPr/>
        </p:nvSpPr>
        <p:spPr>
          <a:xfrm>
            <a:off x="873831" y="2497395"/>
            <a:ext cx="10441160" cy="1152128"/>
          </a:xfrm>
          <a:prstGeom prst="round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A3FBC-2805-87D7-3D33-3F09B1AA9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17921"/>
            <a:ext cx="10969943" cy="711081"/>
          </a:xfrm>
        </p:spPr>
        <p:txBody>
          <a:bodyPr/>
          <a:lstStyle/>
          <a:p>
            <a:pPr algn="ctr"/>
            <a:r>
              <a:rPr lang="ro-RO" sz="36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Concluzii și direcții viitoare</a:t>
            </a:r>
          </a:p>
        </p:txBody>
      </p:sp>
    </p:spTree>
    <p:extLst>
      <p:ext uri="{BB962C8B-B14F-4D97-AF65-F5344CB8AC3E}">
        <p14:creationId xmlns:p14="http://schemas.microsoft.com/office/powerpoint/2010/main" val="664481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AF0F3-DAE2-2834-90C3-715A90BCD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EE2B53-D5C9-F291-11E5-2DAC56C55BC2}"/>
              </a:ext>
            </a:extLst>
          </p:cNvPr>
          <p:cNvSpPr/>
          <p:nvPr/>
        </p:nvSpPr>
        <p:spPr>
          <a:xfrm>
            <a:off x="-1" y="-108840"/>
            <a:ext cx="12200239" cy="856753"/>
          </a:xfrm>
          <a:prstGeom prst="rect">
            <a:avLst/>
          </a:prstGeom>
          <a:solidFill>
            <a:srgbClr val="0075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70772B-8E51-B485-EF56-D801DB5B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48" y="36832"/>
            <a:ext cx="10969943" cy="711081"/>
          </a:xfrm>
        </p:spPr>
        <p:txBody>
          <a:bodyPr/>
          <a:lstStyle/>
          <a:p>
            <a:r>
              <a:rPr lang="ro-RO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Concluzii și direcții viitoare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BF1E8AA-2BBA-69C1-2B6E-6E988EC232D1}"/>
              </a:ext>
            </a:extLst>
          </p:cNvPr>
          <p:cNvSpPr txBox="1">
            <a:spLocks/>
          </p:cNvSpPr>
          <p:nvPr/>
        </p:nvSpPr>
        <p:spPr>
          <a:xfrm>
            <a:off x="270148" y="281367"/>
            <a:ext cx="10969943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Autofit/>
          </a:bodyPr>
          <a:lstStyle>
            <a:lvl1pPr algn="l" defTabSz="1218987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CFB158-A661-89FD-01CA-60C06B1CFE05}"/>
              </a:ext>
            </a:extLst>
          </p:cNvPr>
          <p:cNvSpPr txBox="1"/>
          <p:nvPr/>
        </p:nvSpPr>
        <p:spPr>
          <a:xfrm>
            <a:off x="260394" y="1624431"/>
            <a:ext cx="3024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sz="1600" dirty="0"/>
          </a:p>
          <a:p>
            <a:pPr marL="895243" lvl="1" indent="-285750">
              <a:buFont typeface="Wingdings" panose="05000000000000000000" pitchFamily="2" charset="2"/>
              <a:buChar char="Ø"/>
            </a:pPr>
            <a:endParaRPr lang="en-US" sz="16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457D5F-0912-8CC1-7EFF-A43E25FC2E10}"/>
              </a:ext>
            </a:extLst>
          </p:cNvPr>
          <p:cNvSpPr/>
          <p:nvPr/>
        </p:nvSpPr>
        <p:spPr>
          <a:xfrm>
            <a:off x="477788" y="1321349"/>
            <a:ext cx="4951710" cy="4316876"/>
          </a:xfrm>
          <a:prstGeom prst="roundRect">
            <a:avLst/>
          </a:prstGeom>
          <a:solidFill>
            <a:srgbClr val="FFFFFF"/>
          </a:solidFill>
          <a:ln>
            <a:solidFill>
              <a:srgbClr val="DBE2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Ø"/>
            </a:pPr>
            <a:endParaRPr lang="en-US" sz="2399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8F0B59-4C7B-997B-D3B4-5FAD8A3FB2DD}"/>
              </a:ext>
            </a:extLst>
          </p:cNvPr>
          <p:cNvSpPr txBox="1"/>
          <p:nvPr/>
        </p:nvSpPr>
        <p:spPr>
          <a:xfrm>
            <a:off x="1125860" y="1435503"/>
            <a:ext cx="3809008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dirty="0" err="1">
                <a:solidFill>
                  <a:srgbClr val="007554"/>
                </a:solidFill>
                <a:latin typeface="Arial" panose="020B0604020202020204" pitchFamily="34" charset="0"/>
              </a:rPr>
              <a:t>Concluzii</a:t>
            </a:r>
            <a:endParaRPr lang="en-US" b="1" dirty="0">
              <a:solidFill>
                <a:srgbClr val="007554"/>
              </a:solidFill>
              <a:latin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5AE889-D72C-772A-B135-FAA5C9AD1D55}"/>
              </a:ext>
            </a:extLst>
          </p:cNvPr>
          <p:cNvSpPr/>
          <p:nvPr/>
        </p:nvSpPr>
        <p:spPr>
          <a:xfrm>
            <a:off x="6454452" y="1311677"/>
            <a:ext cx="4951710" cy="4316876"/>
          </a:xfrm>
          <a:prstGeom prst="roundRect">
            <a:avLst/>
          </a:prstGeom>
          <a:solidFill>
            <a:srgbClr val="FFFFFF"/>
          </a:solidFill>
          <a:ln>
            <a:solidFill>
              <a:srgbClr val="DBE2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99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42E2A3-9FF1-0CF2-1A56-267560433FDA}"/>
              </a:ext>
            </a:extLst>
          </p:cNvPr>
          <p:cNvSpPr txBox="1"/>
          <p:nvPr/>
        </p:nvSpPr>
        <p:spPr>
          <a:xfrm>
            <a:off x="6958508" y="1452872"/>
            <a:ext cx="3809008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dirty="0" err="1">
                <a:solidFill>
                  <a:srgbClr val="007554"/>
                </a:solidFill>
                <a:latin typeface="Arial" panose="020B0604020202020204" pitchFamily="34" charset="0"/>
              </a:rPr>
              <a:t>Direc</a:t>
            </a:r>
            <a:r>
              <a:rPr lang="ro-RO" b="1" dirty="0">
                <a:solidFill>
                  <a:srgbClr val="007554"/>
                </a:solidFill>
                <a:latin typeface="Arial" panose="020B0604020202020204" pitchFamily="34" charset="0"/>
              </a:rPr>
              <a:t>ții viitoare</a:t>
            </a:r>
            <a:endParaRPr lang="en-US" b="1" dirty="0">
              <a:solidFill>
                <a:srgbClr val="007554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F1CF45-B656-9ED2-AC16-C4E66AA64FD7}"/>
              </a:ext>
            </a:extLst>
          </p:cNvPr>
          <p:cNvSpPr txBox="1"/>
          <p:nvPr/>
        </p:nvSpPr>
        <p:spPr>
          <a:xfrm>
            <a:off x="981844" y="1959745"/>
            <a:ext cx="41764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Dezvoltarea</a:t>
            </a:r>
            <a:r>
              <a:rPr lang="en-US" sz="1600" dirty="0"/>
              <a:t> </a:t>
            </a:r>
            <a:r>
              <a:rPr lang="en-US" sz="1600" dirty="0" err="1"/>
              <a:t>unui</a:t>
            </a:r>
            <a:r>
              <a:rPr lang="en-US" sz="1600" dirty="0"/>
              <a:t> </a:t>
            </a:r>
            <a:r>
              <a:rPr lang="en-US" sz="1600" dirty="0" err="1"/>
              <a:t>sistem</a:t>
            </a:r>
            <a:r>
              <a:rPr lang="en-US" sz="1600" dirty="0"/>
              <a:t> </a:t>
            </a:r>
            <a:r>
              <a:rPr lang="en-US" sz="1600" dirty="0" err="1"/>
              <a:t>complet</a:t>
            </a:r>
            <a:r>
              <a:rPr lang="en-US" sz="1600" dirty="0"/>
              <a:t> </a:t>
            </a:r>
            <a:r>
              <a:rPr lang="en-US" sz="1600" dirty="0" err="1"/>
              <a:t>și</a:t>
            </a:r>
            <a:r>
              <a:rPr lang="en-US" sz="1600" dirty="0"/>
              <a:t> </a:t>
            </a:r>
            <a:r>
              <a:rPr lang="en-US" sz="1600" dirty="0" err="1"/>
              <a:t>automatizat</a:t>
            </a:r>
            <a:r>
              <a:rPr lang="en-US" sz="1600" dirty="0"/>
              <a:t> de </a:t>
            </a:r>
            <a:r>
              <a:rPr lang="en-US" sz="1600" dirty="0" err="1"/>
              <a:t>triaj</a:t>
            </a:r>
            <a:r>
              <a:rPr lang="en-US" sz="1600" dirty="0"/>
              <a:t> </a:t>
            </a:r>
            <a:r>
              <a:rPr lang="en-US" sz="1600" dirty="0" err="1"/>
              <a:t>în</a:t>
            </a:r>
            <a:r>
              <a:rPr lang="en-US" sz="1600" dirty="0"/>
              <a:t> 2 </a:t>
            </a:r>
            <a:r>
              <a:rPr lang="en-US" sz="1600" dirty="0" err="1"/>
              <a:t>stadii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Evidențierea</a:t>
            </a:r>
            <a:r>
              <a:rPr lang="en-US" sz="1600" dirty="0"/>
              <a:t> </a:t>
            </a:r>
            <a:r>
              <a:rPr lang="en-US" sz="1600" dirty="0" err="1"/>
              <a:t>eficientă</a:t>
            </a:r>
            <a:r>
              <a:rPr lang="en-US" sz="1600" dirty="0"/>
              <a:t> a </a:t>
            </a:r>
            <a:r>
              <a:rPr lang="en-US" sz="1600" dirty="0" err="1"/>
              <a:t>leziunilor</a:t>
            </a:r>
            <a:r>
              <a:rPr lang="en-US" sz="1600" dirty="0"/>
              <a:t> </a:t>
            </a:r>
            <a:r>
              <a:rPr lang="en-US" sz="1600" dirty="0" err="1"/>
              <a:t>prin</a:t>
            </a:r>
            <a:r>
              <a:rPr lang="en-US" sz="1600" dirty="0"/>
              <a:t> </a:t>
            </a:r>
            <a:r>
              <a:rPr lang="en-US" sz="1600" dirty="0" err="1"/>
              <a:t>preprocesari</a:t>
            </a:r>
            <a:r>
              <a:rPr lang="en-US" sz="1600" dirty="0"/>
              <a:t> (Ben Graham).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sz="1600" dirty="0"/>
              <a:t>Eliminarea dezechilibrului de date prin augmentare offline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sz="1600" dirty="0"/>
              <a:t>Minimizarea erorilor medicale (Fals Negative) prin ajustarea pragului 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Validarea</a:t>
            </a:r>
            <a:r>
              <a:rPr lang="en-US" sz="1600" dirty="0"/>
              <a:t> </a:t>
            </a:r>
            <a:r>
              <a:rPr lang="en-US" sz="1600" dirty="0" err="1"/>
              <a:t>eficienței</a:t>
            </a:r>
            <a:r>
              <a:rPr lang="en-US" sz="1600" dirty="0"/>
              <a:t> </a:t>
            </a:r>
            <a:r>
              <a:rPr lang="en-US" sz="1600" dirty="0" err="1"/>
              <a:t>tehnicii</a:t>
            </a:r>
            <a:r>
              <a:rPr lang="en-US" sz="1600" dirty="0"/>
              <a:t> de Transfer Learning (</a:t>
            </a:r>
            <a:r>
              <a:rPr lang="en-US" sz="1600" dirty="0" err="1"/>
              <a:t>EfficientNet</a:t>
            </a:r>
            <a:r>
              <a:rPr lang="en-US" sz="1600" dirty="0"/>
              <a:t>/</a:t>
            </a:r>
            <a:r>
              <a:rPr lang="en-US" sz="1600" dirty="0" err="1"/>
              <a:t>ResNet</a:t>
            </a:r>
            <a:r>
              <a:rPr lang="en-US" sz="1600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FF54A5-982E-CEDA-6FC0-3747BF0BA17B}"/>
              </a:ext>
            </a:extLst>
          </p:cNvPr>
          <p:cNvSpPr txBox="1"/>
          <p:nvPr/>
        </p:nvSpPr>
        <p:spPr>
          <a:xfrm>
            <a:off x="6842075" y="2059281"/>
            <a:ext cx="4176464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Folosirea</a:t>
            </a:r>
            <a:r>
              <a:rPr lang="en-US" sz="1600" dirty="0"/>
              <a:t> </a:t>
            </a:r>
            <a:r>
              <a:rPr lang="en-US" sz="1600" dirty="0" err="1"/>
              <a:t>unui</a:t>
            </a:r>
            <a:r>
              <a:rPr lang="en-US" sz="1600" dirty="0"/>
              <a:t> model </a:t>
            </a:r>
            <a:r>
              <a:rPr lang="en-US" sz="1600" dirty="0" err="1"/>
              <a:t>multiclasa</a:t>
            </a:r>
            <a:r>
              <a:rPr lang="en-US" sz="1600" dirty="0"/>
              <a:t> 0-4 in loc de 1-4 </a:t>
            </a:r>
            <a:r>
              <a:rPr lang="en-US" sz="1600" dirty="0" err="1"/>
              <a:t>dar</a:t>
            </a:r>
            <a:r>
              <a:rPr lang="en-US" sz="1600" dirty="0"/>
              <a:t> cu </a:t>
            </a:r>
            <a:r>
              <a:rPr lang="en-US" sz="1600" dirty="0" err="1"/>
              <a:t>reducerea</a:t>
            </a:r>
            <a:r>
              <a:rPr lang="en-US" sz="1600" dirty="0"/>
              <a:t> </a:t>
            </a:r>
            <a:r>
              <a:rPr lang="en-US" sz="1600" dirty="0" err="1"/>
              <a:t>detectiilor</a:t>
            </a:r>
            <a:r>
              <a:rPr lang="en-US" sz="1600" dirty="0"/>
              <a:t> </a:t>
            </a:r>
            <a:r>
              <a:rPr lang="en-US" sz="1600" dirty="0" err="1"/>
              <a:t>sigure</a:t>
            </a:r>
            <a:r>
              <a:rPr lang="en-US" sz="1600" dirty="0"/>
              <a:t> de </a:t>
            </a:r>
            <a:r>
              <a:rPr lang="en-US" sz="1600" dirty="0" err="1"/>
              <a:t>clasa</a:t>
            </a:r>
            <a:r>
              <a:rPr lang="en-US" sz="1600" dirty="0"/>
              <a:t> 0 </a:t>
            </a:r>
            <a:r>
              <a:rPr lang="en-US" sz="1600" dirty="0" err="1"/>
              <a:t>dupa</a:t>
            </a:r>
            <a:r>
              <a:rPr lang="en-US" sz="1600" dirty="0"/>
              <a:t> </a:t>
            </a:r>
            <a:r>
              <a:rPr lang="en-US" sz="1600" dirty="0" err="1"/>
              <a:t>modelul</a:t>
            </a:r>
            <a:r>
              <a:rPr lang="en-US" sz="1600" dirty="0"/>
              <a:t> </a:t>
            </a:r>
            <a:r>
              <a:rPr lang="en-US" sz="1600" dirty="0" err="1"/>
              <a:t>binar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Antrenarea</a:t>
            </a:r>
            <a:r>
              <a:rPr lang="en-US" sz="1600" dirty="0"/>
              <a:t> </a:t>
            </a:r>
            <a:r>
              <a:rPr lang="en-US" sz="1600" dirty="0" err="1"/>
              <a:t>modelului</a:t>
            </a:r>
            <a:r>
              <a:rPr lang="en-US" sz="1600" dirty="0"/>
              <a:t> pe </a:t>
            </a:r>
            <a:r>
              <a:rPr lang="en-US" sz="1600" dirty="0" err="1"/>
              <a:t>seturi</a:t>
            </a:r>
            <a:r>
              <a:rPr lang="en-US" sz="1600" dirty="0"/>
              <a:t> externe de date </a:t>
            </a:r>
            <a:r>
              <a:rPr lang="en-US" sz="1600" dirty="0" err="1"/>
              <a:t>pentru</a:t>
            </a:r>
            <a:r>
              <a:rPr lang="en-US" sz="1600" dirty="0"/>
              <a:t> o </a:t>
            </a:r>
            <a:r>
              <a:rPr lang="en-US" sz="1600" dirty="0" err="1"/>
              <a:t>generalizare</a:t>
            </a:r>
            <a:r>
              <a:rPr lang="en-US" sz="1600" dirty="0"/>
              <a:t> </a:t>
            </a:r>
            <a:r>
              <a:rPr lang="en-US" sz="1600" dirty="0" err="1"/>
              <a:t>mai</a:t>
            </a:r>
            <a:r>
              <a:rPr lang="en-US" sz="1600" dirty="0"/>
              <a:t> </a:t>
            </a:r>
            <a:r>
              <a:rPr lang="en-US" sz="1600" dirty="0" err="1"/>
              <a:t>bună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ro-RO" sz="1600" dirty="0"/>
              <a:t>Îmbunătățirea augmentărilor pentru a reproduce mai potrivit diversitatea imaginilor fundus</a:t>
            </a:r>
            <a:endParaRPr lang="en-US" sz="1600" dirty="0"/>
          </a:p>
          <a:p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err="1"/>
              <a:t>Explorarea</a:t>
            </a:r>
            <a:r>
              <a:rPr lang="en-US" sz="1600" dirty="0"/>
              <a:t> </a:t>
            </a:r>
            <a:r>
              <a:rPr lang="en-US" sz="1600" dirty="0" err="1"/>
              <a:t>arhitecturilor</a:t>
            </a:r>
            <a:r>
              <a:rPr lang="en-US" sz="1600" dirty="0"/>
              <a:t> de </a:t>
            </a:r>
            <a:r>
              <a:rPr lang="en-US" sz="1600" dirty="0" err="1"/>
              <a:t>ultimă</a:t>
            </a:r>
            <a:r>
              <a:rPr lang="en-US" sz="1600" dirty="0"/>
              <a:t> </a:t>
            </a:r>
            <a:r>
              <a:rPr lang="en-US" sz="1600" dirty="0" err="1"/>
              <a:t>generație</a:t>
            </a:r>
            <a:r>
              <a:rPr lang="en-US" sz="1600" dirty="0"/>
              <a:t>, precum Vision Transformers (</a:t>
            </a:r>
            <a:r>
              <a:rPr lang="en-US" sz="1600" dirty="0" err="1"/>
              <a:t>ViT</a:t>
            </a:r>
            <a:r>
              <a:rPr lang="en-US" sz="1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4875156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66D33-5C2C-3465-07E7-4022EF3D7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0" y="3073459"/>
            <a:ext cx="10969943" cy="71108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Mul</a:t>
            </a:r>
            <a:r>
              <a:rPr lang="ro-RO" dirty="0">
                <a:solidFill>
                  <a:schemeClr val="bg1"/>
                </a:solidFill>
              </a:rPr>
              <a:t>ț</a:t>
            </a:r>
            <a:r>
              <a:rPr lang="en-US" dirty="0" err="1">
                <a:solidFill>
                  <a:schemeClr val="bg1"/>
                </a:solidFill>
              </a:rPr>
              <a:t>umesc</a:t>
            </a:r>
            <a:r>
              <a:rPr lang="en-US" dirty="0">
                <a:solidFill>
                  <a:schemeClr val="bg1"/>
                </a:solidFill>
              </a:rPr>
              <a:t>!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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0589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87C0"/>
      </a:accent1>
      <a:accent2>
        <a:srgbClr val="57687B"/>
      </a:accent2>
      <a:accent3>
        <a:srgbClr val="359CDB"/>
      </a:accent3>
      <a:accent4>
        <a:srgbClr val="F4AB17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12069</TotalTime>
  <Words>809</Words>
  <Application>Microsoft Office PowerPoint</Application>
  <PresentationFormat>Custom</PresentationFormat>
  <Paragraphs>211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Open Sans</vt:lpstr>
      <vt:lpstr>Wingdings</vt:lpstr>
      <vt:lpstr>Office Theme</vt:lpstr>
      <vt:lpstr>PowerPoint Presentation</vt:lpstr>
      <vt:lpstr>Cuprins</vt:lpstr>
      <vt:lpstr>Introducere</vt:lpstr>
      <vt:lpstr>Retinopatia diabetică și imaginile fundus</vt:lpstr>
      <vt:lpstr>Date utilizate și preprocesări</vt:lpstr>
      <vt:lpstr>Date utilizate</vt:lpstr>
      <vt:lpstr>Preprocesări și augmentări</vt:lpstr>
      <vt:lpstr>Schema bloc a sistemului</vt:lpstr>
      <vt:lpstr>Schema bloc a sistemului</vt:lpstr>
      <vt:lpstr>Arhitecturi utilizate</vt:lpstr>
      <vt:lpstr>Arhitectura principală pentru experimente</vt:lpstr>
      <vt:lpstr>PowerPoint Presentation</vt:lpstr>
      <vt:lpstr>Sistem final în două etape</vt:lpstr>
      <vt:lpstr>Sistem final în două etape</vt:lpstr>
      <vt:lpstr>Rezultate experimentale</vt:lpstr>
      <vt:lpstr>Experimente dataseturi</vt:lpstr>
      <vt:lpstr>Experimente dataseturi</vt:lpstr>
      <vt:lpstr>Model principal – etapa binara</vt:lpstr>
      <vt:lpstr>Model principal – etapa de clasificare</vt:lpstr>
      <vt:lpstr>Data leakage</vt:lpstr>
      <vt:lpstr>Concluzii și direcții viitoare</vt:lpstr>
      <vt:lpstr>Concluzii și direcții viitoare</vt:lpstr>
      <vt:lpstr>Mulțumesc! 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CAPM Efficient Frontier Curve for PowerPoint</dc:title>
  <dc:creator>Julian</dc:creator>
  <cp:lastModifiedBy>gregsoft16@outlook.com</cp:lastModifiedBy>
  <cp:revision>201</cp:revision>
  <dcterms:created xsi:type="dcterms:W3CDTF">2013-09-12T13:05:01Z</dcterms:created>
  <dcterms:modified xsi:type="dcterms:W3CDTF">2026-06-18T22:04:58Z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15a25aa-e944-415d-b7a7-40f6b9180b6b_Enabled">
    <vt:lpwstr>-1</vt:lpwstr>
  </property>
  <property fmtid="{D5CDD505-2E9C-101B-9397-08002B2CF9AE}" pid="3" name="MSIP_Label_a15a25aa-e944-415d-b7a7-40f6b9180b6b_SetDate">
    <vt:lpwstr>2026-06-16 08:01:32Z</vt:lpwstr>
  </property>
  <property fmtid="{D5CDD505-2E9C-101B-9397-08002B2CF9AE}" pid="4" name="MSIP_Label_a15a25aa-e944-415d-b7a7-40f6b9180b6b_Method">
    <vt:lpwstr>Privileged</vt:lpwstr>
  </property>
  <property fmtid="{D5CDD505-2E9C-101B-9397-08002B2CF9AE}" pid="5" name="MSIP_Label_a15a25aa-e944-415d-b7a7-40f6b9180b6b_Name">
    <vt:lpwstr>a15a25aa-e944-415d-b7a7-40f6b9180b6b</vt:lpwstr>
  </property>
  <property fmtid="{D5CDD505-2E9C-101B-9397-08002B2CF9AE}" pid="6" name="MSIP_Label_a15a25aa-e944-415d-b7a7-40f6b9180b6b_SiteId">
    <vt:lpwstr>eeb8d0e8-3544-41d3-aac6-934c309faf5a</vt:lpwstr>
  </property>
  <property fmtid="{D5CDD505-2E9C-101B-9397-08002B2CF9AE}" pid="7" name="MSIP_Label_a15a25aa-e944-415d-b7a7-40f6b9180b6b_ActionId">
    <vt:lpwstr>ed21dfd4-d345-446b-9a0e-07a5b533aba4</vt:lpwstr>
  </property>
  <property fmtid="{D5CDD505-2E9C-101B-9397-08002B2CF9AE}" pid="8" name="MSIP_Label_a15a25aa-e944-415d-b7a7-40f6b9180b6b_ContentBits">
    <vt:lpwstr>0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2026-06-16T08:01:32Z</vt:filetime>
  </property>
  <property fmtid="{D5CDD505-2E9C-101B-9397-08002B2CF9AE}" pid="15" name="empower.integration.Classification.DateFormat">
    <vt:lpwstr/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false</vt:bool>
  </property>
</Properties>
</file>