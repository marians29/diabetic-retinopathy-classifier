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1" r:id="rId2"/>
    <p:sldId id="278" r:id="rId3"/>
    <p:sldId id="297" r:id="rId4"/>
    <p:sldId id="322" r:id="rId5"/>
    <p:sldId id="300" r:id="rId6"/>
    <p:sldId id="302" r:id="rId7"/>
    <p:sldId id="323" r:id="rId8"/>
    <p:sldId id="299" r:id="rId9"/>
    <p:sldId id="324" r:id="rId10"/>
    <p:sldId id="304" r:id="rId11"/>
    <p:sldId id="325" r:id="rId12"/>
    <p:sldId id="334" r:id="rId13"/>
    <p:sldId id="335" r:id="rId14"/>
    <p:sldId id="330" r:id="rId15"/>
    <p:sldId id="306" r:id="rId16"/>
    <p:sldId id="327" r:id="rId17"/>
    <p:sldId id="308" r:id="rId18"/>
    <p:sldId id="329" r:id="rId19"/>
    <p:sldId id="336" r:id="rId20"/>
    <p:sldId id="331" r:id="rId21"/>
    <p:sldId id="338" r:id="rId22"/>
    <p:sldId id="301" r:id="rId23"/>
    <p:sldId id="310" r:id="rId24"/>
    <p:sldId id="333" r:id="rId25"/>
    <p:sldId id="318" r:id="rId2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egsoft16@outlook.com" initials="g" lastIdx="19" clrIdx="0">
    <p:extLst>
      <p:ext uri="{19B8F6BF-5375-455C-9EA6-DF929625EA0E}">
        <p15:presenceInfo xmlns:p15="http://schemas.microsoft.com/office/powerpoint/2012/main" userId="06488fe1f43fc1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54"/>
    <a:srgbClr val="009644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>
      <p:cViewPr varScale="1">
        <p:scale>
          <a:sx n="107" d="100"/>
          <a:sy n="107" d="100"/>
        </p:scale>
        <p:origin x="696" y="13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36:31.111" idx="4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3:30.600" idx="5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3:35.608" idx="6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3:40.204" idx="7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3:50.538" idx="8">
    <p:pos x="10" y="10"/>
    <p:text>Aproape 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3:57.240" idx="9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4:12.071" idx="11">
    <p:pos x="10" y="10"/>
    <p:text>Aproape 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4:03.403" idx="10">
    <p:pos x="10" y="10"/>
    <p:text>Aproape 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4:18.948" idx="12">
    <p:pos x="10" y="10"/>
    <p:text>Aproape 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4:18.948" idx="17">
    <p:pos x="10" y="10"/>
    <p:text>Aproape 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6:01.536" idx="16">
    <p:pos x="10" y="10"/>
    <p:text>Nefacut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6:01.536" idx="19">
    <p:pos x="10" y="10"/>
    <p:text>Nefacut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5:57.065" idx="15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8:45:51.877" idx="14">
    <p:pos x="10" y="10"/>
    <p:text>Facut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737B-28AB-39B5-E422-9D28209D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1EC08-73B3-B236-E910-927D80542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2EB20-A6AB-374A-B145-DE1883D95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https://pixabay.com/en/seminar-lecture-study-student-2654142/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93B3E-690A-FDFE-124F-B1BDE3911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42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E2C7-ABAA-E48F-F47F-D074D814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063A1-93AA-0138-F293-BA5DBAA04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DBDD2-E3C0-F277-9E51-FFDE46FB0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https://pixabay.com/en/books-science-shelf-library-book-408220/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382EE-05C8-528B-B2B4-69BA9DC8B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8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3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5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5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90D8B8-307A-4993-9315-0D6ADDAA6CEB}"/>
              </a:ext>
            </a:extLst>
          </p:cNvPr>
          <p:cNvCxnSpPr/>
          <p:nvPr userDrawn="1"/>
        </p:nvCxnSpPr>
        <p:spPr>
          <a:xfrm>
            <a:off x="609441" y="6448926"/>
            <a:ext cx="10969943" cy="0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49A4D36-ACE7-46EE-977E-260D55BF45D2}"/>
              </a:ext>
            </a:extLst>
          </p:cNvPr>
          <p:cNvSpPr/>
          <p:nvPr userDrawn="1"/>
        </p:nvSpPr>
        <p:spPr>
          <a:xfrm>
            <a:off x="5917950" y="6272463"/>
            <a:ext cx="352925" cy="35292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36203" y="6244059"/>
            <a:ext cx="516420" cy="385017"/>
          </a:xfr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3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1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4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3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2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0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1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1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3" r:id="rId8"/>
    <p:sldLayoutId id="2147483662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comments" Target="../comments/comment1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comments" Target="../comments/comment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pmc.ncbi.nlm.nih.gov/articles/PMC10219065/" TargetMode="Externa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6E8E-2183-93F5-E615-A9226298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217544-110E-6EF6-BDDB-4733C10041FB}"/>
              </a:ext>
            </a:extLst>
          </p:cNvPr>
          <p:cNvSpPr/>
          <p:nvPr/>
        </p:nvSpPr>
        <p:spPr>
          <a:xfrm>
            <a:off x="1" y="0"/>
            <a:ext cx="12188825" cy="6858000"/>
          </a:xfrm>
          <a:prstGeom prst="rect">
            <a:avLst/>
          </a:prstGeom>
          <a:solidFill>
            <a:schemeClr val="accent2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53BA5B-66E5-86E9-4947-C943BE623CD0}"/>
              </a:ext>
            </a:extLst>
          </p:cNvPr>
          <p:cNvSpPr/>
          <p:nvPr/>
        </p:nvSpPr>
        <p:spPr>
          <a:xfrm>
            <a:off x="11413" y="-16706"/>
            <a:ext cx="12188825" cy="1307995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6A48E-5CD5-D43B-2C70-050298EA9266}"/>
              </a:ext>
            </a:extLst>
          </p:cNvPr>
          <p:cNvSpPr txBox="1"/>
          <p:nvPr/>
        </p:nvSpPr>
        <p:spPr>
          <a:xfrm>
            <a:off x="-121146" y="1897303"/>
            <a:ext cx="124311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Student: Stancovici Marian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4888F-7DD9-F4B7-D55C-A7F1BD2FB545}"/>
              </a:ext>
            </a:extLst>
          </p:cNvPr>
          <p:cNvSpPr txBox="1"/>
          <p:nvPr/>
        </p:nvSpPr>
        <p:spPr>
          <a:xfrm>
            <a:off x="-117884" y="2569443"/>
            <a:ext cx="12431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Coordonator</a:t>
            </a: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Conf. dr. ing. Laura Maria Florea</a:t>
            </a:r>
            <a:endParaRPr lang="ro-RO" sz="2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DEB-49F7-FFA0-7FCC-72CA9FCD3D31}"/>
              </a:ext>
            </a:extLst>
          </p:cNvPr>
          <p:cNvSpPr txBox="1"/>
          <p:nvPr/>
        </p:nvSpPr>
        <p:spPr>
          <a:xfrm>
            <a:off x="-121146" y="4927867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Facultatea de Electronică, Telecomunicații și Tehnologia Informației</a:t>
            </a:r>
            <a:endParaRPr lang="en-IN" sz="1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12BCD-A998-4A0B-4966-5AF9F89B5C9F}"/>
              </a:ext>
            </a:extLst>
          </p:cNvPr>
          <p:cNvSpPr txBox="1"/>
          <p:nvPr/>
        </p:nvSpPr>
        <p:spPr>
          <a:xfrm>
            <a:off x="-109733" y="5658818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Iunie</a:t>
            </a:r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</a:t>
            </a:r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F8191B-BE35-C118-8185-C56496657098}"/>
              </a:ext>
            </a:extLst>
          </p:cNvPr>
          <p:cNvSpPr txBox="1"/>
          <p:nvPr/>
        </p:nvSpPr>
        <p:spPr>
          <a:xfrm>
            <a:off x="90542" y="87050"/>
            <a:ext cx="12431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Analiza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imaginilor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cu fund de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ochi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pentru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ajutor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în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ctr"/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diagnosticul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retinopatiei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diabetice</a:t>
            </a:r>
            <a:endParaRPr lang="en-IN" sz="30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8" name="Picture 4" descr="Departamentul de Telecomunicatii | Site-ul Departamentului ...">
            <a:extLst>
              <a:ext uri="{FF2B5EF4-FFF2-40B4-BE49-F238E27FC236}">
                <a16:creationId xmlns:a16="http://schemas.microsoft.com/office/drawing/2014/main" id="{1C767D0D-81D6-A774-5E25-158B3837D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733" y="5151643"/>
            <a:ext cx="1788789" cy="17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538C8-345B-21EE-CC02-7D0B6F70B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695" y="5333196"/>
            <a:ext cx="1903283" cy="154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7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EAC1-3BD2-9A4B-362B-C296498F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0377DD-8F04-13AB-8D7B-8988D46D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Cuprins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45E411-CF9B-62EB-23D0-4DDF84A42BE4}"/>
              </a:ext>
            </a:extLst>
          </p:cNvPr>
          <p:cNvSpPr/>
          <p:nvPr/>
        </p:nvSpPr>
        <p:spPr>
          <a:xfrm>
            <a:off x="1135186" y="1665203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C07CDA-5A9E-E5B7-F54B-8A5DC33E053B}"/>
              </a:ext>
            </a:extLst>
          </p:cNvPr>
          <p:cNvSpPr/>
          <p:nvPr/>
        </p:nvSpPr>
        <p:spPr>
          <a:xfrm>
            <a:off x="1135186" y="2236205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DC3490-B013-93DE-FA5A-19DD00754603}"/>
              </a:ext>
            </a:extLst>
          </p:cNvPr>
          <p:cNvSpPr/>
          <p:nvPr/>
        </p:nvSpPr>
        <p:spPr>
          <a:xfrm>
            <a:off x="1135186" y="2807207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6B87C6-C3A7-ABCD-53C2-4203631B94E3}"/>
              </a:ext>
            </a:extLst>
          </p:cNvPr>
          <p:cNvSpPr/>
          <p:nvPr/>
        </p:nvSpPr>
        <p:spPr>
          <a:xfrm>
            <a:off x="1135186" y="3378209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76ADB9-C204-6773-46A3-769D274131F8}"/>
              </a:ext>
            </a:extLst>
          </p:cNvPr>
          <p:cNvSpPr/>
          <p:nvPr/>
        </p:nvSpPr>
        <p:spPr>
          <a:xfrm>
            <a:off x="1135186" y="3949211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8317D-3C74-05BB-3A5C-96F9F26B232C}"/>
              </a:ext>
            </a:extLst>
          </p:cNvPr>
          <p:cNvSpPr/>
          <p:nvPr/>
        </p:nvSpPr>
        <p:spPr>
          <a:xfrm>
            <a:off x="1135186" y="4520213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6E92A1-E378-5056-0404-8E74FD3B8007}"/>
              </a:ext>
            </a:extLst>
          </p:cNvPr>
          <p:cNvSpPr/>
          <p:nvPr/>
        </p:nvSpPr>
        <p:spPr>
          <a:xfrm>
            <a:off x="1485900" y="1556792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Motivație și obiective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A959C4-4841-7DAC-6E7D-206B31FB93FC}"/>
              </a:ext>
            </a:extLst>
          </p:cNvPr>
          <p:cNvCxnSpPr>
            <a:cxnSpLocks/>
          </p:cNvCxnSpPr>
          <p:nvPr/>
        </p:nvCxnSpPr>
        <p:spPr>
          <a:xfrm>
            <a:off x="1101010" y="195690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05D626C-B72B-AB5A-0EE3-56D2E09397AC}"/>
              </a:ext>
            </a:extLst>
          </p:cNvPr>
          <p:cNvSpPr/>
          <p:nvPr/>
        </p:nvSpPr>
        <p:spPr>
          <a:xfrm>
            <a:off x="1485900" y="2135912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Introducere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2E85C-30F2-EABB-2209-F40B3F5C030E}"/>
              </a:ext>
            </a:extLst>
          </p:cNvPr>
          <p:cNvCxnSpPr>
            <a:cxnSpLocks/>
          </p:cNvCxnSpPr>
          <p:nvPr/>
        </p:nvCxnSpPr>
        <p:spPr>
          <a:xfrm>
            <a:off x="1101010" y="253602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CAD1EF9-B3E2-49B0-BB91-C87BB57C2BC7}"/>
              </a:ext>
            </a:extLst>
          </p:cNvPr>
          <p:cNvSpPr/>
          <p:nvPr/>
        </p:nvSpPr>
        <p:spPr>
          <a:xfrm>
            <a:off x="1485900" y="2715032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utilizate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și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preprocesare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9B76AF-15B0-E45A-44D5-234F5E175B55}"/>
              </a:ext>
            </a:extLst>
          </p:cNvPr>
          <p:cNvCxnSpPr>
            <a:cxnSpLocks/>
          </p:cNvCxnSpPr>
          <p:nvPr/>
        </p:nvCxnSpPr>
        <p:spPr>
          <a:xfrm>
            <a:off x="1101010" y="311514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9B5457-2DEB-C42C-1698-543FF2D4C51D}"/>
              </a:ext>
            </a:extLst>
          </p:cNvPr>
          <p:cNvSpPr/>
          <p:nvPr/>
        </p:nvSpPr>
        <p:spPr>
          <a:xfrm>
            <a:off x="1485900" y="3294152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Schema bloc a sistemului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0444004-9261-C670-EA93-94024D122122}"/>
              </a:ext>
            </a:extLst>
          </p:cNvPr>
          <p:cNvCxnSpPr>
            <a:cxnSpLocks/>
          </p:cNvCxnSpPr>
          <p:nvPr/>
        </p:nvCxnSpPr>
        <p:spPr>
          <a:xfrm>
            <a:off x="1101010" y="369426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9087EBD-8B5B-D84B-556C-F5CCA134C694}"/>
              </a:ext>
            </a:extLst>
          </p:cNvPr>
          <p:cNvSpPr/>
          <p:nvPr/>
        </p:nvSpPr>
        <p:spPr>
          <a:xfrm>
            <a:off x="1485900" y="3873272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Arhitecturi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utilizate</a:t>
            </a:r>
            <a:endParaRPr lang="ro-RO" sz="18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1C0E94-5A5A-69C2-B8EB-7654B1ED5E6F}"/>
              </a:ext>
            </a:extLst>
          </p:cNvPr>
          <p:cNvCxnSpPr>
            <a:cxnSpLocks/>
          </p:cNvCxnSpPr>
          <p:nvPr/>
        </p:nvCxnSpPr>
        <p:spPr>
          <a:xfrm>
            <a:off x="1101010" y="427338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7877F61-A681-9678-7022-B388021C070E}"/>
              </a:ext>
            </a:extLst>
          </p:cNvPr>
          <p:cNvSpPr/>
          <p:nvPr/>
        </p:nvSpPr>
        <p:spPr>
          <a:xfrm>
            <a:off x="1485900" y="4437152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final în două etape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8BE8CF-BEE7-C9A8-B1B1-EF6E83C8C2D4}"/>
              </a:ext>
            </a:extLst>
          </p:cNvPr>
          <p:cNvCxnSpPr>
            <a:cxnSpLocks/>
          </p:cNvCxnSpPr>
          <p:nvPr/>
        </p:nvCxnSpPr>
        <p:spPr>
          <a:xfrm>
            <a:off x="1101010" y="4837262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B5BB30D-527E-C0C4-66C7-951274019E52}"/>
              </a:ext>
            </a:extLst>
          </p:cNvPr>
          <p:cNvSpPr/>
          <p:nvPr/>
        </p:nvSpPr>
        <p:spPr>
          <a:xfrm>
            <a:off x="10660769" y="155679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C90BF3-10F2-A92B-5380-8B8D909565FD}"/>
              </a:ext>
            </a:extLst>
          </p:cNvPr>
          <p:cNvSpPr/>
          <p:nvPr/>
        </p:nvSpPr>
        <p:spPr>
          <a:xfrm>
            <a:off x="10660769" y="213591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BA57680-413D-C841-3151-30EFB8668EB4}"/>
              </a:ext>
            </a:extLst>
          </p:cNvPr>
          <p:cNvSpPr/>
          <p:nvPr/>
        </p:nvSpPr>
        <p:spPr>
          <a:xfrm>
            <a:off x="10660769" y="271503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F4AB7D-5B40-BDAD-77F4-2FA0D5FE6827}"/>
              </a:ext>
            </a:extLst>
          </p:cNvPr>
          <p:cNvSpPr/>
          <p:nvPr/>
        </p:nvSpPr>
        <p:spPr>
          <a:xfrm>
            <a:off x="10660769" y="329415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6C001BA-858B-CE68-AB91-EF7551C3C7E0}"/>
              </a:ext>
            </a:extLst>
          </p:cNvPr>
          <p:cNvSpPr/>
          <p:nvPr/>
        </p:nvSpPr>
        <p:spPr>
          <a:xfrm>
            <a:off x="10660769" y="387327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F29B2F-0FE5-A47F-AADA-B7BA8471532A}"/>
              </a:ext>
            </a:extLst>
          </p:cNvPr>
          <p:cNvSpPr/>
          <p:nvPr/>
        </p:nvSpPr>
        <p:spPr>
          <a:xfrm>
            <a:off x="10660769" y="4437152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33E4B-8389-C6AC-2CD9-1DDFDC98F19C}"/>
              </a:ext>
            </a:extLst>
          </p:cNvPr>
          <p:cNvSpPr/>
          <p:nvPr/>
        </p:nvSpPr>
        <p:spPr>
          <a:xfrm>
            <a:off x="1135186" y="5084092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EB837-DFE8-F9DB-BC0B-A8B436636006}"/>
              </a:ext>
            </a:extLst>
          </p:cNvPr>
          <p:cNvSpPr/>
          <p:nvPr/>
        </p:nvSpPr>
        <p:spPr>
          <a:xfrm>
            <a:off x="1485900" y="5001031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 experimentale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888AD-D828-E3BA-C941-27AEED8A4EC5}"/>
              </a:ext>
            </a:extLst>
          </p:cNvPr>
          <p:cNvCxnSpPr>
            <a:cxnSpLocks/>
          </p:cNvCxnSpPr>
          <p:nvPr/>
        </p:nvCxnSpPr>
        <p:spPr>
          <a:xfrm>
            <a:off x="1101010" y="5401141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CD367-685E-BCBF-03E7-A26E3648DBF0}"/>
              </a:ext>
            </a:extLst>
          </p:cNvPr>
          <p:cNvSpPr/>
          <p:nvPr/>
        </p:nvSpPr>
        <p:spPr>
          <a:xfrm>
            <a:off x="10660769" y="5001031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endParaRPr lang="en-IN" sz="2000" b="1" dirty="0">
              <a:solidFill>
                <a:srgbClr val="007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74D04-ACF8-D3E0-4EC6-9B2ADDB62C52}"/>
              </a:ext>
            </a:extLst>
          </p:cNvPr>
          <p:cNvSpPr/>
          <p:nvPr/>
        </p:nvSpPr>
        <p:spPr>
          <a:xfrm>
            <a:off x="1155810" y="5587740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A1ACFA-CF40-A2C7-8FE2-CF89EE2B2455}"/>
              </a:ext>
            </a:extLst>
          </p:cNvPr>
          <p:cNvSpPr/>
          <p:nvPr/>
        </p:nvSpPr>
        <p:spPr>
          <a:xfrm>
            <a:off x="1506524" y="5504679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 și direcții viitoare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C582A7-C515-8AFF-A958-4B1464E217EC}"/>
              </a:ext>
            </a:extLst>
          </p:cNvPr>
          <p:cNvCxnSpPr>
            <a:cxnSpLocks/>
          </p:cNvCxnSpPr>
          <p:nvPr/>
        </p:nvCxnSpPr>
        <p:spPr>
          <a:xfrm>
            <a:off x="1121634" y="5904789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2EFA23-3FBA-0302-3459-32FCA254F6EE}"/>
              </a:ext>
            </a:extLst>
          </p:cNvPr>
          <p:cNvSpPr/>
          <p:nvPr/>
        </p:nvSpPr>
        <p:spPr>
          <a:xfrm>
            <a:off x="10681393" y="5504679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755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6783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B843-6A9D-7E51-54D0-B570A2E5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17ED9D-CDCD-1752-7F2A-13C374623EB2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AE7F2-D39E-54D6-8ED5-3C785BCC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Motivație și obiective</a:t>
            </a:r>
          </a:p>
        </p:txBody>
      </p:sp>
    </p:spTree>
    <p:extLst>
      <p:ext uri="{BB962C8B-B14F-4D97-AF65-F5344CB8AC3E}">
        <p14:creationId xmlns:p14="http://schemas.microsoft.com/office/powerpoint/2010/main" val="13986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12E4D1-256F-C738-1B1B-2BCB1457FB37}"/>
              </a:ext>
            </a:extLst>
          </p:cNvPr>
          <p:cNvSpPr/>
          <p:nvPr/>
        </p:nvSpPr>
        <p:spPr>
          <a:xfrm>
            <a:off x="-1" y="893"/>
            <a:ext cx="12188825" cy="736408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0F7E4-279E-EEED-CC22-70C804DD6D22}"/>
              </a:ext>
            </a:extLst>
          </p:cNvPr>
          <p:cNvSpPr txBox="1"/>
          <p:nvPr/>
        </p:nvSpPr>
        <p:spPr>
          <a:xfrm>
            <a:off x="533261" y="191343"/>
            <a:ext cx="9649486" cy="29231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99" b="1" dirty="0" err="1">
                <a:solidFill>
                  <a:srgbClr val="FFFFFF"/>
                </a:solidFill>
                <a:latin typeface="Arial" panose="020B0604020202020204" pitchFamily="34" charset="0"/>
              </a:rPr>
              <a:t>Motivație</a:t>
            </a:r>
            <a:r>
              <a:rPr lang="en-US" sz="1899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1899" b="1" dirty="0" err="1">
                <a:solidFill>
                  <a:srgbClr val="FFFFFF"/>
                </a:solidFill>
                <a:latin typeface="Arial" panose="020B0604020202020204" pitchFamily="34" charset="0"/>
              </a:rPr>
              <a:t>și</a:t>
            </a:r>
            <a:r>
              <a:rPr lang="en-US" sz="1899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1899" b="1" dirty="0" err="1">
                <a:solidFill>
                  <a:srgbClr val="FFFFFF"/>
                </a:solidFill>
                <a:latin typeface="Arial" panose="020B0604020202020204" pitchFamily="34" charset="0"/>
              </a:rPr>
              <a:t>obiective</a:t>
            </a:r>
            <a:endParaRPr lang="en-US" sz="1899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9DC96-5B06-775A-4DF4-9C8744DBDD7F}"/>
              </a:ext>
            </a:extLst>
          </p:cNvPr>
          <p:cNvSpPr txBox="1"/>
          <p:nvPr/>
        </p:nvSpPr>
        <p:spPr>
          <a:xfrm>
            <a:off x="11147696" y="178647"/>
            <a:ext cx="533261" cy="2615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99" b="1" dirty="0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3A548-78F6-DE6A-23E3-833E0EE968B9}"/>
              </a:ext>
            </a:extLst>
          </p:cNvPr>
          <p:cNvSpPr/>
          <p:nvPr/>
        </p:nvSpPr>
        <p:spPr>
          <a:xfrm>
            <a:off x="507867" y="915055"/>
            <a:ext cx="914162" cy="63483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D847A6-FFDE-9E55-AD39-7A035F359536}"/>
              </a:ext>
            </a:extLst>
          </p:cNvPr>
          <p:cNvSpPr/>
          <p:nvPr/>
        </p:nvSpPr>
        <p:spPr>
          <a:xfrm>
            <a:off x="533261" y="1353090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CE50F-EA34-00B2-C8CA-45871396E36A}"/>
              </a:ext>
            </a:extLst>
          </p:cNvPr>
          <p:cNvSpPr txBox="1"/>
          <p:nvPr/>
        </p:nvSpPr>
        <p:spPr>
          <a:xfrm>
            <a:off x="1206184" y="1558285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Motivație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8B20E-F629-E885-6BA2-EB0633D48062}"/>
              </a:ext>
            </a:extLst>
          </p:cNvPr>
          <p:cNvSpPr txBox="1"/>
          <p:nvPr/>
        </p:nvSpPr>
        <p:spPr>
          <a:xfrm>
            <a:off x="1066522" y="2235511"/>
            <a:ext cx="408833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Depistarea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timpurie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a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retinopatiei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diabetice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89EB74-F723-C0C1-E756-F3565E4D7188}"/>
              </a:ext>
            </a:extLst>
          </p:cNvPr>
          <p:cNvSpPr txBox="1"/>
          <p:nvPr/>
        </p:nvSpPr>
        <p:spPr>
          <a:xfrm>
            <a:off x="1066522" y="2921133"/>
            <a:ext cx="408833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Timp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redus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pentru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screening-ul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oftalmologic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DE9E7-8C94-F792-D480-A9412C4A8CCA}"/>
              </a:ext>
            </a:extLst>
          </p:cNvPr>
          <p:cNvSpPr txBox="1"/>
          <p:nvPr/>
        </p:nvSpPr>
        <p:spPr>
          <a:xfrm>
            <a:off x="1066522" y="3606754"/>
            <a:ext cx="4088335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Costuri și resurse umane minimizate în spitale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D9A2CB-A0A9-044F-BCA8-EF0D3CE7E29E}"/>
              </a:ext>
            </a:extLst>
          </p:cNvPr>
          <p:cNvSpPr/>
          <p:nvPr/>
        </p:nvSpPr>
        <p:spPr>
          <a:xfrm>
            <a:off x="6526100" y="1321349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8206A5-EEA2-8693-D66B-7873DAA8E7DA}"/>
              </a:ext>
            </a:extLst>
          </p:cNvPr>
          <p:cNvSpPr txBox="1"/>
          <p:nvPr/>
        </p:nvSpPr>
        <p:spPr>
          <a:xfrm>
            <a:off x="6933504" y="1510584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Obiective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BD2740-FD1E-091A-C97B-9FB252CA33B5}"/>
              </a:ext>
            </a:extLst>
          </p:cNvPr>
          <p:cNvSpPr txBox="1"/>
          <p:nvPr/>
        </p:nvSpPr>
        <p:spPr>
          <a:xfrm>
            <a:off x="7186328" y="2806117"/>
            <a:ext cx="3783614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Clasificarea automată în 2 pași (Detecție binară + Evaluare stadii 1-4)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50CCD8-187F-15F1-E721-97689F7EFC9B}"/>
              </a:ext>
            </a:extLst>
          </p:cNvPr>
          <p:cNvSpPr txBox="1"/>
          <p:nvPr/>
        </p:nvSpPr>
        <p:spPr>
          <a:xfrm>
            <a:off x="7186328" y="2169772"/>
            <a:ext cx="3783614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Analizarea</a:t>
            </a:r>
            <a:r>
              <a:rPr lang="es-E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și compararea seturilor de date disponibile 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5388-D24F-53BE-693C-930BE32581A5}"/>
              </a:ext>
            </a:extLst>
          </p:cNvPr>
          <p:cNvSpPr txBox="1"/>
          <p:nvPr/>
        </p:nvSpPr>
        <p:spPr>
          <a:xfrm>
            <a:off x="7186328" y="3429000"/>
            <a:ext cx="3783614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Echilibrarea setului de date prin augment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ă</a:t>
            </a:r>
            <a:r>
              <a:rPr lang="it-IT" sz="1600" dirty="0">
                <a:solidFill>
                  <a:srgbClr val="263034"/>
                </a:solidFill>
                <a:latin typeface="Arial" panose="020B0604020202020204" pitchFamily="34" charset="0"/>
              </a:rPr>
              <a:t>r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i</a:t>
            </a:r>
            <a:endParaRPr lang="it-IT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F3472-6C35-2C5B-119B-3194D37EB678}"/>
              </a:ext>
            </a:extLst>
          </p:cNvPr>
          <p:cNvSpPr txBox="1"/>
          <p:nvPr/>
        </p:nvSpPr>
        <p:spPr>
          <a:xfrm>
            <a:off x="7191418" y="4030688"/>
            <a:ext cx="3783614" cy="492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Integrarea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modelelor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într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-o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aplicație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web de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inferență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CFC28-7AE5-B2DA-D5DB-5222A922289A}"/>
              </a:ext>
            </a:extLst>
          </p:cNvPr>
          <p:cNvSpPr txBox="1"/>
          <p:nvPr/>
        </p:nvSpPr>
        <p:spPr>
          <a:xfrm>
            <a:off x="1066521" y="4292247"/>
            <a:ext cx="408833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263034"/>
                </a:solidFill>
                <a:latin typeface="Arial" panose="020B0604020202020204" pitchFamily="34" charset="0"/>
              </a:rPr>
              <a:t>Asistarea personalului specializat unde volumul de munc</a:t>
            </a:r>
            <a:r>
              <a:rPr lang="ro-RO" sz="1600" dirty="0">
                <a:solidFill>
                  <a:srgbClr val="263034"/>
                </a:solidFill>
                <a:latin typeface="Arial" panose="020B0604020202020204" pitchFamily="34" charset="0"/>
              </a:rPr>
              <a:t>ă este prea ridicat</a:t>
            </a:r>
            <a:endParaRPr lang="it-IT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61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rgbClr val="00755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Introducere</a:t>
            </a:r>
          </a:p>
        </p:txBody>
      </p:sp>
    </p:spTree>
    <p:extLst>
      <p:ext uri="{BB962C8B-B14F-4D97-AF65-F5344CB8AC3E}">
        <p14:creationId xmlns:p14="http://schemas.microsoft.com/office/powerpoint/2010/main" val="318397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Retinopatia</a:t>
            </a:r>
            <a:r>
              <a:rPr lang="en-US" dirty="0">
                <a:solidFill>
                  <a:schemeClr val="bg1"/>
                </a:solidFill>
              </a:rPr>
              <a:t> diabetic</a:t>
            </a:r>
            <a:r>
              <a:rPr lang="ro-RO" dirty="0">
                <a:solidFill>
                  <a:schemeClr val="bg1"/>
                </a:solidFill>
              </a:rPr>
              <a:t>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ș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imaginile</a:t>
            </a:r>
            <a:r>
              <a:rPr lang="en-US" dirty="0">
                <a:solidFill>
                  <a:schemeClr val="bg1"/>
                </a:solidFill>
              </a:rPr>
              <a:t> fundus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333772" y="70922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80FC1-AC16-D5D5-8E38-2DC00970B51C}"/>
              </a:ext>
            </a:extLst>
          </p:cNvPr>
          <p:cNvSpPr txBox="1"/>
          <p:nvPr/>
        </p:nvSpPr>
        <p:spPr>
          <a:xfrm>
            <a:off x="380766" y="1416082"/>
            <a:ext cx="52815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o-R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Complicație oculară apărută la pacienții cu diabet zaharat (din cauza nivelului ridicat de glicemie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Prezintă 4 stadii evolutive de boală: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Ușoară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Moderată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Severă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Proliferativă</a:t>
            </a:r>
          </a:p>
          <a:p>
            <a:pPr lvl="1">
              <a:spcAft>
                <a:spcPts val="600"/>
              </a:spcAft>
            </a:pP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caracterizează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vizual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Microanevrisme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Hemoragii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intraretiniene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Exsudate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dure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moi </a:t>
            </a: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Neovascularizație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A3FEC-8CA8-2DA2-1CB4-D36E463CB0CB}"/>
              </a:ext>
            </a:extLst>
          </p:cNvPr>
          <p:cNvSpPr/>
          <p:nvPr/>
        </p:nvSpPr>
        <p:spPr>
          <a:xfrm>
            <a:off x="7174532" y="6021288"/>
            <a:ext cx="792088" cy="799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507AC0-C110-DCB6-973D-58A2D88F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220" y="2133850"/>
            <a:ext cx="7082767" cy="4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7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31F2-48D5-4115-B334-27EDD540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CD0C98-F1BA-B8BD-EFB4-629302FD8B6A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rgbClr val="00755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46DCA-5750-6300-1171-892E10B2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dirty="0">
                <a:solidFill>
                  <a:schemeClr val="bg1"/>
                </a:solidFill>
              </a:rPr>
              <a:t>Date utilizate și preprocesări</a:t>
            </a:r>
            <a:endParaRPr lang="ro-R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12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0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-36005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Date utilizate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1B25D-DFE8-0E70-7C30-9F905EA292BE}"/>
              </a:ext>
            </a:extLst>
          </p:cNvPr>
          <p:cNvSpPr txBox="1"/>
          <p:nvPr/>
        </p:nvSpPr>
        <p:spPr>
          <a:xfrm>
            <a:off x="237274" y="1141767"/>
            <a:ext cx="5281598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Seturi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date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analizate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o-R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EyePACS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88700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total</a:t>
            </a: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Mare,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zgomot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principal</a:t>
            </a:r>
          </a:p>
          <a:p>
            <a:pPr lvl="2">
              <a:spcAft>
                <a:spcPts val="600"/>
              </a:spcAft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APTOS</a:t>
            </a: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2930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antrenare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testate</a:t>
            </a: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Aft>
                <a:spcPts val="600"/>
              </a:spcAft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393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 Retinopathy (resized)</a:t>
            </a:r>
          </a:p>
          <a:p>
            <a:pPr marL="1561887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35126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51BC1-4BA2-845F-2906-B31826D30CD2}"/>
              </a:ext>
            </a:extLst>
          </p:cNvPr>
          <p:cNvSpPr txBox="1"/>
          <p:nvPr/>
        </p:nvSpPr>
        <p:spPr>
          <a:xfrm>
            <a:off x="8614692" y="1988840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20872-689C-5765-420C-44D4847C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954" y="859224"/>
            <a:ext cx="4942285" cy="2999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17E36F-D989-18EB-6E77-84604B918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540" y="3858612"/>
            <a:ext cx="4942285" cy="299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2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F62C-FF5F-D694-CB50-61F808FC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17FB9E-04D6-8B52-29B0-2817C6804732}"/>
              </a:ext>
            </a:extLst>
          </p:cNvPr>
          <p:cNvSpPr/>
          <p:nvPr/>
        </p:nvSpPr>
        <p:spPr>
          <a:xfrm>
            <a:off x="0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742C0-AE2B-4C2C-81C0-CEF9367F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-36005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Preprocesări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și augmentări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7808FE-C51E-EA52-2D4B-194F9BBEDB48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A6FDB-19F6-CD60-1581-A2CB91160522}"/>
              </a:ext>
            </a:extLst>
          </p:cNvPr>
          <p:cNvSpPr txBox="1"/>
          <p:nvPr/>
        </p:nvSpPr>
        <p:spPr>
          <a:xfrm>
            <a:off x="255615" y="913693"/>
            <a:ext cx="62102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Corec</a:t>
            </a:r>
            <a:r>
              <a:rPr lang="ro-RO" sz="1600" dirty="0"/>
              <a:t>ția ben-graham (</a:t>
            </a:r>
            <a:r>
              <a:rPr lang="en-US" sz="1600" dirty="0" err="1"/>
              <a:t>Uniformizarea</a:t>
            </a:r>
            <a:r>
              <a:rPr lang="en-US" sz="1600" dirty="0"/>
              <a:t> </a:t>
            </a:r>
            <a:r>
              <a:rPr lang="en-US" sz="1600" dirty="0" err="1"/>
              <a:t>iluminării</a:t>
            </a:r>
            <a:r>
              <a:rPr lang="ro-RO" sz="1600" dirty="0"/>
              <a:t>)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Imagine = </a:t>
            </a:r>
            <a:r>
              <a:rPr lang="en-US" sz="1600" dirty="0"/>
              <a:t>original * 4 - blur * 4 + 128</a:t>
            </a:r>
          </a:p>
          <a:p>
            <a:pPr lvl="1"/>
            <a:endParaRPr lang="ro-RO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Experimente</a:t>
            </a:r>
            <a:r>
              <a:rPr lang="en-US" sz="1600" dirty="0"/>
              <a:t>: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Augmentari</a:t>
            </a:r>
            <a:r>
              <a:rPr lang="en-US" sz="1600" dirty="0"/>
              <a:t> successive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echilibrarea</a:t>
            </a:r>
            <a:r>
              <a:rPr lang="en-US" sz="1600" dirty="0"/>
              <a:t> </a:t>
            </a:r>
            <a:r>
              <a:rPr lang="en-US" sz="1600" dirty="0" err="1"/>
              <a:t>claselor</a:t>
            </a:r>
            <a:endParaRPr lang="en-US" sz="1600" dirty="0"/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Flip, Affine, Blur, Color-jitter, </a:t>
            </a:r>
            <a:r>
              <a:rPr lang="en-US" sz="1600" dirty="0" err="1"/>
              <a:t>Zgomot</a:t>
            </a:r>
            <a:r>
              <a:rPr lang="en-US" sz="1600" dirty="0"/>
              <a:t> gaussian)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Augmentari in timpul antrenării</a:t>
            </a:r>
            <a:r>
              <a:rPr lang="en-US" sz="1600" dirty="0"/>
              <a:t> </a:t>
            </a:r>
            <a:endParaRPr lang="ro-RO" sz="1600" dirty="0"/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(Flip-</a:t>
            </a:r>
            <a:r>
              <a:rPr lang="en-US" sz="1600" dirty="0" err="1"/>
              <a:t>uri</a:t>
            </a:r>
            <a:r>
              <a:rPr lang="en-US" sz="1600" dirty="0"/>
              <a:t>, </a:t>
            </a:r>
            <a:r>
              <a:rPr lang="en-US" sz="1600" dirty="0" err="1"/>
              <a:t>Rotatii</a:t>
            </a:r>
            <a:r>
              <a:rPr lang="en-US" sz="1600" dirty="0"/>
              <a:t>, Color-jitter)</a:t>
            </a:r>
          </a:p>
          <a:p>
            <a:pPr lvl="1"/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Model principal:</a:t>
            </a:r>
            <a:endParaRPr lang="ro-RO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Augmentări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echilibrarea</a:t>
            </a:r>
            <a:r>
              <a:rPr lang="en-US" sz="1600" dirty="0"/>
              <a:t> </a:t>
            </a:r>
            <a:r>
              <a:rPr lang="en-US" sz="1600" dirty="0" err="1"/>
              <a:t>claselor</a:t>
            </a:r>
            <a:r>
              <a:rPr lang="en-US" sz="1600" dirty="0"/>
              <a:t> 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(Flip </a:t>
            </a:r>
            <a:r>
              <a:rPr lang="en-US" sz="1600" dirty="0" err="1"/>
              <a:t>orizontal</a:t>
            </a:r>
            <a:r>
              <a:rPr lang="en-US" sz="1600" dirty="0"/>
              <a:t>, Flip vertical, Rota</a:t>
            </a:r>
            <a:r>
              <a:rPr lang="ro-RO" sz="1600" dirty="0"/>
              <a:t>ție</a:t>
            </a:r>
            <a:r>
              <a:rPr lang="en-US" sz="1600" dirty="0"/>
              <a:t>)</a:t>
            </a:r>
            <a:r>
              <a:rPr lang="ro-RO" sz="1600" dirty="0"/>
              <a:t> 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Augmentari in timpul antrenării</a:t>
            </a:r>
            <a:endParaRPr lang="en-US" sz="1600" dirty="0"/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(Flip-</a:t>
            </a:r>
            <a:r>
              <a:rPr lang="en-US" sz="1600" dirty="0" err="1"/>
              <a:t>uri</a:t>
            </a:r>
            <a:r>
              <a:rPr lang="en-US" sz="1600" dirty="0"/>
              <a:t>, </a:t>
            </a:r>
            <a:r>
              <a:rPr lang="en-US" sz="1600" dirty="0" err="1"/>
              <a:t>Rotatii</a:t>
            </a:r>
            <a:r>
              <a:rPr lang="en-US" sz="1600" dirty="0"/>
              <a:t>, Color-jitter)</a:t>
            </a:r>
          </a:p>
          <a:p>
            <a:endParaRPr lang="ro-RO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26AD87-A5FF-E936-38A2-4A8AAD2DD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713" y="1166303"/>
            <a:ext cx="2272680" cy="2272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387E41-A7DD-AE39-A7EE-32A716C34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182" y="1166303"/>
            <a:ext cx="2272680" cy="22726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F80061-A7BC-09FA-0F5F-7169CA450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93" y="4009290"/>
            <a:ext cx="2226962" cy="22269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C3F6E4-9439-FFD2-8F9E-EDB3F5A17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713" y="3963572"/>
            <a:ext cx="2272680" cy="22726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B10CA1-F147-9DEB-AD0F-6F92FCA62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4363" y="4794227"/>
            <a:ext cx="1830652" cy="18306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480483A-7BDF-B882-5410-7302DF12E6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99" y="4839118"/>
            <a:ext cx="1754480" cy="175448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C526EEB-C145-B36E-428A-12DC1B6162F2}"/>
              </a:ext>
            </a:extLst>
          </p:cNvPr>
          <p:cNvSpPr/>
          <p:nvPr/>
        </p:nvSpPr>
        <p:spPr>
          <a:xfrm rot="5400000" flipV="1">
            <a:off x="3704558" y="3805922"/>
            <a:ext cx="5682337" cy="55389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FF8414-1CF6-5EDF-8F66-A512C6FED5CB}"/>
              </a:ext>
            </a:extLst>
          </p:cNvPr>
          <p:cNvSpPr txBox="1"/>
          <p:nvPr/>
        </p:nvSpPr>
        <p:spPr>
          <a:xfrm>
            <a:off x="7141005" y="817982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Imagine </a:t>
            </a:r>
            <a:r>
              <a:rPr lang="en-US" sz="1800" dirty="0" err="1"/>
              <a:t>originala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1B79C0-1A89-EAF5-2841-7898A6D4D6BE}"/>
              </a:ext>
            </a:extLst>
          </p:cNvPr>
          <p:cNvSpPr txBox="1"/>
          <p:nvPr/>
        </p:nvSpPr>
        <p:spPr>
          <a:xfrm>
            <a:off x="9882474" y="848931"/>
            <a:ext cx="2009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Conversie</a:t>
            </a:r>
            <a:r>
              <a:rPr lang="en-US" sz="1800" dirty="0"/>
              <a:t> grayscale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01A88D-7133-728C-B3B8-4EC9BB55353C}"/>
              </a:ext>
            </a:extLst>
          </p:cNvPr>
          <p:cNvSpPr txBox="1"/>
          <p:nvPr/>
        </p:nvSpPr>
        <p:spPr>
          <a:xfrm>
            <a:off x="9821589" y="6305453"/>
            <a:ext cx="191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Filtru</a:t>
            </a:r>
            <a:r>
              <a:rPr lang="en-US" sz="1800" dirty="0"/>
              <a:t> </a:t>
            </a:r>
            <a:r>
              <a:rPr lang="en-US" sz="1800" dirty="0" err="1"/>
              <a:t>ben_graham</a:t>
            </a:r>
            <a:endParaRPr lang="en-US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1AF3F9-B063-B05F-D4D1-1C17A0298FD0}"/>
              </a:ext>
            </a:extLst>
          </p:cNvPr>
          <p:cNvSpPr txBox="1"/>
          <p:nvPr/>
        </p:nvSpPr>
        <p:spPr>
          <a:xfrm>
            <a:off x="7219552" y="6189926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err="1"/>
              <a:t>Adaugare</a:t>
            </a:r>
            <a:r>
              <a:rPr lang="en-US" sz="1800" dirty="0"/>
              <a:t> halo </a:t>
            </a:r>
            <a:br>
              <a:rPr lang="en-US" sz="1800" dirty="0"/>
            </a:br>
            <a:r>
              <a:rPr lang="en-US" sz="1800" dirty="0"/>
              <a:t>(imagine final</a:t>
            </a:r>
            <a:r>
              <a:rPr lang="ro-RO" sz="1800" dirty="0"/>
              <a:t>ă)</a:t>
            </a:r>
            <a:endParaRPr lang="en-US" sz="1800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3962A09-F65C-567B-B898-0E03CBFCA55F}"/>
              </a:ext>
            </a:extLst>
          </p:cNvPr>
          <p:cNvSpPr/>
          <p:nvPr/>
        </p:nvSpPr>
        <p:spPr>
          <a:xfrm>
            <a:off x="9178393" y="2187699"/>
            <a:ext cx="468789" cy="406277"/>
          </a:xfrm>
          <a:prstGeom prst="rightArrow">
            <a:avLst/>
          </a:prstGeom>
          <a:solidFill>
            <a:srgbClr val="0075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47ED533-8B78-6908-26E2-0526C766779C}"/>
              </a:ext>
            </a:extLst>
          </p:cNvPr>
          <p:cNvSpPr/>
          <p:nvPr/>
        </p:nvSpPr>
        <p:spPr>
          <a:xfrm rot="5400000">
            <a:off x="10544379" y="3506245"/>
            <a:ext cx="468789" cy="406277"/>
          </a:xfrm>
          <a:prstGeom prst="rightArrow">
            <a:avLst/>
          </a:prstGeom>
          <a:solidFill>
            <a:srgbClr val="0075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2F8933E5-1D29-4B42-6204-8905E0ADCC16}"/>
              </a:ext>
            </a:extLst>
          </p:cNvPr>
          <p:cNvSpPr/>
          <p:nvPr/>
        </p:nvSpPr>
        <p:spPr>
          <a:xfrm rot="10800000">
            <a:off x="9178392" y="5003322"/>
            <a:ext cx="468789" cy="406277"/>
          </a:xfrm>
          <a:prstGeom prst="rightArrow">
            <a:avLst/>
          </a:prstGeom>
          <a:solidFill>
            <a:srgbClr val="0075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8C36C8-4DEC-50DC-24B1-AFD404DBC711}"/>
              </a:ext>
            </a:extLst>
          </p:cNvPr>
          <p:cNvSpPr/>
          <p:nvPr/>
        </p:nvSpPr>
        <p:spPr>
          <a:xfrm rot="10800000" flipV="1">
            <a:off x="146846" y="4513852"/>
            <a:ext cx="6118111" cy="45719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EA5899E-3ABC-1331-03C1-F9AE7881F058}"/>
              </a:ext>
            </a:extLst>
          </p:cNvPr>
          <p:cNvSpPr/>
          <p:nvPr/>
        </p:nvSpPr>
        <p:spPr>
          <a:xfrm>
            <a:off x="2339927" y="5662413"/>
            <a:ext cx="1478290" cy="406277"/>
          </a:xfrm>
          <a:prstGeom prst="rightArrow">
            <a:avLst/>
          </a:prstGeom>
          <a:solidFill>
            <a:srgbClr val="0075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36756-0E80-A814-5324-543525518971}"/>
              </a:ext>
            </a:extLst>
          </p:cNvPr>
          <p:cNvSpPr txBox="1"/>
          <p:nvPr/>
        </p:nvSpPr>
        <p:spPr>
          <a:xfrm>
            <a:off x="2529816" y="5147990"/>
            <a:ext cx="100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/>
              <a:t>flip+affine+color-jitter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4360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Schema bloc a sistemului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8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98B7-AE17-9152-A946-C5D6724B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8A1AC8-66EE-6C75-5668-6EB3BFEC8B33}"/>
              </a:ext>
            </a:extLst>
          </p:cNvPr>
          <p:cNvSpPr/>
          <p:nvPr/>
        </p:nvSpPr>
        <p:spPr>
          <a:xfrm>
            <a:off x="0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ABFF4-ECA1-8247-45A7-B89AFE26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Schema bloc 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sistemului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26A1B2-7BCD-4340-AECF-780D8DB97F45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E3ED9-907F-CC91-98B4-683B85924E03}"/>
              </a:ext>
            </a:extLst>
          </p:cNvPr>
          <p:cNvSpPr txBox="1"/>
          <p:nvPr/>
        </p:nvSpPr>
        <p:spPr>
          <a:xfrm>
            <a:off x="693812" y="2348880"/>
            <a:ext cx="42484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2 </a:t>
            </a:r>
            <a:r>
              <a:rPr lang="en-US" sz="1600" dirty="0" err="1"/>
              <a:t>ramuri</a:t>
            </a:r>
            <a:r>
              <a:rPr lang="en-US" sz="1600" dirty="0"/>
              <a:t>: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Experimente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Modelul</a:t>
            </a:r>
            <a:r>
              <a:rPr lang="en-US" sz="1600" dirty="0"/>
              <a:t> principal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Dataseturi</a:t>
            </a:r>
            <a:r>
              <a:rPr lang="en-US" sz="1600" dirty="0"/>
              <a:t> create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echilibrate</a:t>
            </a:r>
            <a:r>
              <a:rPr lang="en-US" sz="1600" dirty="0"/>
              <a:t> </a:t>
            </a:r>
            <a:r>
              <a:rPr lang="en-US" sz="1600" dirty="0" err="1"/>
              <a:t>dedicat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fiecare</a:t>
            </a:r>
            <a:r>
              <a:rPr lang="en-US" sz="1600" dirty="0"/>
              <a:t> experiment</a:t>
            </a:r>
          </a:p>
          <a:p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0FBA4B-9898-4DBF-1D14-94B5D5BC5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260" y="992448"/>
            <a:ext cx="7344817" cy="57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7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DEE9-3E5D-2CD8-B846-935B985C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080206-0EDA-2DD3-D720-57157362E3AD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C06D8-9C7A-75F2-EC1E-05F6329D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Arhitecturi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utilizate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21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8BB0-0DD6-FA9D-3085-6F0C7DE9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FEE0AC-641A-618F-791C-4F74DE67770D}"/>
              </a:ext>
            </a:extLst>
          </p:cNvPr>
          <p:cNvSpPr/>
          <p:nvPr/>
        </p:nvSpPr>
        <p:spPr>
          <a:xfrm>
            <a:off x="0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241DB-3CF6-93D6-788F-228A5679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Arhitectur</a:t>
            </a:r>
            <a:r>
              <a:rPr lang="en-US" dirty="0">
                <a:solidFill>
                  <a:schemeClr val="bg1"/>
                </a:solidFill>
              </a:rPr>
              <a:t>a principal</a:t>
            </a:r>
            <a:r>
              <a:rPr lang="ro-RO" dirty="0">
                <a:solidFill>
                  <a:schemeClr val="bg1"/>
                </a:solidFill>
              </a:rPr>
              <a:t>ă pentru experimente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A197F1-F482-8D7B-6090-154519124DA5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A8EAC-FF38-BED0-52D8-E20440F715CD}"/>
              </a:ext>
            </a:extLst>
          </p:cNvPr>
          <p:cNvSpPr txBox="1"/>
          <p:nvPr/>
        </p:nvSpPr>
        <p:spPr>
          <a:xfrm>
            <a:off x="148425" y="1498078"/>
            <a:ext cx="36724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Resnet50:</a:t>
            </a:r>
            <a:endParaRPr lang="ro-RO" sz="1600" dirty="0"/>
          </a:p>
          <a:p>
            <a:endParaRPr lang="ro-RO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Compromis între complexitate, rezultate si rapiditate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ro-RO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Pre-antrenata pe ImageNet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ro-RO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~</a:t>
            </a:r>
            <a:r>
              <a:rPr lang="ro-RO" sz="1600" dirty="0"/>
              <a:t>25.6 milioane de parametrii</a:t>
            </a:r>
            <a:r>
              <a:rPr lang="en-US" sz="1600" dirty="0"/>
              <a:t> </a:t>
            </a:r>
            <a:r>
              <a:rPr lang="en-US" sz="1600" dirty="0" err="1"/>
              <a:t>antrenabili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50 </a:t>
            </a:r>
            <a:r>
              <a:rPr lang="en-US" sz="1600" dirty="0" err="1"/>
              <a:t>straturi</a:t>
            </a:r>
            <a:r>
              <a:rPr lang="en-US" sz="1600" dirty="0"/>
              <a:t>: </a:t>
            </a:r>
            <a:r>
              <a:rPr lang="en-US" sz="1600" dirty="0" err="1"/>
              <a:t>contine</a:t>
            </a:r>
            <a:r>
              <a:rPr lang="en-US" sz="1600" dirty="0"/>
              <a:t> </a:t>
            </a:r>
            <a:r>
              <a:rPr lang="en-US" sz="1600" dirty="0" err="1"/>
              <a:t>blocuri</a:t>
            </a:r>
            <a:r>
              <a:rPr lang="en-US" sz="1600" dirty="0"/>
              <a:t> </a:t>
            </a:r>
            <a:r>
              <a:rPr lang="en-US" sz="1600" dirty="0" err="1"/>
              <a:t>reziduale</a:t>
            </a:r>
            <a:r>
              <a:rPr lang="en-US" sz="1600" dirty="0"/>
              <a:t> (skip connections)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Adaugat</a:t>
            </a:r>
            <a:r>
              <a:rPr lang="en-US" sz="1600" dirty="0"/>
              <a:t> </a:t>
            </a:r>
            <a:r>
              <a:rPr lang="en-US" sz="1600" dirty="0" err="1"/>
              <a:t>strat</a:t>
            </a:r>
            <a:r>
              <a:rPr lang="en-US" sz="1600" dirty="0"/>
              <a:t> de dropout la final (0.5)</a:t>
            </a:r>
            <a:endParaRPr lang="ro-RO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F352ED-4B3C-DE1A-3329-B48BB75D1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15" y="3889650"/>
            <a:ext cx="7594218" cy="27949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BBA871-E298-CD2B-5441-5C52D1BD1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00" y="893585"/>
            <a:ext cx="6886500" cy="282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546D85-B66F-0389-8BDE-E37DA56D027C}"/>
              </a:ext>
            </a:extLst>
          </p:cNvPr>
          <p:cNvSpPr txBox="1"/>
          <p:nvPr/>
        </p:nvSpPr>
        <p:spPr>
          <a:xfrm>
            <a:off x="83423" y="1019654"/>
            <a:ext cx="657066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Efficientnet_b3:</a:t>
            </a:r>
          </a:p>
          <a:p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~12.2 </a:t>
            </a:r>
            <a:r>
              <a:rPr lang="en-US" sz="1600" dirty="0" err="1"/>
              <a:t>milioane</a:t>
            </a:r>
            <a:r>
              <a:rPr lang="en-US" sz="1600" dirty="0"/>
              <a:t> de </a:t>
            </a:r>
            <a:r>
              <a:rPr lang="en-US" sz="1600" dirty="0" err="1"/>
              <a:t>parametrii</a:t>
            </a:r>
            <a:r>
              <a:rPr lang="en-US" sz="1600" dirty="0"/>
              <a:t> </a:t>
            </a:r>
            <a:r>
              <a:rPr lang="en-US" sz="1600" dirty="0" err="1"/>
              <a:t>antrenabili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Extracție</a:t>
            </a:r>
            <a:r>
              <a:rPr lang="en-US" sz="1600" dirty="0"/>
              <a:t> de </a:t>
            </a:r>
            <a:r>
              <a:rPr lang="en-US" sz="1600" dirty="0" err="1"/>
              <a:t>trăsături</a:t>
            </a:r>
            <a:r>
              <a:rPr lang="en-US" sz="1600" dirty="0"/>
              <a:t> fine: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detectarea</a:t>
            </a:r>
            <a:r>
              <a:rPr lang="en-US" sz="1600" dirty="0"/>
              <a:t> </a:t>
            </a:r>
            <a:r>
              <a:rPr lang="en-US" sz="1600" dirty="0" err="1"/>
              <a:t>leziunilor</a:t>
            </a:r>
            <a:r>
              <a:rPr lang="en-US" sz="1600" dirty="0"/>
              <a:t> </a:t>
            </a:r>
            <a:r>
              <a:rPr lang="en-US" sz="1600" dirty="0" err="1"/>
              <a:t>oculare</a:t>
            </a:r>
            <a:r>
              <a:rPr lang="en-US" sz="1600" dirty="0"/>
              <a:t> </a:t>
            </a:r>
            <a:r>
              <a:rPr lang="en-US" sz="1600" dirty="0" err="1"/>
              <a:t>subtile</a:t>
            </a:r>
            <a:r>
              <a:rPr lang="en-US" sz="1600" dirty="0"/>
              <a:t>, </a:t>
            </a:r>
            <a:r>
              <a:rPr lang="en-US" sz="1600" dirty="0" err="1"/>
              <a:t>specifice</a:t>
            </a:r>
            <a:r>
              <a:rPr lang="en-US" sz="1600" dirty="0"/>
              <a:t> </a:t>
            </a:r>
            <a:r>
              <a:rPr lang="en-US" sz="1600" dirty="0" err="1"/>
              <a:t>stadiilor</a:t>
            </a:r>
            <a:r>
              <a:rPr lang="en-US" sz="1600" dirty="0"/>
              <a:t> 1-4.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Blocuri</a:t>
            </a:r>
            <a:r>
              <a:rPr lang="en-US" sz="1600" dirty="0"/>
              <a:t> </a:t>
            </a:r>
            <a:r>
              <a:rPr lang="en-US" sz="1600" dirty="0" err="1"/>
              <a:t>MBConv</a:t>
            </a:r>
            <a:r>
              <a:rPr lang="en-US" sz="1600" dirty="0"/>
              <a:t>: </a:t>
            </a:r>
            <a:r>
              <a:rPr lang="en-US" sz="1600" dirty="0" err="1"/>
              <a:t>Utilizează</a:t>
            </a:r>
            <a:r>
              <a:rPr lang="en-US" sz="1600" dirty="0"/>
              <a:t> </a:t>
            </a:r>
            <a:r>
              <a:rPr lang="en-US" sz="1600" dirty="0" err="1"/>
              <a:t>convoluții</a:t>
            </a:r>
            <a:r>
              <a:rPr lang="en-US" sz="1600" dirty="0"/>
              <a:t> </a:t>
            </a:r>
            <a:r>
              <a:rPr lang="en-US" sz="1600" dirty="0" err="1"/>
              <a:t>depthwise</a:t>
            </a:r>
            <a:r>
              <a:rPr lang="en-US" sz="1600" dirty="0"/>
              <a:t> </a:t>
            </a:r>
            <a:r>
              <a:rPr lang="en-US" sz="1600" dirty="0" err="1"/>
              <a:t>separabile</a:t>
            </a:r>
            <a:r>
              <a:rPr lang="en-US" sz="1600" dirty="0"/>
              <a:t>, </a:t>
            </a:r>
            <a:r>
              <a:rPr lang="en-US" sz="1600" dirty="0" err="1"/>
              <a:t>optimizând</a:t>
            </a:r>
            <a:r>
              <a:rPr lang="en-US" sz="1600" dirty="0"/>
              <a:t> </a:t>
            </a:r>
            <a:r>
              <a:rPr lang="en-US" sz="1600" dirty="0" err="1"/>
              <a:t>captarea</a:t>
            </a:r>
            <a:r>
              <a:rPr lang="en-US" sz="1600" dirty="0"/>
              <a:t> </a:t>
            </a:r>
            <a:r>
              <a:rPr lang="en-US" sz="1600" dirty="0" err="1"/>
              <a:t>informației</a:t>
            </a:r>
            <a:r>
              <a:rPr lang="en-US" sz="1600" dirty="0"/>
              <a:t> </a:t>
            </a:r>
            <a:r>
              <a:rPr lang="en-US" sz="1600" dirty="0" err="1"/>
              <a:t>vizuale</a:t>
            </a:r>
            <a:r>
              <a:rPr lang="en-US" sz="1600" dirty="0"/>
              <a:t> </a:t>
            </a:r>
            <a:r>
              <a:rPr lang="en-US" sz="1600" dirty="0" err="1"/>
              <a:t>esențiale</a:t>
            </a:r>
            <a:r>
              <a:rPr lang="en-US" sz="1600" dirty="0"/>
              <a:t>.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Module de </a:t>
            </a:r>
            <a:r>
              <a:rPr lang="en-US" sz="1600" dirty="0" err="1"/>
              <a:t>Atenție</a:t>
            </a:r>
            <a:r>
              <a:rPr lang="en-US" sz="1600" dirty="0"/>
              <a:t> integrate (Squeeze-and-Excitation): Se </a:t>
            </a:r>
            <a:r>
              <a:rPr lang="en-US" sz="1600" dirty="0" err="1"/>
              <a:t>concentrează</a:t>
            </a:r>
            <a:r>
              <a:rPr lang="en-US" sz="1600" dirty="0"/>
              <a:t> pe </a:t>
            </a:r>
            <a:r>
              <a:rPr lang="en-US" sz="1600" dirty="0" err="1"/>
              <a:t>canalele</a:t>
            </a:r>
            <a:r>
              <a:rPr lang="en-US" sz="1600" dirty="0"/>
              <a:t> de </a:t>
            </a:r>
            <a:r>
              <a:rPr lang="en-US" sz="1600" dirty="0" err="1"/>
              <a:t>trasaturi</a:t>
            </a:r>
            <a:r>
              <a:rPr lang="en-US" sz="1600" dirty="0"/>
              <a:t> (</a:t>
            </a:r>
            <a:r>
              <a:rPr lang="en-US" sz="1600" dirty="0" err="1"/>
              <a:t>microanevrisme</a:t>
            </a:r>
            <a:r>
              <a:rPr lang="en-US" sz="1600" dirty="0"/>
              <a:t>, </a:t>
            </a:r>
            <a:r>
              <a:rPr lang="en-US" sz="1600" dirty="0" err="1"/>
              <a:t>exsudate</a:t>
            </a:r>
            <a:r>
              <a:rPr lang="en-US" sz="1600" dirty="0"/>
              <a:t>)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Adaugat</a:t>
            </a:r>
            <a:r>
              <a:rPr lang="en-US" sz="1600" dirty="0"/>
              <a:t> </a:t>
            </a:r>
            <a:r>
              <a:rPr lang="en-US" sz="1600" dirty="0" err="1"/>
              <a:t>strat</a:t>
            </a:r>
            <a:r>
              <a:rPr lang="en-US" sz="1600" dirty="0"/>
              <a:t> de dropout la final (0.4)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449D4-AF44-EC2B-7620-95ED4B24E2C4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DC3036-66EB-6448-FCB0-EBE1221B863F}"/>
              </a:ext>
            </a:extLst>
          </p:cNvPr>
          <p:cNvSpPr txBox="1">
            <a:spLocks/>
          </p:cNvSpPr>
          <p:nvPr/>
        </p:nvSpPr>
        <p:spPr>
          <a:xfrm>
            <a:off x="117748" y="36832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solidFill>
                  <a:schemeClr val="bg1"/>
                </a:solidFill>
              </a:rPr>
              <a:t>Arhitectura sistemului principal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3074" name="Picture 2" descr="Jimaging 11 00279 g003">
            <a:extLst>
              <a:ext uri="{FF2B5EF4-FFF2-40B4-BE49-F238E27FC236}">
                <a16:creationId xmlns:a16="http://schemas.microsoft.com/office/drawing/2014/main" id="{9101ADBA-6391-8BE2-F26E-1EB96E96D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409" y="893584"/>
            <a:ext cx="5511830" cy="592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4C447-2F0A-46D2-4433-F4756DE55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88" y="4559084"/>
            <a:ext cx="5412331" cy="229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3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pt-BR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final în două etape</a:t>
            </a:r>
          </a:p>
        </p:txBody>
      </p:sp>
    </p:spTree>
    <p:extLst>
      <p:ext uri="{BB962C8B-B14F-4D97-AF65-F5344CB8AC3E}">
        <p14:creationId xmlns:p14="http://schemas.microsoft.com/office/powerpoint/2010/main" val="316763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A3E2-D67A-C873-FA40-921075B88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751390-9F3F-3B0E-29F8-29D90FF060D2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DA728-536D-19DF-BD1E-2FC4AC98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Sistem final în două etape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8AFF1D-C667-4B44-0EC0-ED71A9F91EC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D8940-D088-A0DF-A922-90A04735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332" y="992448"/>
            <a:ext cx="6679461" cy="57777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C3005B-FF50-0A66-8D82-E27C630CAB2B}"/>
              </a:ext>
            </a:extLst>
          </p:cNvPr>
          <p:cNvSpPr txBox="1"/>
          <p:nvPr/>
        </p:nvSpPr>
        <p:spPr>
          <a:xfrm>
            <a:off x="693813" y="1484784"/>
            <a:ext cx="43204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err="1"/>
              <a:t>Sistem</a:t>
            </a:r>
            <a:r>
              <a:rPr lang="en-US" sz="1800" dirty="0"/>
              <a:t> in </a:t>
            </a:r>
            <a:r>
              <a:rPr lang="en-US" sz="1800" dirty="0" err="1"/>
              <a:t>cascada</a:t>
            </a:r>
            <a:r>
              <a:rPr lang="en-US" sz="1800" dirty="0"/>
              <a:t> in 2 </a:t>
            </a:r>
            <a:r>
              <a:rPr lang="en-US" sz="1800" dirty="0" err="1"/>
              <a:t>etape</a:t>
            </a:r>
            <a:r>
              <a:rPr lang="en-US" sz="1800" dirty="0"/>
              <a:t>: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Etapa 1: </a:t>
            </a:r>
            <a:r>
              <a:rPr lang="en-US" sz="1800" dirty="0" err="1"/>
              <a:t>triaj</a:t>
            </a:r>
            <a:r>
              <a:rPr lang="en-US" sz="1800" dirty="0"/>
              <a:t> </a:t>
            </a:r>
            <a:r>
              <a:rPr lang="en-US" sz="1800" dirty="0" err="1"/>
              <a:t>binar</a:t>
            </a:r>
            <a:endParaRPr lang="en-US" sz="18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Etapa 2: </a:t>
            </a:r>
            <a:r>
              <a:rPr lang="en-US" sz="1800" dirty="0" err="1"/>
              <a:t>evaluarea</a:t>
            </a:r>
            <a:r>
              <a:rPr lang="en-US" sz="1800" dirty="0"/>
              <a:t> </a:t>
            </a:r>
            <a:r>
              <a:rPr lang="en-US" sz="1800" dirty="0" err="1"/>
              <a:t>severitatii</a:t>
            </a:r>
            <a:r>
              <a:rPr lang="en-US" sz="1800" dirty="0"/>
              <a:t> </a:t>
            </a:r>
            <a:r>
              <a:rPr lang="en-US" sz="1800" dirty="0" err="1"/>
              <a:t>bolii</a:t>
            </a:r>
            <a:endParaRPr lang="en-US" sz="18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modelul</a:t>
            </a:r>
            <a:r>
              <a:rPr lang="en-US" sz="1800" dirty="0"/>
              <a:t> </a:t>
            </a:r>
            <a:r>
              <a:rPr lang="en-US" sz="1800" dirty="0" err="1"/>
              <a:t>binar</a:t>
            </a:r>
            <a:r>
              <a:rPr lang="en-US" sz="1800" dirty="0"/>
              <a:t>: </a:t>
            </a:r>
            <a:r>
              <a:rPr lang="en-US" sz="1800" dirty="0" err="1"/>
              <a:t>prag</a:t>
            </a:r>
            <a:r>
              <a:rPr lang="en-US" sz="1800" dirty="0"/>
              <a:t> </a:t>
            </a:r>
            <a:r>
              <a:rPr lang="en-US" sz="1800" dirty="0" err="1"/>
              <a:t>optimizat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minimizarea</a:t>
            </a:r>
            <a:r>
              <a:rPr lang="en-US" sz="1800" dirty="0"/>
              <a:t> </a:t>
            </a:r>
            <a:r>
              <a:rPr lang="en-US" sz="1800" dirty="0" err="1"/>
              <a:t>fals-negativilor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83907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 experimentale</a:t>
            </a:r>
          </a:p>
        </p:txBody>
      </p:sp>
    </p:spTree>
    <p:extLst>
      <p:ext uri="{BB962C8B-B14F-4D97-AF65-F5344CB8AC3E}">
        <p14:creationId xmlns:p14="http://schemas.microsoft.com/office/powerpoint/2010/main" val="417873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694B1-767A-4135-7F71-A15C720E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0AFE6B-E4A1-7C10-B264-9018EB05A63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8160F-04B0-8488-6150-0E1E2CB2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Experimente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dataseturi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A4342F-CCC3-6569-0AC2-49E6D42CA46A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B9B43-0FD6-B5AD-DD39-0888423E5740}"/>
              </a:ext>
            </a:extLst>
          </p:cNvPr>
          <p:cNvSpPr txBox="1"/>
          <p:nvPr/>
        </p:nvSpPr>
        <p:spPr>
          <a:xfrm>
            <a:off x="270148" y="1138120"/>
            <a:ext cx="30243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Fine tuning pt </a:t>
            </a:r>
            <a:r>
              <a:rPr lang="en-US" sz="1600" dirty="0" err="1"/>
              <a:t>experimente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5CAA90-28EB-0B16-96D2-F92DCAF2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56" y="963245"/>
            <a:ext cx="8326661" cy="588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65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3B20-25D3-1271-21D7-63D027BA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9877D4-9319-97F8-46E5-F868B7560985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2B7F7-4A14-3285-7F8A-199ABF31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Experimente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dataseturi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35D065-9DB5-F08D-ACDE-E744988443B9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9EF22-2FE0-FD7A-F749-778FA324DF1A}"/>
              </a:ext>
            </a:extLst>
          </p:cNvPr>
          <p:cNvSpPr txBox="1"/>
          <p:nvPr/>
        </p:nvSpPr>
        <p:spPr>
          <a:xfrm>
            <a:off x="265620" y="1659285"/>
            <a:ext cx="3024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FA4951-F5D9-4500-40B1-95D07338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744" y="827668"/>
            <a:ext cx="6814494" cy="603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41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1581-84C0-D0BD-C95F-5B627951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281CCC-FBD9-6991-4EB2-3BD7847C22FE}"/>
              </a:ext>
            </a:extLst>
          </p:cNvPr>
          <p:cNvSpPr/>
          <p:nvPr/>
        </p:nvSpPr>
        <p:spPr>
          <a:xfrm>
            <a:off x="-1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C3C9D-3235-E743-1B66-66BE9F79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principal – </a:t>
            </a:r>
            <a:r>
              <a:rPr lang="en-US" dirty="0" err="1">
                <a:solidFill>
                  <a:schemeClr val="bg1"/>
                </a:solidFill>
              </a:rPr>
              <a:t>etapa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binara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4118EC-6EC4-A2CD-5334-E10330617BE8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DA14C-50A5-AC72-DBB9-8FFFBBCDD6D3}"/>
              </a:ext>
            </a:extLst>
          </p:cNvPr>
          <p:cNvSpPr txBox="1"/>
          <p:nvPr/>
        </p:nvSpPr>
        <p:spPr>
          <a:xfrm>
            <a:off x="117748" y="992448"/>
            <a:ext cx="44377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Fine-tuning </a:t>
            </a:r>
            <a:r>
              <a:rPr lang="en-US" sz="1600" dirty="0" err="1"/>
              <a:t>în</a:t>
            </a:r>
            <a:r>
              <a:rPr lang="en-US" sz="1600" dirty="0"/>
              <a:t> 2 faze: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Faza</a:t>
            </a:r>
            <a:r>
              <a:rPr lang="en-US" sz="1600" dirty="0"/>
              <a:t> 1: backbone </a:t>
            </a:r>
            <a:r>
              <a:rPr lang="en-US" sz="1600" dirty="0" err="1"/>
              <a:t>înghețat</a:t>
            </a:r>
            <a:r>
              <a:rPr lang="en-US" sz="1600" dirty="0"/>
              <a:t> (capul de </a:t>
            </a:r>
            <a:r>
              <a:rPr lang="en-US" sz="1600" dirty="0" err="1"/>
              <a:t>clasificare</a:t>
            </a:r>
            <a:r>
              <a:rPr lang="en-US" sz="1600" dirty="0"/>
              <a:t>) 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5 </a:t>
            </a:r>
            <a:r>
              <a:rPr lang="en-US" sz="1600" dirty="0" err="1"/>
              <a:t>epoci</a:t>
            </a:r>
            <a:endParaRPr lang="en-US" sz="1600" dirty="0"/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Rata de </a:t>
            </a:r>
            <a:r>
              <a:rPr lang="en-US" sz="1600" dirty="0" err="1"/>
              <a:t>invatare</a:t>
            </a:r>
            <a:r>
              <a:rPr lang="en-US" sz="1600" dirty="0"/>
              <a:t> 1e-3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Faza</a:t>
            </a:r>
            <a:r>
              <a:rPr lang="en-US" sz="1600" dirty="0"/>
              <a:t> 2: </a:t>
            </a:r>
            <a:r>
              <a:rPr lang="en-US" sz="1600" dirty="0" err="1"/>
              <a:t>antrenare</a:t>
            </a:r>
            <a:r>
              <a:rPr lang="en-US" sz="1600" dirty="0"/>
              <a:t> complete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Epocile</a:t>
            </a:r>
            <a:r>
              <a:rPr lang="en-US" sz="1600" dirty="0"/>
              <a:t> 6-50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Rata de </a:t>
            </a:r>
            <a:r>
              <a:rPr lang="en-US" sz="1600" dirty="0" err="1"/>
              <a:t>invatare</a:t>
            </a:r>
            <a:r>
              <a:rPr lang="en-US" sz="1600" dirty="0"/>
              <a:t> </a:t>
            </a:r>
            <a:r>
              <a:rPr lang="it-IT" sz="1600" dirty="0"/>
              <a:t>backbone: 1e-4, cap: 3e-4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Funcție</a:t>
            </a:r>
            <a:r>
              <a:rPr lang="en-US" sz="1600" dirty="0"/>
              <a:t> de </a:t>
            </a:r>
            <a:r>
              <a:rPr lang="en-US" sz="1600" dirty="0" err="1"/>
              <a:t>pierdere</a:t>
            </a:r>
            <a:r>
              <a:rPr lang="en-US" sz="1600" dirty="0"/>
              <a:t>: </a:t>
            </a:r>
            <a:r>
              <a:rPr lang="en-US" sz="1600" dirty="0" err="1"/>
              <a:t>BCEWithLogitsLoss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Monitorizare</a:t>
            </a:r>
            <a:r>
              <a:rPr lang="en-US" sz="1600" dirty="0"/>
              <a:t> AUC pe </a:t>
            </a:r>
            <a:r>
              <a:rPr lang="en-US" sz="1600" dirty="0" err="1"/>
              <a:t>validare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ales </a:t>
            </a:r>
            <a:r>
              <a:rPr lang="en-US" sz="1600" dirty="0" err="1"/>
              <a:t>pragul</a:t>
            </a:r>
            <a:r>
              <a:rPr lang="en-US" sz="1600" dirty="0"/>
              <a:t> </a:t>
            </a:r>
            <a:r>
              <a:rPr lang="en-US" sz="1600" dirty="0" err="1"/>
              <a:t>optim</a:t>
            </a:r>
            <a:r>
              <a:rPr lang="en-US" sz="1600" dirty="0"/>
              <a:t> pe </a:t>
            </a:r>
            <a:r>
              <a:rPr lang="en-US" sz="1600" dirty="0" err="1"/>
              <a:t>validare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E1490-1D32-7384-2669-4A11AA923312}"/>
              </a:ext>
            </a:extLst>
          </p:cNvPr>
          <p:cNvSpPr txBox="1"/>
          <p:nvPr/>
        </p:nvSpPr>
        <p:spPr>
          <a:xfrm>
            <a:off x="7391928" y="2636912"/>
            <a:ext cx="3024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9293D3-2A7F-A4BA-C07E-DABD49B0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90" y="1559521"/>
            <a:ext cx="3729035" cy="23129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A8BDF0-390C-A928-254D-A1C6B871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554" y="4523245"/>
            <a:ext cx="3729036" cy="23129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B675C4-8873-E615-8FEB-A0FEF23DE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20" y="4453756"/>
            <a:ext cx="3729036" cy="2312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6DF700-13B7-86ED-1253-2AD2FC571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475551"/>
            <a:ext cx="3834383" cy="23782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E40784-B063-B89C-0EC7-F446F832A9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586" r="48855"/>
          <a:stretch>
            <a:fillRect/>
          </a:stretch>
        </p:blipFill>
        <p:spPr>
          <a:xfrm>
            <a:off x="4660323" y="926122"/>
            <a:ext cx="3542916" cy="34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DEF7-0008-E0F1-3A02-8D9178B3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24EA19-C5BB-C7B8-68DE-B884E1AEC602}"/>
              </a:ext>
            </a:extLst>
          </p:cNvPr>
          <p:cNvSpPr/>
          <p:nvPr/>
        </p:nvSpPr>
        <p:spPr>
          <a:xfrm>
            <a:off x="-1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49079-247C-97A9-E674-7637E4A3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 principal – </a:t>
            </a:r>
            <a:r>
              <a:rPr lang="en-US" dirty="0" err="1">
                <a:solidFill>
                  <a:schemeClr val="bg1"/>
                </a:solidFill>
              </a:rPr>
              <a:t>etapa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binara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9155AB-4EF6-8A26-A86A-0F582B58186D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E47A4-BAED-76B8-B3F4-F44C0F060A30}"/>
              </a:ext>
            </a:extLst>
          </p:cNvPr>
          <p:cNvSpPr txBox="1"/>
          <p:nvPr/>
        </p:nvSpPr>
        <p:spPr>
          <a:xfrm>
            <a:off x="117748" y="992448"/>
            <a:ext cx="443776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Fine-tuning </a:t>
            </a:r>
            <a:r>
              <a:rPr lang="en-US" sz="1600" dirty="0" err="1"/>
              <a:t>în</a:t>
            </a:r>
            <a:r>
              <a:rPr lang="en-US" sz="1600" dirty="0"/>
              <a:t> 2 faze: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Faza</a:t>
            </a:r>
            <a:r>
              <a:rPr lang="en-US" sz="1600" dirty="0"/>
              <a:t> 1: backbone </a:t>
            </a:r>
            <a:r>
              <a:rPr lang="en-US" sz="1600" dirty="0" err="1"/>
              <a:t>înghețat</a:t>
            </a:r>
            <a:r>
              <a:rPr lang="en-US" sz="1600" dirty="0"/>
              <a:t> (capul de </a:t>
            </a:r>
            <a:r>
              <a:rPr lang="en-US" sz="1600" dirty="0" err="1"/>
              <a:t>clasificare</a:t>
            </a:r>
            <a:r>
              <a:rPr lang="en-US" sz="1600" dirty="0"/>
              <a:t>) 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5 </a:t>
            </a:r>
            <a:r>
              <a:rPr lang="en-US" sz="1600" dirty="0" err="1"/>
              <a:t>epoci</a:t>
            </a:r>
            <a:endParaRPr lang="en-US" sz="1600" dirty="0"/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Rata de </a:t>
            </a:r>
            <a:r>
              <a:rPr lang="en-US" sz="1600" dirty="0" err="1"/>
              <a:t>invatare</a:t>
            </a:r>
            <a:r>
              <a:rPr lang="en-US" sz="1600" dirty="0"/>
              <a:t> 1e-3</a:t>
            </a:r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Faza</a:t>
            </a:r>
            <a:r>
              <a:rPr lang="en-US" sz="1600" dirty="0"/>
              <a:t> 2: </a:t>
            </a:r>
            <a:r>
              <a:rPr lang="en-US" sz="1600" dirty="0" err="1"/>
              <a:t>antrenare</a:t>
            </a:r>
            <a:r>
              <a:rPr lang="en-US" sz="1600" dirty="0"/>
              <a:t> complete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Epocile</a:t>
            </a:r>
            <a:r>
              <a:rPr lang="en-US" sz="1600" dirty="0"/>
              <a:t> 6-50</a:t>
            </a:r>
          </a:p>
          <a:p>
            <a:pPr marL="1504737" lvl="2" indent="-285750">
              <a:buFont typeface="Wingdings" panose="05000000000000000000" pitchFamily="2" charset="2"/>
              <a:buChar char="Ø"/>
            </a:pPr>
            <a:r>
              <a:rPr lang="en-US" sz="1600" dirty="0"/>
              <a:t>Rata de </a:t>
            </a:r>
            <a:r>
              <a:rPr lang="en-US" sz="1600" dirty="0" err="1"/>
              <a:t>invatare</a:t>
            </a:r>
            <a:r>
              <a:rPr lang="en-US" sz="1600" dirty="0"/>
              <a:t> </a:t>
            </a:r>
            <a:r>
              <a:rPr lang="it-IT" sz="1600" dirty="0"/>
              <a:t>backbone: 1e-4, cap: 3e-4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Funcție</a:t>
            </a:r>
            <a:r>
              <a:rPr lang="en-US" sz="1600" dirty="0"/>
              <a:t> de </a:t>
            </a:r>
            <a:r>
              <a:rPr lang="en-US" sz="1600" dirty="0" err="1"/>
              <a:t>pierdere</a:t>
            </a:r>
            <a:r>
              <a:rPr lang="en-US" sz="1600" dirty="0"/>
              <a:t>: SmoothL1Loss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Predicția</a:t>
            </a:r>
            <a:r>
              <a:rPr lang="en-US" sz="1600" dirty="0"/>
              <a:t> </a:t>
            </a:r>
            <a:r>
              <a:rPr lang="en-US" sz="1600" dirty="0" err="1"/>
              <a:t>continuă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transformată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clase</a:t>
            </a:r>
            <a:r>
              <a:rPr lang="en-US" sz="1600" dirty="0"/>
              <a:t> 1-4 </a:t>
            </a:r>
            <a:r>
              <a:rPr lang="en-US" sz="1600" dirty="0" err="1"/>
              <a:t>folosind</a:t>
            </a:r>
            <a:r>
              <a:rPr lang="en-US" sz="1600" dirty="0"/>
              <a:t> </a:t>
            </a:r>
            <a:r>
              <a:rPr lang="en-US" sz="1600" dirty="0" err="1"/>
              <a:t>praguri</a:t>
            </a:r>
            <a:r>
              <a:rPr lang="en-US" sz="1600" dirty="0"/>
              <a:t> </a:t>
            </a:r>
            <a:r>
              <a:rPr lang="en-US" sz="1600" dirty="0" err="1"/>
              <a:t>optimizate</a:t>
            </a:r>
            <a:r>
              <a:rPr lang="en-US" sz="1600" dirty="0"/>
              <a:t> pe </a:t>
            </a:r>
            <a:r>
              <a:rPr lang="en-US" sz="1600" dirty="0" err="1"/>
              <a:t>validare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QWK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65F18-DAF7-6D87-E1DD-B00BE148856B}"/>
              </a:ext>
            </a:extLst>
          </p:cNvPr>
          <p:cNvSpPr txBox="1"/>
          <p:nvPr/>
        </p:nvSpPr>
        <p:spPr>
          <a:xfrm>
            <a:off x="7391928" y="2636912"/>
            <a:ext cx="3024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F6F5D-4C9C-40A4-68DC-03A4D08F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36" y="747913"/>
            <a:ext cx="3855272" cy="23912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716165-2D09-D6BE-5C10-5817482DD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107" y="3594478"/>
            <a:ext cx="3834383" cy="23782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947824-422F-43EE-9C69-DCD57825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862" y="4475678"/>
            <a:ext cx="3801067" cy="23576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137030-3CB3-6FCE-F206-83F154622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524375"/>
            <a:ext cx="3762375" cy="23336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1BA732-256E-2F84-C99E-3F1CA73045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219" r="49409"/>
          <a:stretch>
            <a:fillRect/>
          </a:stretch>
        </p:blipFill>
        <p:spPr>
          <a:xfrm>
            <a:off x="4691909" y="1350564"/>
            <a:ext cx="3449609" cy="251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leakage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A342F-B60D-BBF2-5B39-013B392ECAC3}"/>
              </a:ext>
            </a:extLst>
          </p:cNvPr>
          <p:cNvSpPr txBox="1"/>
          <p:nvPr/>
        </p:nvSpPr>
        <p:spPr>
          <a:xfrm>
            <a:off x="333772" y="1668149"/>
            <a:ext cx="61184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setul</a:t>
            </a:r>
            <a:r>
              <a:rPr lang="en-US" sz="1600" dirty="0"/>
              <a:t> de date </a:t>
            </a:r>
            <a:r>
              <a:rPr lang="en-US" sz="1600" dirty="0" err="1"/>
              <a:t>Diabetic_Balanced_Data</a:t>
            </a:r>
            <a:r>
              <a:rPr lang="en-US" sz="1600" dirty="0"/>
              <a:t>:</a:t>
            </a:r>
            <a:endParaRPr lang="ro-RO" sz="1600" dirty="0"/>
          </a:p>
          <a:p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Augment</a:t>
            </a:r>
            <a:r>
              <a:rPr lang="ro-RO" sz="1600" dirty="0"/>
              <a:t>ări intercalate intre splituri</a:t>
            </a:r>
          </a:p>
          <a:p>
            <a:pPr lvl="1"/>
            <a:r>
              <a:rPr lang="ro-RO" sz="1600" dirty="0"/>
              <a:t>      (train, val, test)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r>
              <a:rPr lang="ro-RO" sz="1600" dirty="0"/>
              <a:t>Citat în articole de review (</a:t>
            </a:r>
            <a:r>
              <a:rPr lang="ro-RO" sz="1600" dirty="0">
                <a:hlinkClick r:id="rId2"/>
              </a:rPr>
              <a:t>link</a:t>
            </a:r>
            <a:r>
              <a:rPr lang="ro-RO" sz="1600" dirty="0"/>
              <a:t>)</a:t>
            </a: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39FE5F-231B-57ED-CA16-1587401A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72" y="992448"/>
            <a:ext cx="6336704" cy="27835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9CC60F-0795-EF33-82D3-546643E88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3" y="4020579"/>
            <a:ext cx="12188825" cy="282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6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 și direcții viitoare</a:t>
            </a:r>
          </a:p>
        </p:txBody>
      </p:sp>
    </p:spTree>
    <p:extLst>
      <p:ext uri="{BB962C8B-B14F-4D97-AF65-F5344CB8AC3E}">
        <p14:creationId xmlns:p14="http://schemas.microsoft.com/office/powerpoint/2010/main" val="664481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F0F3-DAE2-2834-90C3-715A90BCD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EE2B53-D5C9-F291-11E5-2DAC56C55BC2}"/>
              </a:ext>
            </a:extLst>
          </p:cNvPr>
          <p:cNvSpPr/>
          <p:nvPr/>
        </p:nvSpPr>
        <p:spPr>
          <a:xfrm>
            <a:off x="-1" y="-108840"/>
            <a:ext cx="12200239" cy="856753"/>
          </a:xfrm>
          <a:prstGeom prst="rect">
            <a:avLst/>
          </a:prstGeom>
          <a:solidFill>
            <a:srgbClr val="007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0772B-8E51-B485-EF56-D801DB5B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 și direcții viitoare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F1E8AA-2BBA-69C1-2B6E-6E988EC232D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FB158-A661-89FD-01CA-60C06B1CFE05}"/>
              </a:ext>
            </a:extLst>
          </p:cNvPr>
          <p:cNvSpPr txBox="1"/>
          <p:nvPr/>
        </p:nvSpPr>
        <p:spPr>
          <a:xfrm>
            <a:off x="260394" y="1624431"/>
            <a:ext cx="3024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895243" lvl="1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457D5F-0912-8CC1-7EFF-A43E25FC2E10}"/>
              </a:ext>
            </a:extLst>
          </p:cNvPr>
          <p:cNvSpPr/>
          <p:nvPr/>
        </p:nvSpPr>
        <p:spPr>
          <a:xfrm>
            <a:off x="477788" y="1321349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399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F0B59-4C7B-997B-D3B4-5FAD8A3FB2DD}"/>
              </a:ext>
            </a:extLst>
          </p:cNvPr>
          <p:cNvSpPr txBox="1"/>
          <p:nvPr/>
        </p:nvSpPr>
        <p:spPr>
          <a:xfrm>
            <a:off x="1125860" y="1435503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Concluzii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5AE889-D72C-772A-B135-FAA5C9AD1D55}"/>
              </a:ext>
            </a:extLst>
          </p:cNvPr>
          <p:cNvSpPr/>
          <p:nvPr/>
        </p:nvSpPr>
        <p:spPr>
          <a:xfrm>
            <a:off x="6454452" y="1311677"/>
            <a:ext cx="4951710" cy="4316876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2E2A3-9FF1-0CF2-1A56-267560433FDA}"/>
              </a:ext>
            </a:extLst>
          </p:cNvPr>
          <p:cNvSpPr txBox="1"/>
          <p:nvPr/>
        </p:nvSpPr>
        <p:spPr>
          <a:xfrm>
            <a:off x="6958508" y="1452872"/>
            <a:ext cx="380900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 err="1">
                <a:solidFill>
                  <a:srgbClr val="007554"/>
                </a:solidFill>
                <a:latin typeface="Arial" panose="020B0604020202020204" pitchFamily="34" charset="0"/>
              </a:rPr>
              <a:t>Direc</a:t>
            </a:r>
            <a:r>
              <a:rPr lang="ro-RO" b="1" dirty="0">
                <a:solidFill>
                  <a:srgbClr val="007554"/>
                </a:solidFill>
                <a:latin typeface="Arial" panose="020B0604020202020204" pitchFamily="34" charset="0"/>
              </a:rPr>
              <a:t>ții viitoare</a:t>
            </a:r>
            <a:endParaRPr lang="en-US" b="1" dirty="0">
              <a:solidFill>
                <a:srgbClr val="007554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1CF45-B656-9ED2-AC16-C4E66AA64FD7}"/>
              </a:ext>
            </a:extLst>
          </p:cNvPr>
          <p:cNvSpPr txBox="1"/>
          <p:nvPr/>
        </p:nvSpPr>
        <p:spPr>
          <a:xfrm>
            <a:off x="981844" y="1959745"/>
            <a:ext cx="41764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Dezvoltarea</a:t>
            </a:r>
            <a:r>
              <a:rPr lang="en-US" sz="1600" dirty="0"/>
              <a:t> </a:t>
            </a:r>
            <a:r>
              <a:rPr lang="en-US" sz="1600" dirty="0" err="1"/>
              <a:t>unui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complet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automatizat</a:t>
            </a:r>
            <a:r>
              <a:rPr lang="en-US" sz="1600" dirty="0"/>
              <a:t> de </a:t>
            </a:r>
            <a:r>
              <a:rPr lang="en-US" sz="1600" dirty="0" err="1"/>
              <a:t>triaj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2 </a:t>
            </a:r>
            <a:r>
              <a:rPr lang="en-US" sz="1600" dirty="0" err="1"/>
              <a:t>stadii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Evidențierea</a:t>
            </a:r>
            <a:r>
              <a:rPr lang="en-US" sz="1600" dirty="0"/>
              <a:t> </a:t>
            </a:r>
            <a:r>
              <a:rPr lang="en-US" sz="1600" dirty="0" err="1"/>
              <a:t>eficientă</a:t>
            </a:r>
            <a:r>
              <a:rPr lang="en-US" sz="1600" dirty="0"/>
              <a:t> a </a:t>
            </a:r>
            <a:r>
              <a:rPr lang="en-US" sz="1600" dirty="0" err="1"/>
              <a:t>leziunilor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preprocesare</a:t>
            </a:r>
            <a:r>
              <a:rPr lang="en-US" sz="1600" dirty="0"/>
              <a:t> (Tight Crop + Ben Graham).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/>
              <a:t>Eliminarea dezechilibrului de date prin augmentare offline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/>
              <a:t>Minimizarea erorilor medicale (Fals Negative) prin ajustarea pragului 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Validarea</a:t>
            </a:r>
            <a:r>
              <a:rPr lang="en-US" sz="1600" dirty="0"/>
              <a:t> </a:t>
            </a:r>
            <a:r>
              <a:rPr lang="en-US" sz="1600" dirty="0" err="1"/>
              <a:t>eficienței</a:t>
            </a:r>
            <a:r>
              <a:rPr lang="en-US" sz="1600" dirty="0"/>
              <a:t> </a:t>
            </a:r>
            <a:r>
              <a:rPr lang="en-US" sz="1600" dirty="0" err="1"/>
              <a:t>tehnicii</a:t>
            </a:r>
            <a:r>
              <a:rPr lang="en-US" sz="1600" dirty="0"/>
              <a:t> de Transfer Learning (</a:t>
            </a:r>
            <a:r>
              <a:rPr lang="en-US" sz="1600" dirty="0" err="1"/>
              <a:t>EfficientNet</a:t>
            </a:r>
            <a:r>
              <a:rPr lang="en-US" sz="1600" dirty="0"/>
              <a:t>/</a:t>
            </a:r>
            <a:r>
              <a:rPr lang="en-US" sz="1600" dirty="0" err="1"/>
              <a:t>ResNet</a:t>
            </a:r>
            <a:r>
              <a:rPr lang="en-US" sz="16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FF54A5-982E-CEDA-6FC0-3747BF0BA17B}"/>
              </a:ext>
            </a:extLst>
          </p:cNvPr>
          <p:cNvSpPr txBox="1"/>
          <p:nvPr/>
        </p:nvSpPr>
        <p:spPr>
          <a:xfrm>
            <a:off x="6842075" y="2059281"/>
            <a:ext cx="417646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Integrarea</a:t>
            </a:r>
            <a:r>
              <a:rPr lang="en-US" sz="1600" dirty="0"/>
              <a:t> Explainable AI (Grad-CAM) </a:t>
            </a:r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vizualiza</a:t>
            </a:r>
            <a:r>
              <a:rPr lang="en-US" sz="1600" dirty="0"/>
              <a:t> pe imagine </a:t>
            </a:r>
            <a:r>
              <a:rPr lang="en-US" sz="1600" dirty="0" err="1"/>
              <a:t>deciziile</a:t>
            </a:r>
            <a:r>
              <a:rPr lang="en-US" sz="1600" dirty="0"/>
              <a:t> </a:t>
            </a:r>
            <a:r>
              <a:rPr lang="en-US" sz="1600" dirty="0" err="1"/>
              <a:t>rețelei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Antrenarea</a:t>
            </a:r>
            <a:r>
              <a:rPr lang="en-US" sz="1600" dirty="0"/>
              <a:t> </a:t>
            </a:r>
            <a:r>
              <a:rPr lang="en-US" sz="1600" dirty="0" err="1"/>
              <a:t>modelului</a:t>
            </a:r>
            <a:r>
              <a:rPr lang="en-US" sz="1600" dirty="0"/>
              <a:t> pe </a:t>
            </a:r>
            <a:r>
              <a:rPr lang="en-US" sz="1600" dirty="0" err="1"/>
              <a:t>seturi</a:t>
            </a:r>
            <a:r>
              <a:rPr lang="en-US" sz="1600" dirty="0"/>
              <a:t> externe de date (APTOS, </a:t>
            </a:r>
            <a:r>
              <a:rPr lang="en-US" sz="1600" dirty="0" err="1"/>
              <a:t>Messidor</a:t>
            </a:r>
            <a:r>
              <a:rPr lang="en-US" sz="1600" dirty="0"/>
              <a:t>) </a:t>
            </a:r>
            <a:r>
              <a:rPr lang="en-US" sz="1600" dirty="0" err="1"/>
              <a:t>pentru</a:t>
            </a:r>
            <a:r>
              <a:rPr lang="en-US" sz="1600" dirty="0"/>
              <a:t> o </a:t>
            </a:r>
            <a:r>
              <a:rPr lang="en-US" sz="1600" dirty="0" err="1"/>
              <a:t>generalizare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bună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RO" sz="1600" dirty="0"/>
              <a:t>Îmbunătățirea augmentărilor pentru a reproduce mai potrivit diversitatea imaginilor fundus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Explorarea</a:t>
            </a:r>
            <a:r>
              <a:rPr lang="en-US" sz="1600" dirty="0"/>
              <a:t> </a:t>
            </a:r>
            <a:r>
              <a:rPr lang="en-US" sz="1600" dirty="0" err="1"/>
              <a:t>arhitecturilor</a:t>
            </a:r>
            <a:r>
              <a:rPr lang="en-US" sz="1600" dirty="0"/>
              <a:t> de </a:t>
            </a:r>
            <a:r>
              <a:rPr lang="en-US" sz="1600" dirty="0" err="1"/>
              <a:t>ultimă</a:t>
            </a:r>
            <a:r>
              <a:rPr lang="en-US" sz="1600" dirty="0"/>
              <a:t> </a:t>
            </a:r>
            <a:r>
              <a:rPr lang="en-US" sz="1600" dirty="0" err="1"/>
              <a:t>generație</a:t>
            </a:r>
            <a:r>
              <a:rPr lang="en-US" sz="1600" dirty="0"/>
              <a:t>, precum Vision Transformers (</a:t>
            </a:r>
            <a:r>
              <a:rPr lang="en-US" sz="1600" dirty="0" err="1"/>
              <a:t>ViT</a:t>
            </a:r>
            <a:r>
              <a:rPr lang="en-US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87515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6D33-5C2C-3465-07E7-4022EF3D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3073459"/>
            <a:ext cx="10969943" cy="71108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Mul</a:t>
            </a:r>
            <a:r>
              <a:rPr lang="ro-RO" dirty="0">
                <a:solidFill>
                  <a:schemeClr val="bg1"/>
                </a:solidFill>
              </a:rPr>
              <a:t>ț</a:t>
            </a:r>
            <a:r>
              <a:rPr lang="en-US" dirty="0" err="1">
                <a:solidFill>
                  <a:schemeClr val="bg1"/>
                </a:solidFill>
              </a:rPr>
              <a:t>umesc</a:t>
            </a:r>
            <a:r>
              <a:rPr lang="en-US" dirty="0">
                <a:solidFill>
                  <a:schemeClr val="bg1"/>
                </a:solidFill>
              </a:rPr>
              <a:t>!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8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187C0"/>
      </a:accent1>
      <a:accent2>
        <a:srgbClr val="57687B"/>
      </a:accent2>
      <a:accent3>
        <a:srgbClr val="359CDB"/>
      </a:accent3>
      <a:accent4>
        <a:srgbClr val="F4AB1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10114</TotalTime>
  <Words>835</Words>
  <Application>Microsoft Office PowerPoint</Application>
  <PresentationFormat>Custom</PresentationFormat>
  <Paragraphs>186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Open Sans</vt:lpstr>
      <vt:lpstr>Wingdings</vt:lpstr>
      <vt:lpstr>Office Theme</vt:lpstr>
      <vt:lpstr>PowerPoint Presentation</vt:lpstr>
      <vt:lpstr>Cuprins</vt:lpstr>
      <vt:lpstr>Motivație și obiective</vt:lpstr>
      <vt:lpstr>PowerPoint Presentation</vt:lpstr>
      <vt:lpstr>Introducere</vt:lpstr>
      <vt:lpstr>Retinopatia diabetică și imaginile fundus</vt:lpstr>
      <vt:lpstr>Date utilizate și preprocesări</vt:lpstr>
      <vt:lpstr>Date utilizate</vt:lpstr>
      <vt:lpstr>Preprocesări și augmentări</vt:lpstr>
      <vt:lpstr>Schema bloc a sistemului</vt:lpstr>
      <vt:lpstr>Schema bloc a sistemului</vt:lpstr>
      <vt:lpstr>Arhitecturi utilizate</vt:lpstr>
      <vt:lpstr>Arhitectura principală pentru experimente</vt:lpstr>
      <vt:lpstr>PowerPoint Presentation</vt:lpstr>
      <vt:lpstr>Sistem final în două etape</vt:lpstr>
      <vt:lpstr>Sistem final în două etape</vt:lpstr>
      <vt:lpstr>Rezultate experimentale</vt:lpstr>
      <vt:lpstr>Experimente dataseturi</vt:lpstr>
      <vt:lpstr>Experimente dataseturi</vt:lpstr>
      <vt:lpstr>Model principal – etapa binara</vt:lpstr>
      <vt:lpstr>Model principal – etapa binara</vt:lpstr>
      <vt:lpstr>Data leakage</vt:lpstr>
      <vt:lpstr>Concluzii și direcții viitoare</vt:lpstr>
      <vt:lpstr>Concluzii și direcții viitoare</vt:lpstr>
      <vt:lpstr>Mulțumesc! 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gregsoft16@outlook.com</cp:lastModifiedBy>
  <cp:revision>189</cp:revision>
  <dcterms:created xsi:type="dcterms:W3CDTF">2013-09-12T13:05:01Z</dcterms:created>
  <dcterms:modified xsi:type="dcterms:W3CDTF">2026-06-15T21:21:16Z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2024-06-28T06:31:40Z</vt:lpwstr>
  </property>
  <property fmtid="{D5CDD505-2E9C-101B-9397-08002B2CF9AE}" pid="4" name="MSIP_Label_a15a25aa-e944-415d-b7a7-40f6b9180b6b_Method">
    <vt:lpwstr>Standard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d9e9e18e-9f8a-4739-adfc-395e71d206c1</vt:lpwstr>
  </property>
  <property fmtid="{D5CDD505-2E9C-101B-9397-08002B2CF9AE}" pid="8" name="MSIP_Label_a15a25aa-e944-415d-b7a7-40f6b9180b6b_ContentBits">
    <vt:lpwstr>0</vt:lpwstr>
  </property>
</Properties>
</file>