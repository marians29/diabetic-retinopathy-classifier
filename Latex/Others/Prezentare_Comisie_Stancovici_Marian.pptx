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81" r:id="rId2"/>
    <p:sldId id="278" r:id="rId3"/>
    <p:sldId id="297" r:id="rId4"/>
    <p:sldId id="298" r:id="rId5"/>
    <p:sldId id="300" r:id="rId6"/>
    <p:sldId id="302" r:id="rId7"/>
    <p:sldId id="304" r:id="rId8"/>
    <p:sldId id="315" r:id="rId9"/>
    <p:sldId id="303" r:id="rId10"/>
    <p:sldId id="306" r:id="rId11"/>
    <p:sldId id="307" r:id="rId12"/>
    <p:sldId id="311" r:id="rId13"/>
    <p:sldId id="31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72" y="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3D9289-87BD-4E1F-A556-439596599965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2978AD-F8A4-4F0A-9175-D8B309EB20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971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https://pixabay.com/en/seminar-lecture-study-student-2654142/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124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https://pixabay.com/en/books-science-shelf-library-book-408220/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0417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4853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9994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134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625B5-868C-377F-9E85-F59B701FA0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EC29BF-4E20-5150-CF5C-5F7E857146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7FE0B-19C3-800E-AADC-D24922BAF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04BB7-F0EE-49A5-AC9C-FE01818B5651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82EE06-E454-4D49-F381-5AD99E73B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D16617-1174-356E-83F6-A85D1927A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375F9-F0B5-41A6-9756-831416FB0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701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4093D-C448-1CA8-C867-66958B408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4CACB-F059-48A1-294E-34486CFF0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E39C5-1E0E-D350-B85F-4AA5484B7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04BB7-F0EE-49A5-AC9C-FE01818B5651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92B17-E123-34C4-E317-E266D08C0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55836-EA9A-641C-DC9C-D41D02036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375F9-F0B5-41A6-9756-831416FB0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686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1098B-1D03-B64F-E7CD-A786164FC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1B3181-150D-6FB7-0104-9EBEBEEA6F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BE2B3-73CD-E38C-2553-F5CE9EBE7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04BB7-F0EE-49A5-AC9C-FE01818B5651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3C9614-C613-378A-6489-BBD9F2ADC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948EBF-6962-0A87-C4FB-BC5249534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375F9-F0B5-41A6-9756-831416FB0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591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3EE59-ADE8-3334-A2E2-E182F828D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F35A2-371A-871E-45EF-7E2ACDC6FF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29BA93-D65F-0CFE-885E-04C517F15D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17B135-D25D-412B-AE85-93B438600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04BB7-F0EE-49A5-AC9C-FE01818B5651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F6F7FC-A3DA-5E0A-F894-014C20DFF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8D6895-2C29-8E4B-22BB-B48835F70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375F9-F0B5-41A6-9756-831416FB0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121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7F503-8394-833B-7834-67952AB61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944DA-92D4-BAC9-9461-3D86FE77C4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78BDED-918D-2EEB-461D-EC18965ADB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04F4AC-A41A-D434-4636-34AF4146A2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470BAA-A376-73CD-E696-E1F78C7D84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BA5044-C9AF-B867-4A11-2AC9DF5E4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04BB7-F0EE-49A5-AC9C-FE01818B5651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DD22A4-1A03-15A1-2D42-3745DE063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018973-1980-399F-56FC-48A1DEEDF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375F9-F0B5-41A6-9756-831416FB0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682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48D17-E401-2F7C-4DF1-BBD640730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C6EA32-5678-9C76-1FB9-B9B08D6F7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04BB7-F0EE-49A5-AC9C-FE01818B5651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F85433-36F2-68FA-E433-A07E22F31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D0B636-6BBA-9751-F107-6FDDB0E58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375F9-F0B5-41A6-9756-831416FB0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583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F4A4E4-8641-9E3B-50AA-409D8130D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04BB7-F0EE-49A5-AC9C-FE01818B5651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ECD7BC-ABF7-499D-A1F9-1FC0D47A6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EAA86-C938-35C0-7D1E-9F960A7AD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375F9-F0B5-41A6-9756-831416FB0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305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305AE-0ED4-3710-D231-C7C78E6A9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60C1F-417E-FAF8-DC42-D9A2C17D1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1B29B0-4E9D-8543-2683-785D9B8FE8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8418D4-4276-0747-3B2D-4AB13F30F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04BB7-F0EE-49A5-AC9C-FE01818B5651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8E36D0-4F7D-EB10-35DC-8645682F3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8F22D6-709C-995D-B9DA-D6EF64B3F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375F9-F0B5-41A6-9756-831416FB0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500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DFFA2-7BCE-707C-54DA-56886AF4A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2AB2A5-A4EE-05F8-E2E2-AE0B7202B0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6C15A9-FA92-5AB9-CBE0-FD0F05E798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593D88-967F-C3A9-ED79-5B39548DC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04BB7-F0EE-49A5-AC9C-FE01818B5651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F761AA-771E-EA00-0346-17EB35EA7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0E0555-5690-F45C-3A4D-75900E2AE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375F9-F0B5-41A6-9756-831416FB0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429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15B7D-F805-3722-CB33-E50B9DA29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32B3B6-9A50-74AA-7199-8196D6E409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FBB2D4-25CA-A588-5EC9-967BCDBA5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04BB7-F0EE-49A5-AC9C-FE01818B5651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0A585-FEFF-72EB-65EA-F3576D88E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9D1540-4A1E-8D3A-F446-4BE60F991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375F9-F0B5-41A6-9756-831416FB0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562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AFBAA2-69C6-CA4D-4613-7930D0593A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FEBA61-A4EF-EE8E-6E66-7D676FB3A3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05D075-F9E6-58D7-3841-C7196E35A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04BB7-F0EE-49A5-AC9C-FE01818B5651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40D79-2325-F896-8468-2B4B48E23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DE013-84CA-4546-812C-545A226D6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375F9-F0B5-41A6-9756-831416FB0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109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EC25F9-6FD2-D1B1-5681-C3DE5B83D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EC5F41-75D6-23BE-5D30-4AC1969AE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B2F712-DCCE-6C9C-878B-02E9AE4B20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E04BB7-F0EE-49A5-AC9C-FE01818B5651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402067-A157-04CD-D2C1-47C4589E9C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A35B95-6C21-744C-E64D-CC6EEFCA45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4375F9-F0B5-41A6-9756-831416FB01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159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3E9450E-1461-29CA-83C0-1ADA782FEB8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B00E35-003E-CFEE-4BA9-5F84794695B2}"/>
              </a:ext>
            </a:extLst>
          </p:cNvPr>
          <p:cNvSpPr/>
          <p:nvPr/>
        </p:nvSpPr>
        <p:spPr>
          <a:xfrm>
            <a:off x="0" y="0"/>
            <a:ext cx="12192000" cy="1168400"/>
          </a:xfrm>
          <a:prstGeom prst="rect">
            <a:avLst/>
          </a:prstGeom>
          <a:solidFill>
            <a:srgbClr val="00755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5B0E8D-94C4-7752-F5EA-587E0101F40C}"/>
              </a:ext>
            </a:extLst>
          </p:cNvPr>
          <p:cNvSpPr/>
          <p:nvPr/>
        </p:nvSpPr>
        <p:spPr>
          <a:xfrm>
            <a:off x="0" y="5689600"/>
            <a:ext cx="12192000" cy="1168400"/>
          </a:xfrm>
          <a:prstGeom prst="rect">
            <a:avLst/>
          </a:prstGeom>
          <a:solidFill>
            <a:srgbClr val="00755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51C4BD-A012-6C7D-17EF-717EC5347CD7}"/>
              </a:ext>
            </a:extLst>
          </p:cNvPr>
          <p:cNvSpPr/>
          <p:nvPr/>
        </p:nvSpPr>
        <p:spPr>
          <a:xfrm>
            <a:off x="0" y="1168400"/>
            <a:ext cx="279400" cy="4521200"/>
          </a:xfrm>
          <a:prstGeom prst="rect">
            <a:avLst/>
          </a:prstGeom>
          <a:solidFill>
            <a:srgbClr val="00554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099E62-5D33-ABD4-F9BF-F7DD1CDF8DB2}"/>
              </a:ext>
            </a:extLst>
          </p:cNvPr>
          <p:cNvSpPr txBox="1"/>
          <p:nvPr/>
        </p:nvSpPr>
        <p:spPr>
          <a:xfrm>
            <a:off x="965200" y="1905000"/>
            <a:ext cx="9906000" cy="98488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200" b="1" dirty="0">
                <a:solidFill>
                  <a:srgbClr val="263034"/>
                </a:solidFill>
                <a:latin typeface="Arial" panose="020B0604020202020204" pitchFamily="34" charset="0"/>
              </a:rPr>
              <a:t>Analiza </a:t>
            </a:r>
            <a:r>
              <a:rPr lang="en-US" sz="3200" b="1" dirty="0" err="1">
                <a:solidFill>
                  <a:srgbClr val="263034"/>
                </a:solidFill>
                <a:latin typeface="Arial" panose="020B0604020202020204" pitchFamily="34" charset="0"/>
              </a:rPr>
              <a:t>imaginilor</a:t>
            </a:r>
            <a:r>
              <a:rPr lang="en-US" sz="3200" b="1" dirty="0">
                <a:solidFill>
                  <a:srgbClr val="263034"/>
                </a:solidFill>
                <a:latin typeface="Arial" panose="020B0604020202020204" pitchFamily="34" charset="0"/>
              </a:rPr>
              <a:t> cu fund de </a:t>
            </a:r>
            <a:r>
              <a:rPr lang="en-US" sz="3200" b="1" dirty="0" err="1">
                <a:solidFill>
                  <a:srgbClr val="263034"/>
                </a:solidFill>
                <a:latin typeface="Arial" panose="020B0604020202020204" pitchFamily="34" charset="0"/>
              </a:rPr>
              <a:t>ochi</a:t>
            </a:r>
            <a:r>
              <a:rPr lang="en-US" sz="3200" b="1" dirty="0">
                <a:solidFill>
                  <a:srgbClr val="263034"/>
                </a:solidFill>
                <a:latin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263034"/>
                </a:solidFill>
                <a:latin typeface="Arial" panose="020B0604020202020204" pitchFamily="34" charset="0"/>
              </a:rPr>
              <a:t>pentru</a:t>
            </a:r>
            <a:r>
              <a:rPr lang="en-US" sz="3200" b="1" dirty="0">
                <a:solidFill>
                  <a:srgbClr val="263034"/>
                </a:solidFill>
                <a:latin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263034"/>
                </a:solidFill>
                <a:latin typeface="Arial" panose="020B0604020202020204" pitchFamily="34" charset="0"/>
              </a:rPr>
              <a:t>ajutor</a:t>
            </a:r>
            <a:r>
              <a:rPr lang="en-US" sz="3200" b="1" dirty="0">
                <a:solidFill>
                  <a:srgbClr val="263034"/>
                </a:solidFill>
                <a:latin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263034"/>
                </a:solidFill>
                <a:latin typeface="Arial" panose="020B0604020202020204" pitchFamily="34" charset="0"/>
              </a:rPr>
              <a:t>în</a:t>
            </a:r>
            <a:r>
              <a:rPr lang="en-US" sz="3200" b="1" dirty="0">
                <a:solidFill>
                  <a:srgbClr val="263034"/>
                </a:solidFill>
                <a:latin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263034"/>
                </a:solidFill>
                <a:latin typeface="Arial" panose="020B0604020202020204" pitchFamily="34" charset="0"/>
              </a:rPr>
              <a:t>diagnosticul</a:t>
            </a:r>
            <a:r>
              <a:rPr lang="en-US" sz="3200" b="1" dirty="0">
                <a:solidFill>
                  <a:srgbClr val="263034"/>
                </a:solidFill>
                <a:latin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263034"/>
                </a:solidFill>
                <a:latin typeface="Arial" panose="020B0604020202020204" pitchFamily="34" charset="0"/>
              </a:rPr>
              <a:t>retinopatiei</a:t>
            </a:r>
            <a:r>
              <a:rPr lang="en-US" sz="3200" b="1" dirty="0">
                <a:solidFill>
                  <a:srgbClr val="263034"/>
                </a:solidFill>
                <a:latin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263034"/>
                </a:solidFill>
                <a:latin typeface="Arial" panose="020B0604020202020204" pitchFamily="34" charset="0"/>
              </a:rPr>
              <a:t>diabetice</a:t>
            </a:r>
            <a:endParaRPr lang="en-US" sz="3200" b="1" dirty="0">
              <a:solidFill>
                <a:srgbClr val="263034"/>
              </a:solidFill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660AD0-16E8-B994-6FC6-CECF80138252}"/>
              </a:ext>
            </a:extLst>
          </p:cNvPr>
          <p:cNvSpPr txBox="1"/>
          <p:nvPr/>
        </p:nvSpPr>
        <p:spPr>
          <a:xfrm>
            <a:off x="1016000" y="3505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007554"/>
                </a:solidFill>
                <a:latin typeface="Arial" panose="020B0604020202020204" pitchFamily="34" charset="0"/>
              </a:rPr>
              <a:t>Disertație master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34B17A-2125-E6C0-00FA-FE84859AF45F}"/>
              </a:ext>
            </a:extLst>
          </p:cNvPr>
          <p:cNvSpPr txBox="1"/>
          <p:nvPr/>
        </p:nvSpPr>
        <p:spPr>
          <a:xfrm>
            <a:off x="1016000" y="4140200"/>
            <a:ext cx="4826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263034"/>
                </a:solidFill>
                <a:latin typeface="Arial" panose="020B0604020202020204" pitchFamily="34" charset="0"/>
              </a:rPr>
              <a:t>Student: Stancovici Marian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96C900-0F3E-3595-1218-8ACFEA6C1503}"/>
              </a:ext>
            </a:extLst>
          </p:cNvPr>
          <p:cNvSpPr txBox="1"/>
          <p:nvPr/>
        </p:nvSpPr>
        <p:spPr>
          <a:xfrm>
            <a:off x="1016000" y="4495800"/>
            <a:ext cx="660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600" dirty="0">
                <a:solidFill>
                  <a:srgbClr val="263034"/>
                </a:solidFill>
                <a:latin typeface="Arial" panose="020B0604020202020204" pitchFamily="34" charset="0"/>
              </a:rPr>
              <a:t>Coordonator: Conf. dr. ing. Laura Maria Florea</a:t>
            </a:r>
            <a:endParaRPr lang="en-US" sz="1600" dirty="0">
              <a:solidFill>
                <a:srgbClr val="263034"/>
              </a:solidFill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32BA3B-F728-154E-94E8-D357AF80CB00}"/>
              </a:ext>
            </a:extLst>
          </p:cNvPr>
          <p:cNvSpPr txBox="1"/>
          <p:nvPr/>
        </p:nvSpPr>
        <p:spPr>
          <a:xfrm>
            <a:off x="1016000" y="4851400"/>
            <a:ext cx="8382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dirty="0" err="1">
                <a:solidFill>
                  <a:srgbClr val="5C696E"/>
                </a:solidFill>
                <a:latin typeface="Arial" panose="020B0604020202020204" pitchFamily="34" charset="0"/>
              </a:rPr>
              <a:t>Facultatea</a:t>
            </a:r>
            <a:r>
              <a:rPr lang="en-US" sz="1400" dirty="0">
                <a:solidFill>
                  <a:srgbClr val="5C696E"/>
                </a:solidFill>
                <a:latin typeface="Arial" panose="020B0604020202020204" pitchFamily="34" charset="0"/>
              </a:rPr>
              <a:t> de </a:t>
            </a:r>
            <a:r>
              <a:rPr lang="en-US" sz="1400" dirty="0" err="1">
                <a:solidFill>
                  <a:srgbClr val="5C696E"/>
                </a:solidFill>
                <a:latin typeface="Arial" panose="020B0604020202020204" pitchFamily="34" charset="0"/>
              </a:rPr>
              <a:t>Electronică</a:t>
            </a:r>
            <a:r>
              <a:rPr lang="en-US" sz="1400" dirty="0">
                <a:solidFill>
                  <a:srgbClr val="5C696E"/>
                </a:solidFill>
                <a:latin typeface="Arial" panose="020B0604020202020204" pitchFamily="34" charset="0"/>
              </a:rPr>
              <a:t>, </a:t>
            </a:r>
            <a:r>
              <a:rPr lang="en-US" sz="1400" dirty="0" err="1">
                <a:solidFill>
                  <a:srgbClr val="5C696E"/>
                </a:solidFill>
                <a:latin typeface="Arial" panose="020B0604020202020204" pitchFamily="34" charset="0"/>
              </a:rPr>
              <a:t>Telecomunicații</a:t>
            </a:r>
            <a:r>
              <a:rPr lang="en-US" sz="1400" dirty="0">
                <a:solidFill>
                  <a:srgbClr val="5C696E"/>
                </a:solidFill>
                <a:latin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5C696E"/>
                </a:solidFill>
                <a:latin typeface="Arial" panose="020B0604020202020204" pitchFamily="34" charset="0"/>
              </a:rPr>
              <a:t>și</a:t>
            </a:r>
            <a:r>
              <a:rPr lang="en-US" sz="1400" dirty="0">
                <a:solidFill>
                  <a:srgbClr val="5C696E"/>
                </a:solidFill>
                <a:latin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5C696E"/>
                </a:solidFill>
                <a:latin typeface="Arial" panose="020B0604020202020204" pitchFamily="34" charset="0"/>
              </a:rPr>
              <a:t>Tehnologia</a:t>
            </a:r>
            <a:r>
              <a:rPr lang="en-US" sz="1400" dirty="0">
                <a:solidFill>
                  <a:srgbClr val="5C696E"/>
                </a:solidFill>
                <a:latin typeface="Arial" panose="020B0604020202020204" pitchFamily="34" charset="0"/>
              </a:rPr>
              <a:t> </a:t>
            </a:r>
            <a:r>
              <a:rPr lang="en-US" sz="1400" dirty="0" err="1">
                <a:solidFill>
                  <a:srgbClr val="5C696E"/>
                </a:solidFill>
                <a:latin typeface="Arial" panose="020B0604020202020204" pitchFamily="34" charset="0"/>
              </a:rPr>
              <a:t>Informației</a:t>
            </a:r>
            <a:endParaRPr lang="en-US" sz="1400" dirty="0">
              <a:solidFill>
                <a:srgbClr val="5C696E"/>
              </a:solidFill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A905A8-BB50-F75A-BBA1-84717B78FB67}"/>
              </a:ext>
            </a:extLst>
          </p:cNvPr>
          <p:cNvSpPr txBox="1"/>
          <p:nvPr/>
        </p:nvSpPr>
        <p:spPr>
          <a:xfrm>
            <a:off x="1016000" y="5207000"/>
            <a:ext cx="2286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5C696E"/>
                </a:solidFill>
                <a:latin typeface="Arial" panose="020B0604020202020204" pitchFamily="34" charset="0"/>
              </a:rPr>
              <a:t>Iunie 2026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EEF9B74-B27F-202E-EE6D-3B389AA47AA2}"/>
              </a:ext>
            </a:extLst>
          </p:cNvPr>
          <p:cNvSpPr/>
          <p:nvPr/>
        </p:nvSpPr>
        <p:spPr>
          <a:xfrm>
            <a:off x="8585200" y="3581400"/>
            <a:ext cx="2641600" cy="16891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2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6BB5E0E-717F-9AA9-38F5-9A7D48C8A9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7238" y="3632200"/>
            <a:ext cx="1697525" cy="158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338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4F62246-90D4-A1B7-53B8-533293BA4AE4}"/>
              </a:ext>
            </a:extLst>
          </p:cNvPr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00755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B4AF1F-AF39-2922-241C-07F3212CA53B}"/>
              </a:ext>
            </a:extLst>
          </p:cNvPr>
          <p:cNvSpPr txBox="1"/>
          <p:nvPr/>
        </p:nvSpPr>
        <p:spPr>
          <a:xfrm>
            <a:off x="533400" y="190500"/>
            <a:ext cx="9652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>
                <a:solidFill>
                  <a:srgbClr val="FFFFFF"/>
                </a:solidFill>
                <a:latin typeface="Arial" panose="020B0604020202020204" pitchFamily="34" charset="0"/>
              </a:rPr>
              <a:t>Cuprins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45B287-FBD1-6F3C-113E-9BAA516739E0}"/>
              </a:ext>
            </a:extLst>
          </p:cNvPr>
          <p:cNvSpPr txBox="1"/>
          <p:nvPr/>
        </p:nvSpPr>
        <p:spPr>
          <a:xfrm>
            <a:off x="11150600" y="177800"/>
            <a:ext cx="533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Arial" panose="020B0604020202020204" pitchFamily="34" charset="0"/>
              </a:rPr>
              <a:t>02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EC8798-CAF3-EB6C-2EE1-28B2FEBCDA80}"/>
              </a:ext>
            </a:extLst>
          </p:cNvPr>
          <p:cNvSpPr/>
          <p:nvPr/>
        </p:nvSpPr>
        <p:spPr>
          <a:xfrm>
            <a:off x="508000" y="914400"/>
            <a:ext cx="914400" cy="63500"/>
          </a:xfrm>
          <a:prstGeom prst="rect">
            <a:avLst/>
          </a:prstGeom>
          <a:solidFill>
            <a:srgbClr val="00755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D4053FF-510D-3749-D7C9-A6CFB0EF2F4B}"/>
              </a:ext>
            </a:extLst>
          </p:cNvPr>
          <p:cNvSpPr/>
          <p:nvPr/>
        </p:nvSpPr>
        <p:spPr>
          <a:xfrm>
            <a:off x="889000" y="1524000"/>
            <a:ext cx="4343400" cy="584200"/>
          </a:xfrm>
          <a:prstGeom prst="roundRect">
            <a:avLst/>
          </a:prstGeom>
          <a:solidFill>
            <a:srgbClr val="FFFFFF"/>
          </a:solidFill>
          <a:ln>
            <a:solidFill>
              <a:srgbClr val="DBE2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1FF50C-D070-E4AD-4D11-A5B23D323427}"/>
              </a:ext>
            </a:extLst>
          </p:cNvPr>
          <p:cNvSpPr txBox="1"/>
          <p:nvPr/>
        </p:nvSpPr>
        <p:spPr>
          <a:xfrm>
            <a:off x="1117600" y="1676400"/>
            <a:ext cx="533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007554"/>
                </a:solidFill>
                <a:latin typeface="Arial" panose="020B0604020202020204" pitchFamily="34" charset="0"/>
              </a:rPr>
              <a:t>01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F68DD7-297E-5CA4-7CB9-011B60A1586E}"/>
              </a:ext>
            </a:extLst>
          </p:cNvPr>
          <p:cNvSpPr txBox="1"/>
          <p:nvPr/>
        </p:nvSpPr>
        <p:spPr>
          <a:xfrm>
            <a:off x="1778000" y="1676400"/>
            <a:ext cx="3149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 dirty="0" err="1">
                <a:solidFill>
                  <a:srgbClr val="263034"/>
                </a:solidFill>
                <a:latin typeface="Arial" panose="020B0604020202020204" pitchFamily="34" charset="0"/>
              </a:rPr>
              <a:t>Motivație</a:t>
            </a:r>
            <a:r>
              <a:rPr lang="en-US" sz="1500" b="1" dirty="0">
                <a:solidFill>
                  <a:srgbClr val="263034"/>
                </a:solidFill>
                <a:latin typeface="Arial" panose="020B0604020202020204" pitchFamily="34" charset="0"/>
              </a:rPr>
              <a:t> </a:t>
            </a:r>
            <a:r>
              <a:rPr lang="en-US" sz="1500" b="1" dirty="0" err="1">
                <a:solidFill>
                  <a:srgbClr val="263034"/>
                </a:solidFill>
                <a:latin typeface="Arial" panose="020B0604020202020204" pitchFamily="34" charset="0"/>
              </a:rPr>
              <a:t>și</a:t>
            </a:r>
            <a:r>
              <a:rPr lang="en-US" sz="1500" b="1" dirty="0">
                <a:solidFill>
                  <a:srgbClr val="263034"/>
                </a:solidFill>
                <a:latin typeface="Arial" panose="020B0604020202020204" pitchFamily="34" charset="0"/>
              </a:rPr>
              <a:t> </a:t>
            </a:r>
            <a:r>
              <a:rPr lang="en-US" sz="1500" b="1" dirty="0" err="1">
                <a:solidFill>
                  <a:srgbClr val="263034"/>
                </a:solidFill>
                <a:latin typeface="Arial" panose="020B0604020202020204" pitchFamily="34" charset="0"/>
              </a:rPr>
              <a:t>obiective</a:t>
            </a:r>
            <a:endParaRPr lang="en-US" sz="1500" b="1" dirty="0">
              <a:solidFill>
                <a:srgbClr val="263034"/>
              </a:solidFill>
              <a:latin typeface="Arial" panose="020B06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BFF1168-C866-82A5-900B-8E2AA684EA7F}"/>
              </a:ext>
            </a:extLst>
          </p:cNvPr>
          <p:cNvSpPr/>
          <p:nvPr/>
        </p:nvSpPr>
        <p:spPr>
          <a:xfrm>
            <a:off x="6223000" y="1524000"/>
            <a:ext cx="4343400" cy="584200"/>
          </a:xfrm>
          <a:prstGeom prst="roundRect">
            <a:avLst/>
          </a:prstGeom>
          <a:solidFill>
            <a:srgbClr val="FFFFFF"/>
          </a:solidFill>
          <a:ln>
            <a:solidFill>
              <a:srgbClr val="DBE2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3EA3F3-8157-18A2-C589-FBFD170CD9B8}"/>
              </a:ext>
            </a:extLst>
          </p:cNvPr>
          <p:cNvSpPr txBox="1"/>
          <p:nvPr/>
        </p:nvSpPr>
        <p:spPr>
          <a:xfrm>
            <a:off x="6451600" y="1676400"/>
            <a:ext cx="533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007554"/>
                </a:solidFill>
                <a:latin typeface="Arial" panose="020B0604020202020204" pitchFamily="34" charset="0"/>
              </a:rPr>
              <a:t>02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B441A4-17B9-CB55-0B99-BB31D2A532DF}"/>
              </a:ext>
            </a:extLst>
          </p:cNvPr>
          <p:cNvSpPr txBox="1"/>
          <p:nvPr/>
        </p:nvSpPr>
        <p:spPr>
          <a:xfrm>
            <a:off x="7112000" y="1676400"/>
            <a:ext cx="3149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 dirty="0">
                <a:solidFill>
                  <a:srgbClr val="263034"/>
                </a:solidFill>
                <a:latin typeface="Arial" panose="020B0604020202020204" pitchFamily="34" charset="0"/>
              </a:rPr>
              <a:t>Date </a:t>
            </a:r>
            <a:r>
              <a:rPr lang="en-US" sz="1500" b="1" dirty="0" err="1">
                <a:solidFill>
                  <a:srgbClr val="263034"/>
                </a:solidFill>
                <a:latin typeface="Arial" panose="020B0604020202020204" pitchFamily="34" charset="0"/>
              </a:rPr>
              <a:t>utilizate</a:t>
            </a:r>
            <a:r>
              <a:rPr lang="en-US" sz="1500" b="1" dirty="0">
                <a:solidFill>
                  <a:srgbClr val="263034"/>
                </a:solidFill>
                <a:latin typeface="Arial" panose="020B0604020202020204" pitchFamily="34" charset="0"/>
              </a:rPr>
              <a:t> </a:t>
            </a:r>
            <a:r>
              <a:rPr lang="en-US" sz="1500" b="1" dirty="0" err="1">
                <a:solidFill>
                  <a:srgbClr val="263034"/>
                </a:solidFill>
                <a:latin typeface="Arial" panose="020B0604020202020204" pitchFamily="34" charset="0"/>
              </a:rPr>
              <a:t>și</a:t>
            </a:r>
            <a:r>
              <a:rPr lang="en-US" sz="1500" b="1" dirty="0">
                <a:solidFill>
                  <a:srgbClr val="263034"/>
                </a:solidFill>
                <a:latin typeface="Arial" panose="020B0604020202020204" pitchFamily="34" charset="0"/>
              </a:rPr>
              <a:t> </a:t>
            </a:r>
            <a:r>
              <a:rPr lang="en-US" sz="1500" b="1" dirty="0" err="1">
                <a:solidFill>
                  <a:srgbClr val="263034"/>
                </a:solidFill>
                <a:latin typeface="Arial" panose="020B0604020202020204" pitchFamily="34" charset="0"/>
              </a:rPr>
              <a:t>preprocesare</a:t>
            </a:r>
            <a:endParaRPr lang="en-US" sz="1500" b="1" dirty="0">
              <a:solidFill>
                <a:srgbClr val="263034"/>
              </a:solidFill>
              <a:latin typeface="Arial" panose="020B06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55B7AE9-0B29-C1CB-DA65-2A46D27D9326}"/>
              </a:ext>
            </a:extLst>
          </p:cNvPr>
          <p:cNvSpPr/>
          <p:nvPr/>
        </p:nvSpPr>
        <p:spPr>
          <a:xfrm>
            <a:off x="889000" y="2514600"/>
            <a:ext cx="4343400" cy="584200"/>
          </a:xfrm>
          <a:prstGeom prst="roundRect">
            <a:avLst/>
          </a:prstGeom>
          <a:solidFill>
            <a:srgbClr val="FFFFFF"/>
          </a:solidFill>
          <a:ln>
            <a:solidFill>
              <a:srgbClr val="DBE2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64463D7-ED86-0970-797F-0889E8071F71}"/>
              </a:ext>
            </a:extLst>
          </p:cNvPr>
          <p:cNvSpPr txBox="1"/>
          <p:nvPr/>
        </p:nvSpPr>
        <p:spPr>
          <a:xfrm>
            <a:off x="1117600" y="2667000"/>
            <a:ext cx="533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007554"/>
                </a:solidFill>
                <a:latin typeface="Arial" panose="020B0604020202020204" pitchFamily="34" charset="0"/>
              </a:rPr>
              <a:t>03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439E555-D0E4-F6B4-43BC-E27939483EBC}"/>
              </a:ext>
            </a:extLst>
          </p:cNvPr>
          <p:cNvSpPr txBox="1"/>
          <p:nvPr/>
        </p:nvSpPr>
        <p:spPr>
          <a:xfrm>
            <a:off x="1778000" y="2667000"/>
            <a:ext cx="3149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it-IT" sz="1500" b="1" dirty="0">
                <a:solidFill>
                  <a:srgbClr val="263034"/>
                </a:solidFill>
                <a:latin typeface="Arial" panose="020B0604020202020204" pitchFamily="34" charset="0"/>
              </a:rPr>
              <a:t>Controlul riscului de data leakage</a:t>
            </a:r>
            <a:endParaRPr lang="en-US" sz="1500" b="1" dirty="0">
              <a:solidFill>
                <a:srgbClr val="263034"/>
              </a:solidFill>
              <a:latin typeface="Arial" panose="020B0604020202020204" pitchFamily="34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11B057A-6192-8D9C-2F23-AC078CD90FC0}"/>
              </a:ext>
            </a:extLst>
          </p:cNvPr>
          <p:cNvSpPr/>
          <p:nvPr/>
        </p:nvSpPr>
        <p:spPr>
          <a:xfrm>
            <a:off x="6223000" y="2514600"/>
            <a:ext cx="4343400" cy="584200"/>
          </a:xfrm>
          <a:prstGeom prst="roundRect">
            <a:avLst/>
          </a:prstGeom>
          <a:solidFill>
            <a:srgbClr val="FFFFFF"/>
          </a:solidFill>
          <a:ln>
            <a:solidFill>
              <a:srgbClr val="DBE2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8C27D4D-B22C-C566-8463-D1EBED19320D}"/>
              </a:ext>
            </a:extLst>
          </p:cNvPr>
          <p:cNvSpPr txBox="1"/>
          <p:nvPr/>
        </p:nvSpPr>
        <p:spPr>
          <a:xfrm>
            <a:off x="6451600" y="2667000"/>
            <a:ext cx="533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007554"/>
                </a:solidFill>
                <a:latin typeface="Arial" panose="020B0604020202020204" pitchFamily="34" charset="0"/>
              </a:rPr>
              <a:t>04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42C1D5B-5C76-3589-16EC-BB1364E06930}"/>
              </a:ext>
            </a:extLst>
          </p:cNvPr>
          <p:cNvSpPr txBox="1"/>
          <p:nvPr/>
        </p:nvSpPr>
        <p:spPr>
          <a:xfrm>
            <a:off x="7112000" y="2667000"/>
            <a:ext cx="3149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 dirty="0" err="1">
                <a:solidFill>
                  <a:srgbClr val="263034"/>
                </a:solidFill>
                <a:latin typeface="Arial" panose="020B0604020202020204" pitchFamily="34" charset="0"/>
              </a:rPr>
              <a:t>Metodologia</a:t>
            </a:r>
            <a:r>
              <a:rPr lang="en-US" sz="1500" b="1" dirty="0">
                <a:solidFill>
                  <a:srgbClr val="263034"/>
                </a:solidFill>
                <a:latin typeface="Arial" panose="020B0604020202020204" pitchFamily="34" charset="0"/>
              </a:rPr>
              <a:t> </a:t>
            </a:r>
            <a:r>
              <a:rPr lang="en-US" sz="1500" b="1" dirty="0" err="1">
                <a:solidFill>
                  <a:srgbClr val="263034"/>
                </a:solidFill>
                <a:latin typeface="Arial" panose="020B0604020202020204" pitchFamily="34" charset="0"/>
              </a:rPr>
              <a:t>propusă</a:t>
            </a:r>
            <a:endParaRPr lang="en-US" sz="1500" b="1" dirty="0">
              <a:solidFill>
                <a:srgbClr val="263034"/>
              </a:solidFill>
              <a:latin typeface="Arial" panose="020B060402020202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FEE9B3B-F46B-445E-BECD-70F7EB9FC2F7}"/>
              </a:ext>
            </a:extLst>
          </p:cNvPr>
          <p:cNvSpPr/>
          <p:nvPr/>
        </p:nvSpPr>
        <p:spPr>
          <a:xfrm>
            <a:off x="889000" y="3467101"/>
            <a:ext cx="4343400" cy="584200"/>
          </a:xfrm>
          <a:prstGeom prst="roundRect">
            <a:avLst/>
          </a:prstGeom>
          <a:solidFill>
            <a:srgbClr val="FFFFFF"/>
          </a:solidFill>
          <a:ln>
            <a:solidFill>
              <a:srgbClr val="DBE2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4574342-EDC5-0C6C-EB01-9DF5DB746CD2}"/>
              </a:ext>
            </a:extLst>
          </p:cNvPr>
          <p:cNvSpPr txBox="1"/>
          <p:nvPr/>
        </p:nvSpPr>
        <p:spPr>
          <a:xfrm>
            <a:off x="1117600" y="3657600"/>
            <a:ext cx="533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007554"/>
                </a:solidFill>
                <a:latin typeface="Arial" panose="020B0604020202020204" pitchFamily="34" charset="0"/>
              </a:rPr>
              <a:t>05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9C2DE68-23B9-33DB-EB84-64DA6921B902}"/>
              </a:ext>
            </a:extLst>
          </p:cNvPr>
          <p:cNvSpPr txBox="1"/>
          <p:nvPr/>
        </p:nvSpPr>
        <p:spPr>
          <a:xfrm>
            <a:off x="1778000" y="3657600"/>
            <a:ext cx="3149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500" b="1" dirty="0">
                <a:solidFill>
                  <a:srgbClr val="263034"/>
                </a:solidFill>
                <a:latin typeface="Arial" panose="020B0604020202020204" pitchFamily="34" charset="0"/>
              </a:rPr>
              <a:t>Sistem final în două etape</a:t>
            </a:r>
            <a:endParaRPr lang="en-US" sz="1500" b="1" dirty="0">
              <a:solidFill>
                <a:srgbClr val="263034"/>
              </a:solidFill>
              <a:latin typeface="Arial" panose="020B0604020202020204" pitchFamily="34" charset="0"/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81300960-72FA-E38A-7F81-432D740A8A1A}"/>
              </a:ext>
            </a:extLst>
          </p:cNvPr>
          <p:cNvSpPr/>
          <p:nvPr/>
        </p:nvSpPr>
        <p:spPr>
          <a:xfrm>
            <a:off x="6223000" y="3505200"/>
            <a:ext cx="4343400" cy="584200"/>
          </a:xfrm>
          <a:prstGeom prst="roundRect">
            <a:avLst/>
          </a:prstGeom>
          <a:solidFill>
            <a:srgbClr val="FFFFFF"/>
          </a:solidFill>
          <a:ln>
            <a:solidFill>
              <a:srgbClr val="DBE2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CE84C19-6FD4-6302-F453-E0890A9741BA}"/>
              </a:ext>
            </a:extLst>
          </p:cNvPr>
          <p:cNvSpPr txBox="1"/>
          <p:nvPr/>
        </p:nvSpPr>
        <p:spPr>
          <a:xfrm>
            <a:off x="6451600" y="3657600"/>
            <a:ext cx="533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007554"/>
                </a:solidFill>
                <a:latin typeface="Arial" panose="020B0604020202020204" pitchFamily="34" charset="0"/>
              </a:rPr>
              <a:t>06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D5001A5-093C-1435-0FC1-D3FDCEF3D89C}"/>
              </a:ext>
            </a:extLst>
          </p:cNvPr>
          <p:cNvSpPr txBox="1"/>
          <p:nvPr/>
        </p:nvSpPr>
        <p:spPr>
          <a:xfrm>
            <a:off x="7112000" y="3657600"/>
            <a:ext cx="3149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 dirty="0" err="1">
                <a:solidFill>
                  <a:srgbClr val="263034"/>
                </a:solidFill>
                <a:latin typeface="Arial" panose="020B0604020202020204" pitchFamily="34" charset="0"/>
              </a:rPr>
              <a:t>Rezultate</a:t>
            </a:r>
            <a:r>
              <a:rPr lang="en-US" sz="1500" b="1" dirty="0">
                <a:solidFill>
                  <a:srgbClr val="263034"/>
                </a:solidFill>
                <a:latin typeface="Arial" panose="020B0604020202020204" pitchFamily="34" charset="0"/>
              </a:rPr>
              <a:t> </a:t>
            </a:r>
            <a:r>
              <a:rPr lang="en-US" sz="1500" b="1" dirty="0" err="1">
                <a:solidFill>
                  <a:srgbClr val="263034"/>
                </a:solidFill>
                <a:latin typeface="Arial" panose="020B0604020202020204" pitchFamily="34" charset="0"/>
              </a:rPr>
              <a:t>experimentale</a:t>
            </a:r>
            <a:endParaRPr lang="en-US" sz="1500" b="1" dirty="0">
              <a:solidFill>
                <a:srgbClr val="263034"/>
              </a:solidFill>
              <a:latin typeface="Arial" panose="020B0604020202020204" pitchFamily="34" charset="0"/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DF303CF2-6F26-67BD-6AC2-89F2EACFC2D0}"/>
              </a:ext>
            </a:extLst>
          </p:cNvPr>
          <p:cNvSpPr/>
          <p:nvPr/>
        </p:nvSpPr>
        <p:spPr>
          <a:xfrm>
            <a:off x="889000" y="4495800"/>
            <a:ext cx="4343400" cy="584200"/>
          </a:xfrm>
          <a:prstGeom prst="roundRect">
            <a:avLst/>
          </a:prstGeom>
          <a:solidFill>
            <a:srgbClr val="FFFFFF"/>
          </a:solidFill>
          <a:ln>
            <a:solidFill>
              <a:srgbClr val="DBE2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DB037BB-F8B5-4CB3-BEFE-11F113DDE002}"/>
              </a:ext>
            </a:extLst>
          </p:cNvPr>
          <p:cNvSpPr txBox="1"/>
          <p:nvPr/>
        </p:nvSpPr>
        <p:spPr>
          <a:xfrm>
            <a:off x="1117600" y="4648200"/>
            <a:ext cx="533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007554"/>
                </a:solidFill>
                <a:latin typeface="Arial" panose="020B0604020202020204" pitchFamily="34" charset="0"/>
              </a:rPr>
              <a:t>07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27BFB00-DDE9-D7FB-0D5C-7E561C6F7329}"/>
              </a:ext>
            </a:extLst>
          </p:cNvPr>
          <p:cNvSpPr txBox="1"/>
          <p:nvPr/>
        </p:nvSpPr>
        <p:spPr>
          <a:xfrm>
            <a:off x="1778000" y="4648200"/>
            <a:ext cx="3149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 dirty="0" err="1">
                <a:solidFill>
                  <a:srgbClr val="263034"/>
                </a:solidFill>
                <a:latin typeface="Arial" panose="020B0604020202020204" pitchFamily="34" charset="0"/>
              </a:rPr>
              <a:t>Aplicația</a:t>
            </a:r>
            <a:r>
              <a:rPr lang="en-US" sz="1500" b="1" dirty="0">
                <a:solidFill>
                  <a:srgbClr val="263034"/>
                </a:solidFill>
                <a:latin typeface="Arial" panose="020B0604020202020204" pitchFamily="34" charset="0"/>
              </a:rPr>
              <a:t> de </a:t>
            </a:r>
            <a:r>
              <a:rPr lang="en-US" sz="1500" b="1" dirty="0" err="1">
                <a:solidFill>
                  <a:srgbClr val="263034"/>
                </a:solidFill>
                <a:latin typeface="Arial" panose="020B0604020202020204" pitchFamily="34" charset="0"/>
              </a:rPr>
              <a:t>inferență</a:t>
            </a:r>
            <a:endParaRPr lang="en-US" sz="1500" b="1" dirty="0">
              <a:solidFill>
                <a:srgbClr val="263034"/>
              </a:solidFill>
              <a:latin typeface="Arial" panose="020B0604020202020204" pitchFamily="34" charset="0"/>
            </a:endParaRP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9396BD59-80F7-CBD8-2A84-8AFC445B2CBA}"/>
              </a:ext>
            </a:extLst>
          </p:cNvPr>
          <p:cNvSpPr/>
          <p:nvPr/>
        </p:nvSpPr>
        <p:spPr>
          <a:xfrm>
            <a:off x="6223000" y="4495800"/>
            <a:ext cx="4343400" cy="584200"/>
          </a:xfrm>
          <a:prstGeom prst="roundRect">
            <a:avLst/>
          </a:prstGeom>
          <a:solidFill>
            <a:srgbClr val="FFFFFF"/>
          </a:solidFill>
          <a:ln>
            <a:solidFill>
              <a:srgbClr val="DBE2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8D88E59-57F7-A22C-B261-B5645C04130B}"/>
              </a:ext>
            </a:extLst>
          </p:cNvPr>
          <p:cNvSpPr txBox="1"/>
          <p:nvPr/>
        </p:nvSpPr>
        <p:spPr>
          <a:xfrm>
            <a:off x="6451600" y="4648200"/>
            <a:ext cx="533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007554"/>
                </a:solidFill>
                <a:latin typeface="Arial" panose="020B0604020202020204" pitchFamily="34" charset="0"/>
              </a:rPr>
              <a:t>08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54685A6-A056-14D5-2EA3-9A817ACBB9DC}"/>
              </a:ext>
            </a:extLst>
          </p:cNvPr>
          <p:cNvSpPr txBox="1"/>
          <p:nvPr/>
        </p:nvSpPr>
        <p:spPr>
          <a:xfrm>
            <a:off x="7112000" y="4648200"/>
            <a:ext cx="3149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 dirty="0" err="1">
                <a:solidFill>
                  <a:srgbClr val="263034"/>
                </a:solidFill>
                <a:latin typeface="Arial" panose="020B0604020202020204" pitchFamily="34" charset="0"/>
              </a:rPr>
              <a:t>Concluzii</a:t>
            </a:r>
            <a:r>
              <a:rPr lang="en-US" sz="1500" b="1" dirty="0">
                <a:solidFill>
                  <a:srgbClr val="263034"/>
                </a:solidFill>
                <a:latin typeface="Arial" panose="020B0604020202020204" pitchFamily="34" charset="0"/>
              </a:rPr>
              <a:t> </a:t>
            </a:r>
            <a:r>
              <a:rPr lang="en-US" sz="1500" b="1" dirty="0" err="1">
                <a:solidFill>
                  <a:srgbClr val="263034"/>
                </a:solidFill>
                <a:latin typeface="Arial" panose="020B0604020202020204" pitchFamily="34" charset="0"/>
              </a:rPr>
              <a:t>și</a:t>
            </a:r>
            <a:r>
              <a:rPr lang="en-US" sz="1500" b="1" dirty="0">
                <a:solidFill>
                  <a:srgbClr val="263034"/>
                </a:solidFill>
                <a:latin typeface="Arial" panose="020B0604020202020204" pitchFamily="34" charset="0"/>
              </a:rPr>
              <a:t> </a:t>
            </a:r>
            <a:r>
              <a:rPr lang="en-US" sz="1500" b="1" dirty="0" err="1">
                <a:solidFill>
                  <a:srgbClr val="263034"/>
                </a:solidFill>
                <a:latin typeface="Arial" panose="020B0604020202020204" pitchFamily="34" charset="0"/>
              </a:rPr>
              <a:t>direcții</a:t>
            </a:r>
            <a:r>
              <a:rPr lang="en-US" sz="1500" b="1" dirty="0">
                <a:solidFill>
                  <a:srgbClr val="263034"/>
                </a:solidFill>
                <a:latin typeface="Arial" panose="020B0604020202020204" pitchFamily="34" charset="0"/>
              </a:rPr>
              <a:t> </a:t>
            </a:r>
            <a:r>
              <a:rPr lang="en-US" sz="1500" b="1" dirty="0" err="1">
                <a:solidFill>
                  <a:srgbClr val="263034"/>
                </a:solidFill>
                <a:latin typeface="Arial" panose="020B0604020202020204" pitchFamily="34" charset="0"/>
              </a:rPr>
              <a:t>viitoare</a:t>
            </a:r>
            <a:endParaRPr lang="en-US" sz="1500" b="1" dirty="0">
              <a:solidFill>
                <a:srgbClr val="263034"/>
              </a:solidFill>
              <a:latin typeface="Arial" panose="020B060402020202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369966F-D4F2-914F-E356-35B0410B24DD}"/>
              </a:ext>
            </a:extLst>
          </p:cNvPr>
          <p:cNvSpPr txBox="1"/>
          <p:nvPr/>
        </p:nvSpPr>
        <p:spPr>
          <a:xfrm>
            <a:off x="533400" y="6527800"/>
            <a:ext cx="8255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5C696E"/>
                </a:solidFill>
                <a:latin typeface="Arial" panose="020B0604020202020204" pitchFamily="34" charset="0"/>
              </a:rPr>
              <a:t>Analiza imaginilor cu fund de ochi pentru ajutor în diagnosticul retinopatiei diabetice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C874370-EF3B-32E6-1450-581B0FC075F2}"/>
              </a:ext>
            </a:extLst>
          </p:cNvPr>
          <p:cNvSpPr txBox="1"/>
          <p:nvPr/>
        </p:nvSpPr>
        <p:spPr>
          <a:xfrm>
            <a:off x="9652000" y="6527800"/>
            <a:ext cx="203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5C696E"/>
                </a:solidFill>
                <a:latin typeface="Arial" panose="020B0604020202020204" pitchFamily="34" charset="0"/>
              </a:rPr>
              <a:t>Stancovici Marian</a:t>
            </a:r>
          </a:p>
        </p:txBody>
      </p:sp>
    </p:spTree>
    <p:extLst>
      <p:ext uri="{BB962C8B-B14F-4D97-AF65-F5344CB8AC3E}">
        <p14:creationId xmlns:p14="http://schemas.microsoft.com/office/powerpoint/2010/main" val="717908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51358C8-BF55-96CC-D538-F774A86C4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55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8978E2-F38A-FAE1-1BE5-82386506125B}"/>
              </a:ext>
            </a:extLst>
          </p:cNvPr>
          <p:cNvSpPr/>
          <p:nvPr/>
        </p:nvSpPr>
        <p:spPr>
          <a:xfrm>
            <a:off x="0" y="0"/>
            <a:ext cx="12192000" cy="1168400"/>
          </a:xfrm>
          <a:prstGeom prst="rect">
            <a:avLst/>
          </a:prstGeom>
          <a:solidFill>
            <a:srgbClr val="00554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4EBAE6-2BFB-FDCE-F613-60BE4D0BDA70}"/>
              </a:ext>
            </a:extLst>
          </p:cNvPr>
          <p:cNvSpPr/>
          <p:nvPr/>
        </p:nvSpPr>
        <p:spPr>
          <a:xfrm>
            <a:off x="0" y="5689600"/>
            <a:ext cx="12192000" cy="1168400"/>
          </a:xfrm>
          <a:prstGeom prst="rect">
            <a:avLst/>
          </a:prstGeom>
          <a:solidFill>
            <a:srgbClr val="00554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C4A9FC-DA2E-76B1-7B6F-75C16AFD8ED1}"/>
              </a:ext>
            </a:extLst>
          </p:cNvPr>
          <p:cNvSpPr txBox="1"/>
          <p:nvPr/>
        </p:nvSpPr>
        <p:spPr>
          <a:xfrm>
            <a:off x="914400" y="2603500"/>
            <a:ext cx="103632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3600" b="1">
                <a:solidFill>
                  <a:srgbClr val="FFFFFF"/>
                </a:solidFill>
                <a:latin typeface="Arial" panose="020B0604020202020204" pitchFamily="34" charset="0"/>
              </a:rPr>
              <a:t>Motivație și obiective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79DD45-3A15-01A8-A8D8-3458A821B236}"/>
              </a:ext>
            </a:extLst>
          </p:cNvPr>
          <p:cNvSpPr txBox="1"/>
          <p:nvPr/>
        </p:nvSpPr>
        <p:spPr>
          <a:xfrm>
            <a:off x="1841500" y="3530600"/>
            <a:ext cx="8509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E1F1EB"/>
                </a:solidFill>
                <a:latin typeface="Arial" panose="020B0604020202020204" pitchFamily="34" charset="0"/>
              </a:rPr>
              <a:t>De ce este relevantă problema și ce urmărește lucrarea</a:t>
            </a:r>
          </a:p>
        </p:txBody>
      </p:sp>
    </p:spTree>
    <p:extLst>
      <p:ext uri="{BB962C8B-B14F-4D97-AF65-F5344CB8AC3E}">
        <p14:creationId xmlns:p14="http://schemas.microsoft.com/office/powerpoint/2010/main" val="603603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212E4D1-256F-C738-1B1B-2BCB1457FB37}"/>
              </a:ext>
            </a:extLst>
          </p:cNvPr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00755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20F7E4-279E-EEED-CC22-70C804DD6D22}"/>
              </a:ext>
            </a:extLst>
          </p:cNvPr>
          <p:cNvSpPr txBox="1"/>
          <p:nvPr/>
        </p:nvSpPr>
        <p:spPr>
          <a:xfrm>
            <a:off x="533400" y="190500"/>
            <a:ext cx="9652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>
                <a:solidFill>
                  <a:srgbClr val="FFFFFF"/>
                </a:solidFill>
                <a:latin typeface="Arial" panose="020B0604020202020204" pitchFamily="34" charset="0"/>
              </a:rPr>
              <a:t>Motivație și obiective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89DC96-5B06-775A-4DF4-9C8744DBDD7F}"/>
              </a:ext>
            </a:extLst>
          </p:cNvPr>
          <p:cNvSpPr txBox="1"/>
          <p:nvPr/>
        </p:nvSpPr>
        <p:spPr>
          <a:xfrm>
            <a:off x="11150600" y="177800"/>
            <a:ext cx="533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Arial" panose="020B0604020202020204" pitchFamily="34" charset="0"/>
              </a:rPr>
              <a:t>04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A3A548-78F6-DE6A-23E3-833E0EE968B9}"/>
              </a:ext>
            </a:extLst>
          </p:cNvPr>
          <p:cNvSpPr/>
          <p:nvPr/>
        </p:nvSpPr>
        <p:spPr>
          <a:xfrm>
            <a:off x="508000" y="914400"/>
            <a:ext cx="914400" cy="63500"/>
          </a:xfrm>
          <a:prstGeom prst="rect">
            <a:avLst/>
          </a:prstGeom>
          <a:solidFill>
            <a:srgbClr val="00755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FD847A6-FFDE-9E55-AD39-7A035F359536}"/>
              </a:ext>
            </a:extLst>
          </p:cNvPr>
          <p:cNvSpPr/>
          <p:nvPr/>
        </p:nvSpPr>
        <p:spPr>
          <a:xfrm>
            <a:off x="711200" y="1320800"/>
            <a:ext cx="4953000" cy="4318000"/>
          </a:xfrm>
          <a:prstGeom prst="roundRect">
            <a:avLst/>
          </a:prstGeom>
          <a:solidFill>
            <a:srgbClr val="FFFFFF"/>
          </a:solidFill>
          <a:ln>
            <a:solidFill>
              <a:srgbClr val="DBE2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1CE50F-EA34-00B2-C8CA-45871396E36A}"/>
              </a:ext>
            </a:extLst>
          </p:cNvPr>
          <p:cNvSpPr txBox="1"/>
          <p:nvPr/>
        </p:nvSpPr>
        <p:spPr>
          <a:xfrm>
            <a:off x="1066800" y="1676400"/>
            <a:ext cx="3810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007554"/>
                </a:solidFill>
                <a:latin typeface="Arial" panose="020B0604020202020204" pitchFamily="34" charset="0"/>
              </a:rPr>
              <a:t>Motivație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FAC3B5-FB30-2172-030D-1460F1FABB5A}"/>
              </a:ext>
            </a:extLst>
          </p:cNvPr>
          <p:cNvSpPr txBox="1"/>
          <p:nvPr/>
        </p:nvSpPr>
        <p:spPr>
          <a:xfrm>
            <a:off x="1092200" y="2222500"/>
            <a:ext cx="2032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007554"/>
                </a:solidFill>
                <a:latin typeface="Arial" panose="020B0604020202020204" pitchFamily="34" charset="0"/>
              </a:rPr>
              <a:t>•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7E8B20E-F629-E885-6BA2-EB0633D48062}"/>
              </a:ext>
            </a:extLst>
          </p:cNvPr>
          <p:cNvSpPr txBox="1"/>
          <p:nvPr/>
        </p:nvSpPr>
        <p:spPr>
          <a:xfrm>
            <a:off x="1371600" y="2235200"/>
            <a:ext cx="37846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dirty="0" err="1">
                <a:solidFill>
                  <a:srgbClr val="263034"/>
                </a:solidFill>
                <a:latin typeface="Arial" panose="020B0604020202020204" pitchFamily="34" charset="0"/>
              </a:rPr>
              <a:t>Retinopatia</a:t>
            </a:r>
            <a:r>
              <a:rPr lang="en-US" sz="1600" dirty="0">
                <a:solidFill>
                  <a:srgbClr val="263034"/>
                </a:solidFill>
                <a:latin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263034"/>
                </a:solidFill>
                <a:latin typeface="Arial" panose="020B0604020202020204" pitchFamily="34" charset="0"/>
              </a:rPr>
              <a:t>diabetică</a:t>
            </a:r>
            <a:r>
              <a:rPr lang="en-US" sz="1600" dirty="0">
                <a:solidFill>
                  <a:srgbClr val="263034"/>
                </a:solidFill>
                <a:latin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263034"/>
                </a:solidFill>
                <a:latin typeface="Arial" panose="020B0604020202020204" pitchFamily="34" charset="0"/>
              </a:rPr>
              <a:t>poate</a:t>
            </a:r>
            <a:r>
              <a:rPr lang="en-US" sz="1600" dirty="0">
                <a:solidFill>
                  <a:srgbClr val="263034"/>
                </a:solidFill>
                <a:latin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263034"/>
                </a:solidFill>
                <a:latin typeface="Arial" panose="020B0604020202020204" pitchFamily="34" charset="0"/>
              </a:rPr>
              <a:t>evolua</a:t>
            </a:r>
            <a:r>
              <a:rPr lang="en-US" sz="1600" dirty="0">
                <a:solidFill>
                  <a:srgbClr val="263034"/>
                </a:solidFill>
                <a:latin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263034"/>
                </a:solidFill>
                <a:latin typeface="Arial" panose="020B0604020202020204" pitchFamily="34" charset="0"/>
              </a:rPr>
              <a:t>fără</a:t>
            </a:r>
            <a:r>
              <a:rPr lang="en-US" sz="1600" dirty="0">
                <a:solidFill>
                  <a:srgbClr val="263034"/>
                </a:solidFill>
                <a:latin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263034"/>
                </a:solidFill>
                <a:latin typeface="Arial" panose="020B0604020202020204" pitchFamily="34" charset="0"/>
              </a:rPr>
              <a:t>simptome</a:t>
            </a:r>
            <a:r>
              <a:rPr lang="en-US" sz="1600" dirty="0">
                <a:solidFill>
                  <a:srgbClr val="263034"/>
                </a:solidFill>
                <a:latin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263034"/>
                </a:solidFill>
                <a:latin typeface="Arial" panose="020B0604020202020204" pitchFamily="34" charset="0"/>
              </a:rPr>
              <a:t>vizibile</a:t>
            </a:r>
            <a:r>
              <a:rPr lang="en-US" sz="1600" dirty="0">
                <a:solidFill>
                  <a:srgbClr val="263034"/>
                </a:solidFill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8A1833-816F-BB81-1163-9818A3FED912}"/>
              </a:ext>
            </a:extLst>
          </p:cNvPr>
          <p:cNvSpPr txBox="1"/>
          <p:nvPr/>
        </p:nvSpPr>
        <p:spPr>
          <a:xfrm>
            <a:off x="1092200" y="2908300"/>
            <a:ext cx="2032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007554"/>
                </a:solidFill>
                <a:latin typeface="Arial" panose="020B0604020202020204" pitchFamily="34" charset="0"/>
              </a:rPr>
              <a:t>•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89EB74-F723-C0C1-E756-F3565E4D7188}"/>
              </a:ext>
            </a:extLst>
          </p:cNvPr>
          <p:cNvSpPr txBox="1"/>
          <p:nvPr/>
        </p:nvSpPr>
        <p:spPr>
          <a:xfrm>
            <a:off x="1371600" y="2921000"/>
            <a:ext cx="37846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263034"/>
                </a:solidFill>
                <a:latin typeface="Arial" panose="020B0604020202020204" pitchFamily="34" charset="0"/>
              </a:rPr>
              <a:t>Screening-ul automat poate sprijini trierea imaginilor fundus.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1808BE3-BF49-EFC8-A76A-8F1457C9F03A}"/>
              </a:ext>
            </a:extLst>
          </p:cNvPr>
          <p:cNvSpPr txBox="1"/>
          <p:nvPr/>
        </p:nvSpPr>
        <p:spPr>
          <a:xfrm>
            <a:off x="1092200" y="3594100"/>
            <a:ext cx="2032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007554"/>
                </a:solidFill>
                <a:latin typeface="Arial" panose="020B0604020202020204" pitchFamily="34" charset="0"/>
              </a:rPr>
              <a:t>•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7DE9E7-8C94-F792-D480-A9412C4A8CCA}"/>
              </a:ext>
            </a:extLst>
          </p:cNvPr>
          <p:cNvSpPr txBox="1"/>
          <p:nvPr/>
        </p:nvSpPr>
        <p:spPr>
          <a:xfrm>
            <a:off x="1371600" y="3606800"/>
            <a:ext cx="37846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263034"/>
                </a:solidFill>
                <a:latin typeface="Arial" panose="020B0604020202020204" pitchFamily="34" charset="0"/>
              </a:rPr>
              <a:t>Clasele 0-4 sunt ordonate clinic, iar erorile îndepărtate sunt mai grave.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3D9A2CB-A0A9-044F-BCA8-EF0D3CE7E29E}"/>
              </a:ext>
            </a:extLst>
          </p:cNvPr>
          <p:cNvSpPr/>
          <p:nvPr/>
        </p:nvSpPr>
        <p:spPr>
          <a:xfrm>
            <a:off x="6527800" y="1320800"/>
            <a:ext cx="4953000" cy="4318000"/>
          </a:xfrm>
          <a:prstGeom prst="roundRect">
            <a:avLst/>
          </a:prstGeom>
          <a:solidFill>
            <a:srgbClr val="FFFFFF"/>
          </a:solidFill>
          <a:ln>
            <a:solidFill>
              <a:srgbClr val="DBE2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78206A5-EEA2-8693-D66B-7873DAA8E7DA}"/>
              </a:ext>
            </a:extLst>
          </p:cNvPr>
          <p:cNvSpPr txBox="1"/>
          <p:nvPr/>
        </p:nvSpPr>
        <p:spPr>
          <a:xfrm>
            <a:off x="6883400" y="1676400"/>
            <a:ext cx="3810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007554"/>
                </a:solidFill>
                <a:latin typeface="Arial" panose="020B0604020202020204" pitchFamily="34" charset="0"/>
              </a:rPr>
              <a:t>Obiective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836C758-CF16-F809-C492-34A00D2E399F}"/>
              </a:ext>
            </a:extLst>
          </p:cNvPr>
          <p:cNvSpPr txBox="1"/>
          <p:nvPr/>
        </p:nvSpPr>
        <p:spPr>
          <a:xfrm>
            <a:off x="6908800" y="2222500"/>
            <a:ext cx="2032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007554"/>
                </a:solidFill>
                <a:latin typeface="Arial" panose="020B0604020202020204" pitchFamily="34" charset="0"/>
              </a:rPr>
              <a:t>•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5BD2740-FD1E-091A-C97B-9FB252CA33B5}"/>
              </a:ext>
            </a:extLst>
          </p:cNvPr>
          <p:cNvSpPr txBox="1"/>
          <p:nvPr/>
        </p:nvSpPr>
        <p:spPr>
          <a:xfrm>
            <a:off x="7188200" y="2235200"/>
            <a:ext cx="37846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it-IT" sz="1600">
                <a:solidFill>
                  <a:srgbClr val="263034"/>
                </a:solidFill>
                <a:latin typeface="Arial" panose="020B0604020202020204" pitchFamily="34" charset="0"/>
              </a:rPr>
              <a:t>Construirea unui pipeline de clasificare a severității 0-4.</a:t>
            </a:r>
            <a:endParaRPr lang="en-US" sz="1600">
              <a:solidFill>
                <a:srgbClr val="263034"/>
              </a:solidFill>
              <a:latin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5A63B67-643A-3DC6-61E8-96B083C9E526}"/>
              </a:ext>
            </a:extLst>
          </p:cNvPr>
          <p:cNvSpPr txBox="1"/>
          <p:nvPr/>
        </p:nvSpPr>
        <p:spPr>
          <a:xfrm>
            <a:off x="6908800" y="2781300"/>
            <a:ext cx="2032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007554"/>
                </a:solidFill>
                <a:latin typeface="Arial" panose="020B0604020202020204" pitchFamily="34" charset="0"/>
              </a:rPr>
              <a:t>•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D50CCD8-187F-15F1-E721-97689F7EFC9B}"/>
              </a:ext>
            </a:extLst>
          </p:cNvPr>
          <p:cNvSpPr txBox="1"/>
          <p:nvPr/>
        </p:nvSpPr>
        <p:spPr>
          <a:xfrm>
            <a:off x="7188200" y="2794000"/>
            <a:ext cx="37846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600">
                <a:solidFill>
                  <a:srgbClr val="263034"/>
                </a:solidFill>
                <a:latin typeface="Arial" panose="020B0604020202020204" pitchFamily="34" charset="0"/>
              </a:rPr>
              <a:t>Compararea arhitecturilor și funcțiilor de pierdere.</a:t>
            </a:r>
            <a:endParaRPr lang="en-US" sz="1600">
              <a:solidFill>
                <a:srgbClr val="263034"/>
              </a:solidFill>
              <a:latin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EF8C90F-B6F2-7C2D-F6D9-AC56E525A968}"/>
              </a:ext>
            </a:extLst>
          </p:cNvPr>
          <p:cNvSpPr txBox="1"/>
          <p:nvPr/>
        </p:nvSpPr>
        <p:spPr>
          <a:xfrm>
            <a:off x="6908800" y="3340100"/>
            <a:ext cx="2032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007554"/>
                </a:solidFill>
                <a:latin typeface="Arial" panose="020B0604020202020204" pitchFamily="34" charset="0"/>
              </a:rPr>
              <a:t>•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D35388-D24F-53BE-693C-930BE32581A5}"/>
              </a:ext>
            </a:extLst>
          </p:cNvPr>
          <p:cNvSpPr txBox="1"/>
          <p:nvPr/>
        </p:nvSpPr>
        <p:spPr>
          <a:xfrm>
            <a:off x="7188200" y="3352800"/>
            <a:ext cx="37846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it-IT" sz="1600">
                <a:solidFill>
                  <a:srgbClr val="263034"/>
                </a:solidFill>
                <a:latin typeface="Arial" panose="020B0604020202020204" pitchFamily="34" charset="0"/>
              </a:rPr>
              <a:t>Reducerea riscului de data leakage în evaluare.</a:t>
            </a:r>
            <a:endParaRPr lang="en-US" sz="1600">
              <a:solidFill>
                <a:srgbClr val="263034"/>
              </a:solidFill>
              <a:latin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EBAB5A9-E1A2-F841-0379-E61DB704F95A}"/>
              </a:ext>
            </a:extLst>
          </p:cNvPr>
          <p:cNvSpPr txBox="1"/>
          <p:nvPr/>
        </p:nvSpPr>
        <p:spPr>
          <a:xfrm>
            <a:off x="6908800" y="3898900"/>
            <a:ext cx="2032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007554"/>
                </a:solidFill>
                <a:latin typeface="Arial" panose="020B0604020202020204" pitchFamily="34" charset="0"/>
              </a:rPr>
              <a:t>•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17F3472-6C35-2C5B-119B-3194D37EB678}"/>
              </a:ext>
            </a:extLst>
          </p:cNvPr>
          <p:cNvSpPr txBox="1"/>
          <p:nvPr/>
        </p:nvSpPr>
        <p:spPr>
          <a:xfrm>
            <a:off x="7188200" y="3911600"/>
            <a:ext cx="37846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263034"/>
                </a:solidFill>
                <a:latin typeface="Arial" panose="020B0604020202020204" pitchFamily="34" charset="0"/>
              </a:rPr>
              <a:t>Integrarea modelelor într-o aplicație web de inferență.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81247FF-023B-3746-B5E7-02736EEF9A13}"/>
              </a:ext>
            </a:extLst>
          </p:cNvPr>
          <p:cNvSpPr txBox="1"/>
          <p:nvPr/>
        </p:nvSpPr>
        <p:spPr>
          <a:xfrm>
            <a:off x="533400" y="6527800"/>
            <a:ext cx="8255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5C696E"/>
                </a:solidFill>
                <a:latin typeface="Arial" panose="020B0604020202020204" pitchFamily="34" charset="0"/>
              </a:rPr>
              <a:t>Analiza imaginilor cu fund de ochi pentru ajutor în diagnosticul retinopatiei diabetice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DE47CDA-8AAF-E3E0-B254-18C9BC1B789C}"/>
              </a:ext>
            </a:extLst>
          </p:cNvPr>
          <p:cNvSpPr txBox="1"/>
          <p:nvPr/>
        </p:nvSpPr>
        <p:spPr>
          <a:xfrm>
            <a:off x="9652000" y="6527800"/>
            <a:ext cx="203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5C696E"/>
                </a:solidFill>
                <a:latin typeface="Arial" panose="020B0604020202020204" pitchFamily="34" charset="0"/>
              </a:rPr>
              <a:t>Stancovici Marian</a:t>
            </a:r>
          </a:p>
        </p:txBody>
      </p:sp>
    </p:spTree>
    <p:extLst>
      <p:ext uri="{BB962C8B-B14F-4D97-AF65-F5344CB8AC3E}">
        <p14:creationId xmlns:p14="http://schemas.microsoft.com/office/powerpoint/2010/main" val="2926617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F41B1EA-C578-43B2-AC10-AAF5509291F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55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D9E97E-1ED4-CFF1-19E7-D4CDCAB37193}"/>
              </a:ext>
            </a:extLst>
          </p:cNvPr>
          <p:cNvSpPr/>
          <p:nvPr/>
        </p:nvSpPr>
        <p:spPr>
          <a:xfrm>
            <a:off x="0" y="0"/>
            <a:ext cx="12192000" cy="1168400"/>
          </a:xfrm>
          <a:prstGeom prst="rect">
            <a:avLst/>
          </a:prstGeom>
          <a:solidFill>
            <a:srgbClr val="00554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F0320A-E5F5-186E-0212-98F52D945A03}"/>
              </a:ext>
            </a:extLst>
          </p:cNvPr>
          <p:cNvSpPr/>
          <p:nvPr/>
        </p:nvSpPr>
        <p:spPr>
          <a:xfrm>
            <a:off x="0" y="5689600"/>
            <a:ext cx="12192000" cy="1168400"/>
          </a:xfrm>
          <a:prstGeom prst="rect">
            <a:avLst/>
          </a:prstGeom>
          <a:solidFill>
            <a:srgbClr val="00554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6EA367-DFF8-CC6F-058F-5830AEB02EF7}"/>
              </a:ext>
            </a:extLst>
          </p:cNvPr>
          <p:cNvSpPr txBox="1"/>
          <p:nvPr/>
        </p:nvSpPr>
        <p:spPr>
          <a:xfrm>
            <a:off x="914400" y="2603500"/>
            <a:ext cx="103632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3600" b="1">
                <a:solidFill>
                  <a:srgbClr val="FFFFFF"/>
                </a:solidFill>
                <a:latin typeface="Arial" panose="020B0604020202020204" pitchFamily="34" charset="0"/>
              </a:rPr>
              <a:t>Date și preprocesare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E5924C-EEBC-C038-5718-E98DCF5F0154}"/>
              </a:ext>
            </a:extLst>
          </p:cNvPr>
          <p:cNvSpPr txBox="1"/>
          <p:nvPr/>
        </p:nvSpPr>
        <p:spPr>
          <a:xfrm>
            <a:off x="1841500" y="3530600"/>
            <a:ext cx="8509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E1F1EB"/>
                </a:solidFill>
                <a:latin typeface="Arial" panose="020B0604020202020204" pitchFamily="34" charset="0"/>
              </a:rPr>
              <a:t>Seturi de date, augmentări și normalizarea imaginilor</a:t>
            </a:r>
          </a:p>
        </p:txBody>
      </p:sp>
    </p:spTree>
    <p:extLst>
      <p:ext uri="{BB962C8B-B14F-4D97-AF65-F5344CB8AC3E}">
        <p14:creationId xmlns:p14="http://schemas.microsoft.com/office/powerpoint/2010/main" val="4026332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2A736DA-6847-26F8-5E06-118F74C3C5B6}"/>
              </a:ext>
            </a:extLst>
          </p:cNvPr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00755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842A8D-A5B9-3244-6485-EF905C29ADC8}"/>
              </a:ext>
            </a:extLst>
          </p:cNvPr>
          <p:cNvSpPr txBox="1"/>
          <p:nvPr/>
        </p:nvSpPr>
        <p:spPr>
          <a:xfrm>
            <a:off x="533400" y="190500"/>
            <a:ext cx="9652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>
                <a:solidFill>
                  <a:srgbClr val="FFFFFF"/>
                </a:solidFill>
                <a:latin typeface="Arial" panose="020B0604020202020204" pitchFamily="34" charset="0"/>
              </a:rPr>
              <a:t>Date utilizate și preprocesare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C6A190-AA5A-6D1B-1307-D1C43DF521A0}"/>
              </a:ext>
            </a:extLst>
          </p:cNvPr>
          <p:cNvSpPr txBox="1"/>
          <p:nvPr/>
        </p:nvSpPr>
        <p:spPr>
          <a:xfrm>
            <a:off x="11150600" y="177800"/>
            <a:ext cx="533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Arial" panose="020B0604020202020204" pitchFamily="34" charset="0"/>
              </a:rPr>
              <a:t>06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8D354E-EFBD-07F6-4042-93F5A1CAC239}"/>
              </a:ext>
            </a:extLst>
          </p:cNvPr>
          <p:cNvSpPr/>
          <p:nvPr/>
        </p:nvSpPr>
        <p:spPr>
          <a:xfrm>
            <a:off x="508000" y="914400"/>
            <a:ext cx="914400" cy="63500"/>
          </a:xfrm>
          <a:prstGeom prst="rect">
            <a:avLst/>
          </a:prstGeom>
          <a:solidFill>
            <a:srgbClr val="00755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0AF390-3B6D-571B-D428-D992D3051E85}"/>
              </a:ext>
            </a:extLst>
          </p:cNvPr>
          <p:cNvSpPr txBox="1"/>
          <p:nvPr/>
        </p:nvSpPr>
        <p:spPr>
          <a:xfrm>
            <a:off x="762000" y="1536700"/>
            <a:ext cx="2032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007554"/>
                </a:solidFill>
                <a:latin typeface="Arial" panose="020B0604020202020204" pitchFamily="34" charset="0"/>
              </a:rPr>
              <a:t>•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18B8C8-9D0E-165D-73FD-B33070FCCF13}"/>
              </a:ext>
            </a:extLst>
          </p:cNvPr>
          <p:cNvSpPr txBox="1"/>
          <p:nvPr/>
        </p:nvSpPr>
        <p:spPr>
          <a:xfrm>
            <a:off x="1041400" y="1549400"/>
            <a:ext cx="48641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263034"/>
                </a:solidFill>
                <a:latin typeface="Arial" panose="020B0604020202020204" pitchFamily="34" charset="0"/>
              </a:rPr>
              <a:t>Seturi analizate: APTOS, EyePACS și Diabetic_Balanced_Aug.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A9E99C-84D1-6209-01F4-C253EAF88A38}"/>
              </a:ext>
            </a:extLst>
          </p:cNvPr>
          <p:cNvSpPr txBox="1"/>
          <p:nvPr/>
        </p:nvSpPr>
        <p:spPr>
          <a:xfrm>
            <a:off x="762000" y="2095500"/>
            <a:ext cx="2032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007554"/>
                </a:solidFill>
                <a:latin typeface="Arial" panose="020B0604020202020204" pitchFamily="34" charset="0"/>
              </a:rPr>
              <a:t>•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943547-C048-7933-3764-FE1033A60D92}"/>
              </a:ext>
            </a:extLst>
          </p:cNvPr>
          <p:cNvSpPr txBox="1"/>
          <p:nvPr/>
        </p:nvSpPr>
        <p:spPr>
          <a:xfrm>
            <a:off x="1041400" y="2108200"/>
            <a:ext cx="48641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263034"/>
                </a:solidFill>
                <a:latin typeface="Arial" panose="020B0604020202020204" pitchFamily="34" charset="0"/>
              </a:rPr>
              <a:t>Organizare controlată pe train / validation / test.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C0426E-6C06-A147-2241-64465EC24689}"/>
              </a:ext>
            </a:extLst>
          </p:cNvPr>
          <p:cNvSpPr txBox="1"/>
          <p:nvPr/>
        </p:nvSpPr>
        <p:spPr>
          <a:xfrm>
            <a:off x="762000" y="2654300"/>
            <a:ext cx="2032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007554"/>
                </a:solidFill>
                <a:latin typeface="Arial" panose="020B0604020202020204" pitchFamily="34" charset="0"/>
              </a:rPr>
              <a:t>•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C75375-189B-CAD4-2003-C2EC078589B3}"/>
              </a:ext>
            </a:extLst>
          </p:cNvPr>
          <p:cNvSpPr txBox="1"/>
          <p:nvPr/>
        </p:nvSpPr>
        <p:spPr>
          <a:xfrm>
            <a:off x="1041400" y="2667000"/>
            <a:ext cx="48641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it-IT" sz="1500">
                <a:solidFill>
                  <a:srgbClr val="263034"/>
                </a:solidFill>
                <a:latin typeface="Arial" panose="020B0604020202020204" pitchFamily="34" charset="0"/>
              </a:rPr>
              <a:t>Preprocesări: redimensionare 512x512, normalizare, Ben Graham și CLAHE.</a:t>
            </a:r>
            <a:endParaRPr lang="en-US" sz="1500">
              <a:solidFill>
                <a:srgbClr val="263034"/>
              </a:solidFill>
              <a:latin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A7D7B4-8689-7413-71DA-72E812249A36}"/>
              </a:ext>
            </a:extLst>
          </p:cNvPr>
          <p:cNvSpPr txBox="1"/>
          <p:nvPr/>
        </p:nvSpPr>
        <p:spPr>
          <a:xfrm>
            <a:off x="762000" y="3213100"/>
            <a:ext cx="2032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007554"/>
                </a:solidFill>
                <a:latin typeface="Arial" panose="020B0604020202020204" pitchFamily="34" charset="0"/>
              </a:rPr>
              <a:t>•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84562C-DD7A-1309-8BDC-598C72486C99}"/>
              </a:ext>
            </a:extLst>
          </p:cNvPr>
          <p:cNvSpPr txBox="1"/>
          <p:nvPr/>
        </p:nvSpPr>
        <p:spPr>
          <a:xfrm>
            <a:off x="1041400" y="3225800"/>
            <a:ext cx="48641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263034"/>
                </a:solidFill>
                <a:latin typeface="Arial" panose="020B0604020202020204" pitchFamily="34" charset="0"/>
              </a:rPr>
              <a:t>Augmentări folosite pentru robustețe, cu atenție la păstrarea etichetelor.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A05D65-8E55-F7C2-8A2F-F5C477D6F1D0}"/>
              </a:ext>
            </a:extLst>
          </p:cNvPr>
          <p:cNvSpPr txBox="1"/>
          <p:nvPr/>
        </p:nvSpPr>
        <p:spPr>
          <a:xfrm>
            <a:off x="762000" y="3771900"/>
            <a:ext cx="2032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007554"/>
                </a:solidFill>
                <a:latin typeface="Arial" panose="020B0604020202020204" pitchFamily="34" charset="0"/>
              </a:rPr>
              <a:t>•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62BA4C-CD64-4505-F945-EC959A46B2A2}"/>
              </a:ext>
            </a:extLst>
          </p:cNvPr>
          <p:cNvSpPr txBox="1"/>
          <p:nvPr/>
        </p:nvSpPr>
        <p:spPr>
          <a:xfrm>
            <a:off x="1041400" y="3784600"/>
            <a:ext cx="48641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263034"/>
                </a:solidFill>
                <a:latin typeface="Arial" panose="020B0604020202020204" pitchFamily="34" charset="0"/>
              </a:rPr>
              <a:t>Evaluare cu accuracy, precision, recall, F1, QWK și matrici de confuzie.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F75E7F6-B21C-88A0-6331-E709895D5246}"/>
              </a:ext>
            </a:extLst>
          </p:cNvPr>
          <p:cNvSpPr/>
          <p:nvPr/>
        </p:nvSpPr>
        <p:spPr>
          <a:xfrm>
            <a:off x="6553200" y="1295400"/>
            <a:ext cx="4521200" cy="208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2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5709D76-5D6F-706E-6F3B-D3398D6868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0" y="1797515"/>
            <a:ext cx="4419600" cy="1078571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A62D7B8D-E736-706D-0C14-AC43A98BE60F}"/>
              </a:ext>
            </a:extLst>
          </p:cNvPr>
          <p:cNvSpPr/>
          <p:nvPr/>
        </p:nvSpPr>
        <p:spPr>
          <a:xfrm>
            <a:off x="6426200" y="3759200"/>
            <a:ext cx="4737100" cy="1752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2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0A5840F-4DF3-FF2D-71DC-BD97A7B794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9958" y="3810000"/>
            <a:ext cx="1749583" cy="16510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05D82864-58C2-204F-8D7D-71FF0EEEBC78}"/>
              </a:ext>
            </a:extLst>
          </p:cNvPr>
          <p:cNvSpPr txBox="1"/>
          <p:nvPr/>
        </p:nvSpPr>
        <p:spPr>
          <a:xfrm>
            <a:off x="533400" y="6527800"/>
            <a:ext cx="8255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5C696E"/>
                </a:solidFill>
                <a:latin typeface="Arial" panose="020B0604020202020204" pitchFamily="34" charset="0"/>
              </a:rPr>
              <a:t>Analiza imaginilor cu fund de ochi pentru ajutor în diagnosticul retinopatiei diabetice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6353F08-80FF-B6C4-AAC7-4210F663BC55}"/>
              </a:ext>
            </a:extLst>
          </p:cNvPr>
          <p:cNvSpPr txBox="1"/>
          <p:nvPr/>
        </p:nvSpPr>
        <p:spPr>
          <a:xfrm>
            <a:off x="9652000" y="6527800"/>
            <a:ext cx="203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5C696E"/>
                </a:solidFill>
                <a:latin typeface="Arial" panose="020B0604020202020204" pitchFamily="34" charset="0"/>
              </a:rPr>
              <a:t>Stancovici Marian</a:t>
            </a:r>
          </a:p>
        </p:txBody>
      </p:sp>
    </p:spTree>
    <p:extLst>
      <p:ext uri="{BB962C8B-B14F-4D97-AF65-F5344CB8AC3E}">
        <p14:creationId xmlns:p14="http://schemas.microsoft.com/office/powerpoint/2010/main" val="3421994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B1AB28D-30F8-2D4F-0BD9-5CDA4A64F6AA}"/>
              </a:ext>
            </a:extLst>
          </p:cNvPr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00755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87F6F1-B9C2-F1EE-3FD9-C8419363A6E6}"/>
              </a:ext>
            </a:extLst>
          </p:cNvPr>
          <p:cNvSpPr txBox="1"/>
          <p:nvPr/>
        </p:nvSpPr>
        <p:spPr>
          <a:xfrm>
            <a:off x="533400" y="190500"/>
            <a:ext cx="9652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it-IT" sz="1900" b="1">
                <a:solidFill>
                  <a:srgbClr val="FFFFFF"/>
                </a:solidFill>
                <a:latin typeface="Arial" panose="020B0604020202020204" pitchFamily="34" charset="0"/>
              </a:rPr>
              <a:t>Controlul riscului de data leakage</a:t>
            </a:r>
            <a:endParaRPr lang="en-US" sz="19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D53358-EDEC-AB30-1728-3244C72EAE49}"/>
              </a:ext>
            </a:extLst>
          </p:cNvPr>
          <p:cNvSpPr txBox="1"/>
          <p:nvPr/>
        </p:nvSpPr>
        <p:spPr>
          <a:xfrm>
            <a:off x="11150600" y="177800"/>
            <a:ext cx="533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Arial" panose="020B0604020202020204" pitchFamily="34" charset="0"/>
              </a:rPr>
              <a:t>07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F1AAF8-39CF-BB6A-21E7-F7E8BC5B6659}"/>
              </a:ext>
            </a:extLst>
          </p:cNvPr>
          <p:cNvSpPr/>
          <p:nvPr/>
        </p:nvSpPr>
        <p:spPr>
          <a:xfrm>
            <a:off x="508000" y="914400"/>
            <a:ext cx="914400" cy="63500"/>
          </a:xfrm>
          <a:prstGeom prst="rect">
            <a:avLst/>
          </a:prstGeom>
          <a:solidFill>
            <a:srgbClr val="00755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4DAA78-2261-713C-FD87-D15A8E8E69E9}"/>
              </a:ext>
            </a:extLst>
          </p:cNvPr>
          <p:cNvSpPr txBox="1"/>
          <p:nvPr/>
        </p:nvSpPr>
        <p:spPr>
          <a:xfrm>
            <a:off x="736600" y="1409700"/>
            <a:ext cx="2032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007554"/>
                </a:solidFill>
                <a:latin typeface="Arial" panose="020B0604020202020204" pitchFamily="34" charset="0"/>
              </a:rPr>
              <a:t>•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A44CA7-428D-7654-DE6D-CB886E9590BF}"/>
              </a:ext>
            </a:extLst>
          </p:cNvPr>
          <p:cNvSpPr txBox="1"/>
          <p:nvPr/>
        </p:nvSpPr>
        <p:spPr>
          <a:xfrm>
            <a:off x="1016000" y="1422400"/>
            <a:ext cx="46736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it-IT" sz="1500">
                <a:solidFill>
                  <a:srgbClr val="263034"/>
                </a:solidFill>
                <a:latin typeface="Arial" panose="020B0604020202020204" pitchFamily="34" charset="0"/>
              </a:rPr>
              <a:t>Imaginile originale și variantele augmentate pot ajunge accidental în subseturi diferite.</a:t>
            </a:r>
            <a:endParaRPr lang="en-US" sz="1500">
              <a:solidFill>
                <a:srgbClr val="263034"/>
              </a:solidFill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3CF01F-05E4-3846-6E87-54AF313EFFDB}"/>
              </a:ext>
            </a:extLst>
          </p:cNvPr>
          <p:cNvSpPr txBox="1"/>
          <p:nvPr/>
        </p:nvSpPr>
        <p:spPr>
          <a:xfrm>
            <a:off x="736600" y="2070100"/>
            <a:ext cx="2032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007554"/>
                </a:solidFill>
                <a:latin typeface="Arial" panose="020B0604020202020204" pitchFamily="34" charset="0"/>
              </a:rPr>
              <a:t>•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6EE6D0-B16B-1926-5822-72C023011F9D}"/>
              </a:ext>
            </a:extLst>
          </p:cNvPr>
          <p:cNvSpPr txBox="1"/>
          <p:nvPr/>
        </p:nvSpPr>
        <p:spPr>
          <a:xfrm>
            <a:off x="1016000" y="2082800"/>
            <a:ext cx="46736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263034"/>
                </a:solidFill>
                <a:latin typeface="Arial" panose="020B0604020202020204" pitchFamily="34" charset="0"/>
              </a:rPr>
              <a:t>Această situație produce scoruri artificial de bune și reduce încrederea în evaluare.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9B26E6-AEEE-3A2E-2C63-5D9EF7EEC08F}"/>
              </a:ext>
            </a:extLst>
          </p:cNvPr>
          <p:cNvSpPr txBox="1"/>
          <p:nvPr/>
        </p:nvSpPr>
        <p:spPr>
          <a:xfrm>
            <a:off x="736600" y="2730500"/>
            <a:ext cx="2032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007554"/>
                </a:solidFill>
                <a:latin typeface="Arial" panose="020B0604020202020204" pitchFamily="34" charset="0"/>
              </a:rPr>
              <a:t>•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E4A563-979C-DE1D-380C-FED736E480FE}"/>
              </a:ext>
            </a:extLst>
          </p:cNvPr>
          <p:cNvSpPr txBox="1"/>
          <p:nvPr/>
        </p:nvSpPr>
        <p:spPr>
          <a:xfrm>
            <a:off x="1016000" y="2743200"/>
            <a:ext cx="46736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263034"/>
                </a:solidFill>
                <a:latin typeface="Arial" panose="020B0604020202020204" pitchFamily="34" charset="0"/>
              </a:rPr>
              <a:t>Soluția folosită: split grupat, astfel încât o imagine și augmentările ei rămân în același subset.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93DD11-850A-7F08-ACDC-A79F6AC47E65}"/>
              </a:ext>
            </a:extLst>
          </p:cNvPr>
          <p:cNvSpPr txBox="1"/>
          <p:nvPr/>
        </p:nvSpPr>
        <p:spPr>
          <a:xfrm>
            <a:off x="736600" y="3390900"/>
            <a:ext cx="2032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007554"/>
                </a:solidFill>
                <a:latin typeface="Arial" panose="020B0604020202020204" pitchFamily="34" charset="0"/>
              </a:rPr>
              <a:t>•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0E31F1-05BA-7382-88F9-75944E3C366E}"/>
              </a:ext>
            </a:extLst>
          </p:cNvPr>
          <p:cNvSpPr txBox="1"/>
          <p:nvPr/>
        </p:nvSpPr>
        <p:spPr>
          <a:xfrm>
            <a:off x="1016000" y="3403600"/>
            <a:ext cx="46736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it-IT" sz="1500">
                <a:solidFill>
                  <a:srgbClr val="263034"/>
                </a:solidFill>
                <a:latin typeface="Arial" panose="020B0604020202020204" pitchFamily="34" charset="0"/>
              </a:rPr>
              <a:t>Rezultatele raportate sunt mai realiste pentru scenariul de inferență pe imagini noi.</a:t>
            </a:r>
            <a:endParaRPr lang="en-US" sz="1500">
              <a:solidFill>
                <a:srgbClr val="263034"/>
              </a:solidFill>
              <a:latin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C0D1C17-F0C2-8D0A-93C0-748A662DC035}"/>
              </a:ext>
            </a:extLst>
          </p:cNvPr>
          <p:cNvSpPr/>
          <p:nvPr/>
        </p:nvSpPr>
        <p:spPr>
          <a:xfrm>
            <a:off x="6299200" y="1371600"/>
            <a:ext cx="4800600" cy="34671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2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E8FEAF4-299F-B004-9920-937C01845F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0" y="2559897"/>
            <a:ext cx="4699000" cy="109050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2807D24-1A56-FE53-3B7E-91B2DFCD6280}"/>
              </a:ext>
            </a:extLst>
          </p:cNvPr>
          <p:cNvSpPr txBox="1"/>
          <p:nvPr/>
        </p:nvSpPr>
        <p:spPr>
          <a:xfrm>
            <a:off x="6350000" y="5105400"/>
            <a:ext cx="4699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5C696E"/>
                </a:solidFill>
                <a:latin typeface="Arial" panose="020B0604020202020204" pitchFamily="34" charset="0"/>
              </a:rPr>
              <a:t>Impactul leakage-ului se vede prin diferența dintre evaluarea inițială și evaluarea cu split controlat.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D797E83-989B-3689-B9DB-73B8B6DE3993}"/>
              </a:ext>
            </a:extLst>
          </p:cNvPr>
          <p:cNvSpPr txBox="1"/>
          <p:nvPr/>
        </p:nvSpPr>
        <p:spPr>
          <a:xfrm>
            <a:off x="533400" y="6527800"/>
            <a:ext cx="8255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5C696E"/>
                </a:solidFill>
                <a:latin typeface="Arial" panose="020B0604020202020204" pitchFamily="34" charset="0"/>
              </a:rPr>
              <a:t>Analiza imaginilor cu fund de ochi pentru ajutor în diagnosticul retinopatiei diabetice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C92585-FDD1-E763-74D6-5B57743D44D4}"/>
              </a:ext>
            </a:extLst>
          </p:cNvPr>
          <p:cNvSpPr txBox="1"/>
          <p:nvPr/>
        </p:nvSpPr>
        <p:spPr>
          <a:xfrm>
            <a:off x="9652000" y="6527800"/>
            <a:ext cx="203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5C696E"/>
                </a:solidFill>
                <a:latin typeface="Arial" panose="020B0604020202020204" pitchFamily="34" charset="0"/>
              </a:rPr>
              <a:t>Stancovici Marian</a:t>
            </a:r>
          </a:p>
        </p:txBody>
      </p:sp>
    </p:spTree>
    <p:extLst>
      <p:ext uri="{BB962C8B-B14F-4D97-AF65-F5344CB8AC3E}">
        <p14:creationId xmlns:p14="http://schemas.microsoft.com/office/powerpoint/2010/main" val="329558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8DD3E69-1E9F-D30C-8335-0728EFEE90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55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1A9D27-97D6-0AC7-6FCE-F07897B5DE13}"/>
              </a:ext>
            </a:extLst>
          </p:cNvPr>
          <p:cNvSpPr/>
          <p:nvPr/>
        </p:nvSpPr>
        <p:spPr>
          <a:xfrm>
            <a:off x="0" y="0"/>
            <a:ext cx="12192000" cy="1168400"/>
          </a:xfrm>
          <a:prstGeom prst="rect">
            <a:avLst/>
          </a:prstGeom>
          <a:solidFill>
            <a:srgbClr val="00554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3617AA-8AC6-73E4-6687-59E5A5D3BED6}"/>
              </a:ext>
            </a:extLst>
          </p:cNvPr>
          <p:cNvSpPr/>
          <p:nvPr/>
        </p:nvSpPr>
        <p:spPr>
          <a:xfrm>
            <a:off x="0" y="5689600"/>
            <a:ext cx="12192000" cy="1168400"/>
          </a:xfrm>
          <a:prstGeom prst="rect">
            <a:avLst/>
          </a:prstGeom>
          <a:solidFill>
            <a:srgbClr val="00554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C85920-D7F1-CC52-2ED8-06EB0BF0C079}"/>
              </a:ext>
            </a:extLst>
          </p:cNvPr>
          <p:cNvSpPr txBox="1"/>
          <p:nvPr/>
        </p:nvSpPr>
        <p:spPr>
          <a:xfrm>
            <a:off x="914400" y="2603500"/>
            <a:ext cx="103632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3600" b="1">
                <a:solidFill>
                  <a:srgbClr val="FFFFFF"/>
                </a:solidFill>
                <a:latin typeface="Arial" panose="020B0604020202020204" pitchFamily="34" charset="0"/>
              </a:rPr>
              <a:t>Metodologia propusă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3478F1-C666-B552-7431-EE4FF474AAE3}"/>
              </a:ext>
            </a:extLst>
          </p:cNvPr>
          <p:cNvSpPr txBox="1"/>
          <p:nvPr/>
        </p:nvSpPr>
        <p:spPr>
          <a:xfrm>
            <a:off x="1841500" y="3530600"/>
            <a:ext cx="8509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E1F1EB"/>
                </a:solidFill>
                <a:latin typeface="Arial" panose="020B0604020202020204" pitchFamily="34" charset="0"/>
              </a:rPr>
              <a:t>Pipeline CNN și integrarea într-un flux de inferență</a:t>
            </a:r>
          </a:p>
        </p:txBody>
      </p:sp>
    </p:spTree>
    <p:extLst>
      <p:ext uri="{BB962C8B-B14F-4D97-AF65-F5344CB8AC3E}">
        <p14:creationId xmlns:p14="http://schemas.microsoft.com/office/powerpoint/2010/main" val="1643094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023C1EB-2F8A-4C3C-CD53-67482B4A7094}"/>
              </a:ext>
            </a:extLst>
          </p:cNvPr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00755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B8FD1A-E0DF-F084-E809-FA4F516E970B}"/>
              </a:ext>
            </a:extLst>
          </p:cNvPr>
          <p:cNvSpPr txBox="1"/>
          <p:nvPr/>
        </p:nvSpPr>
        <p:spPr>
          <a:xfrm>
            <a:off x="533400" y="190500"/>
            <a:ext cx="9652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>
                <a:solidFill>
                  <a:srgbClr val="FFFFFF"/>
                </a:solidFill>
                <a:latin typeface="Arial" panose="020B0604020202020204" pitchFamily="34" charset="0"/>
              </a:rPr>
              <a:t>Pipeline experimental și aplicația de inferență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758887-CB50-56B0-217E-A1BDA223795B}"/>
              </a:ext>
            </a:extLst>
          </p:cNvPr>
          <p:cNvSpPr txBox="1"/>
          <p:nvPr/>
        </p:nvSpPr>
        <p:spPr>
          <a:xfrm>
            <a:off x="11150600" y="177800"/>
            <a:ext cx="533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Arial" panose="020B0604020202020204" pitchFamily="34" charset="0"/>
              </a:rPr>
              <a:t>09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01EEA1-B56D-530D-C3B8-A8A3410C4D52}"/>
              </a:ext>
            </a:extLst>
          </p:cNvPr>
          <p:cNvSpPr/>
          <p:nvPr/>
        </p:nvSpPr>
        <p:spPr>
          <a:xfrm>
            <a:off x="508000" y="914400"/>
            <a:ext cx="914400" cy="63500"/>
          </a:xfrm>
          <a:prstGeom prst="rect">
            <a:avLst/>
          </a:prstGeom>
          <a:solidFill>
            <a:srgbClr val="00755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688724-B89E-4709-0C14-096FBD0BC5FC}"/>
              </a:ext>
            </a:extLst>
          </p:cNvPr>
          <p:cNvSpPr/>
          <p:nvPr/>
        </p:nvSpPr>
        <p:spPr>
          <a:xfrm>
            <a:off x="558800" y="1270000"/>
            <a:ext cx="5359400" cy="33401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2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6EF1105-E76B-6628-736D-BE6659C2EE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226720"/>
            <a:ext cx="5257800" cy="142665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37E9EF9-5AB4-EA7C-3825-EA0C9EED18FF}"/>
              </a:ext>
            </a:extLst>
          </p:cNvPr>
          <p:cNvSpPr txBox="1"/>
          <p:nvPr/>
        </p:nvSpPr>
        <p:spPr>
          <a:xfrm>
            <a:off x="6413500" y="1447800"/>
            <a:ext cx="2032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007554"/>
                </a:solidFill>
                <a:latin typeface="Arial" panose="020B0604020202020204" pitchFamily="34" charset="0"/>
              </a:rPr>
              <a:t>•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918B7C-394E-FB1B-E86B-20655FED00E2}"/>
              </a:ext>
            </a:extLst>
          </p:cNvPr>
          <p:cNvSpPr txBox="1"/>
          <p:nvPr/>
        </p:nvSpPr>
        <p:spPr>
          <a:xfrm>
            <a:off x="6692900" y="1460500"/>
            <a:ext cx="42926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263034"/>
                </a:solidFill>
                <a:latin typeface="Arial" panose="020B0604020202020204" pitchFamily="34" charset="0"/>
              </a:rPr>
              <a:t>Imagine fundus -&gt; preprocesare -&gt; model CNN -&gt; scoruri pe clase.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51CD8A-7000-DCA2-0B84-49BA57C78EE6}"/>
              </a:ext>
            </a:extLst>
          </p:cNvPr>
          <p:cNvSpPr txBox="1"/>
          <p:nvPr/>
        </p:nvSpPr>
        <p:spPr>
          <a:xfrm>
            <a:off x="6413500" y="1993900"/>
            <a:ext cx="2032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007554"/>
                </a:solidFill>
                <a:latin typeface="Arial" panose="020B0604020202020204" pitchFamily="34" charset="0"/>
              </a:rPr>
              <a:t>•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857082-C0EC-7BD1-3190-B3F5EA58D312}"/>
              </a:ext>
            </a:extLst>
          </p:cNvPr>
          <p:cNvSpPr txBox="1"/>
          <p:nvPr/>
        </p:nvSpPr>
        <p:spPr>
          <a:xfrm>
            <a:off x="6692900" y="2006600"/>
            <a:ext cx="42926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fr-FR" sz="1500">
                <a:solidFill>
                  <a:srgbClr val="263034"/>
                </a:solidFill>
                <a:latin typeface="Arial" panose="020B0604020202020204" pitchFamily="34" charset="0"/>
              </a:rPr>
              <a:t>Au fost comparate ResNet50, InceptionResNetV2 și EfficientNet-B3.</a:t>
            </a:r>
            <a:endParaRPr lang="en-US" sz="1500">
              <a:solidFill>
                <a:srgbClr val="263034"/>
              </a:solidFill>
              <a:latin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3A5163-9F9E-E105-91C3-855B94324607}"/>
              </a:ext>
            </a:extLst>
          </p:cNvPr>
          <p:cNvSpPr txBox="1"/>
          <p:nvPr/>
        </p:nvSpPr>
        <p:spPr>
          <a:xfrm>
            <a:off x="6413500" y="2540000"/>
            <a:ext cx="2032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007554"/>
                </a:solidFill>
                <a:latin typeface="Arial" panose="020B0604020202020204" pitchFamily="34" charset="0"/>
              </a:rPr>
              <a:t>•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D8A090-47AD-01C6-40A6-539EE1DDB5F0}"/>
              </a:ext>
            </a:extLst>
          </p:cNvPr>
          <p:cNvSpPr txBox="1"/>
          <p:nvPr/>
        </p:nvSpPr>
        <p:spPr>
          <a:xfrm>
            <a:off x="6692900" y="2552700"/>
            <a:ext cx="42926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263034"/>
                </a:solidFill>
                <a:latin typeface="Arial" panose="020B0604020202020204" pitchFamily="34" charset="0"/>
              </a:rPr>
              <a:t>Aplicația web permite încărcarea imaginii și selectarea modelului.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061FD2-C93F-0B0B-B04F-36199E846C17}"/>
              </a:ext>
            </a:extLst>
          </p:cNvPr>
          <p:cNvSpPr txBox="1"/>
          <p:nvPr/>
        </p:nvSpPr>
        <p:spPr>
          <a:xfrm>
            <a:off x="6413500" y="3086100"/>
            <a:ext cx="2032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007554"/>
                </a:solidFill>
                <a:latin typeface="Arial" panose="020B0604020202020204" pitchFamily="34" charset="0"/>
              </a:rPr>
              <a:t>•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B411B9-BBD7-BDF2-A648-94F36AE74C20}"/>
              </a:ext>
            </a:extLst>
          </p:cNvPr>
          <p:cNvSpPr txBox="1"/>
          <p:nvPr/>
        </p:nvSpPr>
        <p:spPr>
          <a:xfrm>
            <a:off x="6692900" y="3098800"/>
            <a:ext cx="42926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263034"/>
                </a:solidFill>
                <a:latin typeface="Arial" panose="020B0604020202020204" pitchFamily="34" charset="0"/>
              </a:rPr>
              <a:t>Rezultatul este afișat cu clasa prezisă și recomandări orientative.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604509C-FC98-BA06-6AF6-936EC4140B98}"/>
              </a:ext>
            </a:extLst>
          </p:cNvPr>
          <p:cNvSpPr/>
          <p:nvPr/>
        </p:nvSpPr>
        <p:spPr>
          <a:xfrm>
            <a:off x="6553200" y="3987800"/>
            <a:ext cx="4292600" cy="1625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2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E5F097C-E657-7B98-9BB2-4F34D48B1B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0" y="4080545"/>
            <a:ext cx="4191000" cy="144011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225C847-36C3-E4DC-BF96-441C6182DFB4}"/>
              </a:ext>
            </a:extLst>
          </p:cNvPr>
          <p:cNvSpPr txBox="1"/>
          <p:nvPr/>
        </p:nvSpPr>
        <p:spPr>
          <a:xfrm>
            <a:off x="533400" y="6527800"/>
            <a:ext cx="8255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5C696E"/>
                </a:solidFill>
                <a:latin typeface="Arial" panose="020B0604020202020204" pitchFamily="34" charset="0"/>
              </a:rPr>
              <a:t>Analiza imaginilor cu fund de ochi pentru ajutor în diagnosticul retinopatiei diabetice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867AEF1-D56C-51AC-21BB-785EA82EEAB0}"/>
              </a:ext>
            </a:extLst>
          </p:cNvPr>
          <p:cNvSpPr txBox="1"/>
          <p:nvPr/>
        </p:nvSpPr>
        <p:spPr>
          <a:xfrm>
            <a:off x="9652000" y="6527800"/>
            <a:ext cx="203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5C696E"/>
                </a:solidFill>
                <a:latin typeface="Arial" panose="020B0604020202020204" pitchFamily="34" charset="0"/>
              </a:rPr>
              <a:t>Stancovici Marian</a:t>
            </a:r>
          </a:p>
        </p:txBody>
      </p:sp>
    </p:spTree>
    <p:extLst>
      <p:ext uri="{BB962C8B-B14F-4D97-AF65-F5344CB8AC3E}">
        <p14:creationId xmlns:p14="http://schemas.microsoft.com/office/powerpoint/2010/main" val="1995383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9B20CA1-9516-F31C-DAF7-55BFAB694468}"/>
              </a:ext>
            </a:extLst>
          </p:cNvPr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00755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C7C6D7-C2C4-C18B-8E2C-A6FF178BB5EC}"/>
              </a:ext>
            </a:extLst>
          </p:cNvPr>
          <p:cNvSpPr txBox="1"/>
          <p:nvPr/>
        </p:nvSpPr>
        <p:spPr>
          <a:xfrm>
            <a:off x="533400" y="190500"/>
            <a:ext cx="9652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900" b="1">
                <a:solidFill>
                  <a:srgbClr val="FFFFFF"/>
                </a:solidFill>
                <a:latin typeface="Arial" panose="020B0604020202020204" pitchFamily="34" charset="0"/>
              </a:rPr>
              <a:t>Sistem final în două etape</a:t>
            </a:r>
            <a:endParaRPr lang="en-US" sz="19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73887B-2645-7665-D4FC-15FE4856AC88}"/>
              </a:ext>
            </a:extLst>
          </p:cNvPr>
          <p:cNvSpPr txBox="1"/>
          <p:nvPr/>
        </p:nvSpPr>
        <p:spPr>
          <a:xfrm>
            <a:off x="11150600" y="177800"/>
            <a:ext cx="533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F065E3-D3B0-8872-77B9-A88D34DFAC2E}"/>
              </a:ext>
            </a:extLst>
          </p:cNvPr>
          <p:cNvSpPr/>
          <p:nvPr/>
        </p:nvSpPr>
        <p:spPr>
          <a:xfrm>
            <a:off x="508000" y="914400"/>
            <a:ext cx="914400" cy="63500"/>
          </a:xfrm>
          <a:prstGeom prst="rect">
            <a:avLst/>
          </a:prstGeom>
          <a:solidFill>
            <a:srgbClr val="00755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E76EBB-7032-614E-3E91-6B61102E9F1E}"/>
              </a:ext>
            </a:extLst>
          </p:cNvPr>
          <p:cNvSpPr txBox="1"/>
          <p:nvPr/>
        </p:nvSpPr>
        <p:spPr>
          <a:xfrm>
            <a:off x="889000" y="1092200"/>
            <a:ext cx="10033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5C696E"/>
                </a:solidFill>
                <a:latin typeface="Arial" panose="020B0604020202020204" pitchFamily="34" charset="0"/>
              </a:rPr>
              <a:t>Strategie propusă pentru reducerea fals pozitivelor și folosirea mai eficientă a modelului 0-4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ABA2F0C-32DB-0C78-A307-323F72DC3840}"/>
              </a:ext>
            </a:extLst>
          </p:cNvPr>
          <p:cNvSpPr/>
          <p:nvPr/>
        </p:nvSpPr>
        <p:spPr>
          <a:xfrm>
            <a:off x="762000" y="2032000"/>
            <a:ext cx="2730500" cy="1117600"/>
          </a:xfrm>
          <a:prstGeom prst="roundRect">
            <a:avLst/>
          </a:prstGeom>
          <a:solidFill>
            <a:srgbClr val="FFFFFF"/>
          </a:solidFill>
          <a:ln>
            <a:solidFill>
              <a:srgbClr val="CEDA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C7930A-F70F-AA43-9EEF-7BCA8F85C6F3}"/>
              </a:ext>
            </a:extLst>
          </p:cNvPr>
          <p:cNvSpPr txBox="1"/>
          <p:nvPr/>
        </p:nvSpPr>
        <p:spPr>
          <a:xfrm>
            <a:off x="1143000" y="2336800"/>
            <a:ext cx="196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b="1">
                <a:solidFill>
                  <a:srgbClr val="007554"/>
                </a:solidFill>
                <a:latin typeface="Arial" panose="020B0604020202020204" pitchFamily="34" charset="0"/>
              </a:rPr>
              <a:t>Model binar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0630E6-F6BD-60E2-5136-4463DD489856}"/>
              </a:ext>
            </a:extLst>
          </p:cNvPr>
          <p:cNvSpPr txBox="1"/>
          <p:nvPr/>
        </p:nvSpPr>
        <p:spPr>
          <a:xfrm>
            <a:off x="1041400" y="2717800"/>
            <a:ext cx="2184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300">
                <a:solidFill>
                  <a:srgbClr val="5C696E"/>
                </a:solidFill>
                <a:latin typeface="Arial" panose="020B0604020202020204" pitchFamily="34" charset="0"/>
              </a:rPr>
              <a:t>clasa 0 vs. retinopatie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DBA576-78AA-0B9B-D6E6-00496D38DDA7}"/>
              </a:ext>
            </a:extLst>
          </p:cNvPr>
          <p:cNvSpPr/>
          <p:nvPr/>
        </p:nvSpPr>
        <p:spPr>
          <a:xfrm>
            <a:off x="3708400" y="2514600"/>
            <a:ext cx="1117600" cy="50800"/>
          </a:xfrm>
          <a:prstGeom prst="rect">
            <a:avLst/>
          </a:prstGeom>
          <a:solidFill>
            <a:srgbClr val="00755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DD5A448-7A87-C26F-DD95-F360878B6493}"/>
              </a:ext>
            </a:extLst>
          </p:cNvPr>
          <p:cNvSpPr/>
          <p:nvPr/>
        </p:nvSpPr>
        <p:spPr>
          <a:xfrm>
            <a:off x="5029200" y="1651000"/>
            <a:ext cx="2730500" cy="965200"/>
          </a:xfrm>
          <a:prstGeom prst="roundRect">
            <a:avLst/>
          </a:prstGeom>
          <a:solidFill>
            <a:srgbClr val="E1F1EB"/>
          </a:solidFill>
          <a:ln>
            <a:solidFill>
              <a:srgbClr val="0075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315580-F1C3-AF9E-DBDC-6E1302E92EC8}"/>
              </a:ext>
            </a:extLst>
          </p:cNvPr>
          <p:cNvSpPr txBox="1"/>
          <p:nvPr/>
        </p:nvSpPr>
        <p:spPr>
          <a:xfrm>
            <a:off x="5562600" y="1955800"/>
            <a:ext cx="165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b="1">
                <a:solidFill>
                  <a:srgbClr val="005541"/>
                </a:solidFill>
                <a:latin typeface="Arial" panose="020B0604020202020204" pitchFamily="34" charset="0"/>
              </a:rPr>
              <a:t>0 sigur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B299AF-D62A-19B0-6CDC-BF16C09290C5}"/>
              </a:ext>
            </a:extLst>
          </p:cNvPr>
          <p:cNvSpPr txBox="1"/>
          <p:nvPr/>
        </p:nvSpPr>
        <p:spPr>
          <a:xfrm>
            <a:off x="5435600" y="2286000"/>
            <a:ext cx="190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5C696E"/>
                </a:solidFill>
                <a:latin typeface="Arial" panose="020B0604020202020204" pitchFamily="34" charset="0"/>
              </a:rPr>
              <a:t>se oprește ca normal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EB3675B-3656-9FD0-3798-ECBE7B7D0AF5}"/>
              </a:ext>
            </a:extLst>
          </p:cNvPr>
          <p:cNvSpPr/>
          <p:nvPr/>
        </p:nvSpPr>
        <p:spPr>
          <a:xfrm>
            <a:off x="5029200" y="3429000"/>
            <a:ext cx="2730500" cy="1041400"/>
          </a:xfrm>
          <a:prstGeom prst="roundRect">
            <a:avLst/>
          </a:prstGeom>
          <a:solidFill>
            <a:srgbClr val="FFFFFF"/>
          </a:solidFill>
          <a:ln>
            <a:solidFill>
              <a:srgbClr val="CEDA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80825A-BEA3-1C8D-B169-2D0108D8552D}"/>
              </a:ext>
            </a:extLst>
          </p:cNvPr>
          <p:cNvSpPr txBox="1"/>
          <p:nvPr/>
        </p:nvSpPr>
        <p:spPr>
          <a:xfrm>
            <a:off x="5334000" y="3708400"/>
            <a:ext cx="2133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600" b="1">
                <a:solidFill>
                  <a:srgbClr val="007554"/>
                </a:solidFill>
                <a:latin typeface="Arial" panose="020B0604020202020204" pitchFamily="34" charset="0"/>
              </a:rPr>
              <a:t>caz nesigur / pozitiv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451C68-5149-60C5-6EE4-FC5E22DA2A5F}"/>
              </a:ext>
            </a:extLst>
          </p:cNvPr>
          <p:cNvSpPr txBox="1"/>
          <p:nvPr/>
        </p:nvSpPr>
        <p:spPr>
          <a:xfrm>
            <a:off x="5461000" y="4064000"/>
            <a:ext cx="190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5C696E"/>
                </a:solidFill>
                <a:latin typeface="Arial" panose="020B0604020202020204" pitchFamily="34" charset="0"/>
              </a:rPr>
              <a:t>merge mai departe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64BE474-EF6E-E765-471D-E07D59D3958F}"/>
              </a:ext>
            </a:extLst>
          </p:cNvPr>
          <p:cNvSpPr/>
          <p:nvPr/>
        </p:nvSpPr>
        <p:spPr>
          <a:xfrm>
            <a:off x="6413500" y="2755900"/>
            <a:ext cx="50800" cy="609600"/>
          </a:xfrm>
          <a:prstGeom prst="rect">
            <a:avLst/>
          </a:prstGeom>
          <a:solidFill>
            <a:srgbClr val="00755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AE5B85B-9479-9CE1-688C-877BB5CB2D99}"/>
              </a:ext>
            </a:extLst>
          </p:cNvPr>
          <p:cNvSpPr/>
          <p:nvPr/>
        </p:nvSpPr>
        <p:spPr>
          <a:xfrm>
            <a:off x="8712200" y="2870200"/>
            <a:ext cx="2794000" cy="1244600"/>
          </a:xfrm>
          <a:prstGeom prst="roundRect">
            <a:avLst/>
          </a:prstGeom>
          <a:solidFill>
            <a:srgbClr val="FFFFFF"/>
          </a:solidFill>
          <a:ln>
            <a:solidFill>
              <a:srgbClr val="CEDA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8C4C32-D801-CD0E-8368-6CB3938D2162}"/>
              </a:ext>
            </a:extLst>
          </p:cNvPr>
          <p:cNvSpPr txBox="1"/>
          <p:nvPr/>
        </p:nvSpPr>
        <p:spPr>
          <a:xfrm>
            <a:off x="9093200" y="3175000"/>
            <a:ext cx="203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700" b="1">
                <a:solidFill>
                  <a:srgbClr val="007554"/>
                </a:solidFill>
                <a:latin typeface="Arial" panose="020B0604020202020204" pitchFamily="34" charset="0"/>
              </a:rPr>
              <a:t>Model severitate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1D4AB64-25AA-E3B4-5335-F37BB898AC97}"/>
              </a:ext>
            </a:extLst>
          </p:cNvPr>
          <p:cNvSpPr txBox="1"/>
          <p:nvPr/>
        </p:nvSpPr>
        <p:spPr>
          <a:xfrm>
            <a:off x="9093200" y="3556000"/>
            <a:ext cx="2032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200">
                <a:solidFill>
                  <a:srgbClr val="5C696E"/>
                </a:solidFill>
                <a:latin typeface="Arial" panose="020B0604020202020204" pitchFamily="34" charset="0"/>
              </a:rPr>
              <a:t>regresie / clasificare 0-4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7C6AB1D-2A79-5627-71C4-4D37B84CB6F6}"/>
              </a:ext>
            </a:extLst>
          </p:cNvPr>
          <p:cNvSpPr/>
          <p:nvPr/>
        </p:nvSpPr>
        <p:spPr>
          <a:xfrm>
            <a:off x="8001000" y="3403600"/>
            <a:ext cx="533400" cy="50800"/>
          </a:xfrm>
          <a:prstGeom prst="rect">
            <a:avLst/>
          </a:prstGeom>
          <a:solidFill>
            <a:srgbClr val="00755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5897EEE-C07E-980F-27C1-7F410A206584}"/>
              </a:ext>
            </a:extLst>
          </p:cNvPr>
          <p:cNvSpPr txBox="1"/>
          <p:nvPr/>
        </p:nvSpPr>
        <p:spPr>
          <a:xfrm>
            <a:off x="939800" y="5041900"/>
            <a:ext cx="203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007554"/>
                </a:solidFill>
                <a:latin typeface="Arial" panose="020B0604020202020204" pitchFamily="34" charset="0"/>
              </a:rPr>
              <a:t>•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8B5B32A-45D4-C80F-A870-F053EBCA92E4}"/>
              </a:ext>
            </a:extLst>
          </p:cNvPr>
          <p:cNvSpPr txBox="1"/>
          <p:nvPr/>
        </p:nvSpPr>
        <p:spPr>
          <a:xfrm>
            <a:off x="1219200" y="5054600"/>
            <a:ext cx="9372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263034"/>
                </a:solidFill>
                <a:latin typeface="Arial" panose="020B0604020202020204" pitchFamily="34" charset="0"/>
              </a:rPr>
              <a:t>Avantaj: elimină rapid imaginile clar normale.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57172EA-C1EA-EC7A-BBAF-B057E7C4D435}"/>
              </a:ext>
            </a:extLst>
          </p:cNvPr>
          <p:cNvSpPr txBox="1"/>
          <p:nvPr/>
        </p:nvSpPr>
        <p:spPr>
          <a:xfrm>
            <a:off x="939800" y="5422900"/>
            <a:ext cx="203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007554"/>
                </a:solidFill>
                <a:latin typeface="Arial" panose="020B0604020202020204" pitchFamily="34" charset="0"/>
              </a:rPr>
              <a:t>•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46C0A3-E616-9DAB-1735-3C330E39C855}"/>
              </a:ext>
            </a:extLst>
          </p:cNvPr>
          <p:cNvSpPr txBox="1"/>
          <p:nvPr/>
        </p:nvSpPr>
        <p:spPr>
          <a:xfrm>
            <a:off x="1219200" y="5435600"/>
            <a:ext cx="9372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it-IT" sz="1400">
                <a:solidFill>
                  <a:srgbClr val="263034"/>
                </a:solidFill>
                <a:latin typeface="Arial" panose="020B0604020202020204" pitchFamily="34" charset="0"/>
              </a:rPr>
              <a:t>Modelul 0-4 se concentrează pe cazurile mai ambigue.</a:t>
            </a:r>
            <a:endParaRPr lang="en-US" sz="1400">
              <a:solidFill>
                <a:srgbClr val="263034"/>
              </a:solidFill>
              <a:latin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608DA0A-357E-6039-9C3A-9006506441FF}"/>
              </a:ext>
            </a:extLst>
          </p:cNvPr>
          <p:cNvSpPr txBox="1"/>
          <p:nvPr/>
        </p:nvSpPr>
        <p:spPr>
          <a:xfrm>
            <a:off x="939800" y="5803900"/>
            <a:ext cx="203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007554"/>
                </a:solidFill>
                <a:latin typeface="Arial" panose="020B0604020202020204" pitchFamily="34" charset="0"/>
              </a:rPr>
              <a:t>•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A410FA-3CCA-CD6D-1D83-78059519777A}"/>
              </a:ext>
            </a:extLst>
          </p:cNvPr>
          <p:cNvSpPr txBox="1"/>
          <p:nvPr/>
        </p:nvSpPr>
        <p:spPr>
          <a:xfrm>
            <a:off x="1219200" y="5816600"/>
            <a:ext cx="9372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263034"/>
                </a:solidFill>
                <a:latin typeface="Arial" panose="020B0604020202020204" pitchFamily="34" charset="0"/>
              </a:rPr>
              <a:t>Direcție viitoare: calibrare de praguri și analiză clinică pe fals pozitive.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8638B8-A530-1502-FC92-2679F49A2534}"/>
              </a:ext>
            </a:extLst>
          </p:cNvPr>
          <p:cNvSpPr txBox="1"/>
          <p:nvPr/>
        </p:nvSpPr>
        <p:spPr>
          <a:xfrm>
            <a:off x="533400" y="6527800"/>
            <a:ext cx="8255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5C696E"/>
                </a:solidFill>
                <a:latin typeface="Arial" panose="020B0604020202020204" pitchFamily="34" charset="0"/>
              </a:rPr>
              <a:t>Analiza imaginilor cu fund de ochi pentru ajutor în diagnosticul retinopatiei diabetice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E057D97-94B6-F2D0-82E6-F023F0922890}"/>
              </a:ext>
            </a:extLst>
          </p:cNvPr>
          <p:cNvSpPr txBox="1"/>
          <p:nvPr/>
        </p:nvSpPr>
        <p:spPr>
          <a:xfrm>
            <a:off x="9652000" y="6527800"/>
            <a:ext cx="203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5C696E"/>
                </a:solidFill>
                <a:latin typeface="Arial" panose="020B0604020202020204" pitchFamily="34" charset="0"/>
              </a:rPr>
              <a:t>Stancovici Marian</a:t>
            </a:r>
          </a:p>
        </p:txBody>
      </p:sp>
    </p:spTree>
    <p:extLst>
      <p:ext uri="{BB962C8B-B14F-4D97-AF65-F5344CB8AC3E}">
        <p14:creationId xmlns:p14="http://schemas.microsoft.com/office/powerpoint/2010/main" val="14275685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F7E0D47-74DE-3CD7-CC83-681C6E26FF3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55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BA1F8F-79DB-31C9-24FB-D9806D7E9C5D}"/>
              </a:ext>
            </a:extLst>
          </p:cNvPr>
          <p:cNvSpPr/>
          <p:nvPr/>
        </p:nvSpPr>
        <p:spPr>
          <a:xfrm>
            <a:off x="0" y="0"/>
            <a:ext cx="12192000" cy="1168400"/>
          </a:xfrm>
          <a:prstGeom prst="rect">
            <a:avLst/>
          </a:prstGeom>
          <a:solidFill>
            <a:srgbClr val="00554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B0232D-03C8-5BE7-FE67-94A9AF2B7CE1}"/>
              </a:ext>
            </a:extLst>
          </p:cNvPr>
          <p:cNvSpPr/>
          <p:nvPr/>
        </p:nvSpPr>
        <p:spPr>
          <a:xfrm>
            <a:off x="0" y="5689600"/>
            <a:ext cx="12192000" cy="1168400"/>
          </a:xfrm>
          <a:prstGeom prst="rect">
            <a:avLst/>
          </a:prstGeom>
          <a:solidFill>
            <a:srgbClr val="00554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2B7738-D9B8-8DCF-AF40-FE81891BE1B6}"/>
              </a:ext>
            </a:extLst>
          </p:cNvPr>
          <p:cNvSpPr txBox="1"/>
          <p:nvPr/>
        </p:nvSpPr>
        <p:spPr>
          <a:xfrm>
            <a:off x="914400" y="2603500"/>
            <a:ext cx="103632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3600" b="1">
                <a:solidFill>
                  <a:srgbClr val="FFFFFF"/>
                </a:solidFill>
                <a:latin typeface="Arial" panose="020B0604020202020204" pitchFamily="34" charset="0"/>
              </a:rPr>
              <a:t>Rezultate experimentale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FC6175-5B53-1482-54ED-F0C2F035794C}"/>
              </a:ext>
            </a:extLst>
          </p:cNvPr>
          <p:cNvSpPr txBox="1"/>
          <p:nvPr/>
        </p:nvSpPr>
        <p:spPr>
          <a:xfrm>
            <a:off x="1841500" y="3530600"/>
            <a:ext cx="8509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it-IT" sz="1600">
                <a:solidFill>
                  <a:srgbClr val="E1F1EB"/>
                </a:solidFill>
                <a:latin typeface="Arial" panose="020B0604020202020204" pitchFamily="34" charset="0"/>
              </a:rPr>
              <a:t>Metrici, curbe de antrenare și erori relevante clinic</a:t>
            </a:r>
            <a:endParaRPr lang="en-US" sz="1600">
              <a:solidFill>
                <a:srgbClr val="E1F1EB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78429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1CDC40C-8AAF-16DD-E493-1AD71844F66C}"/>
              </a:ext>
            </a:extLst>
          </p:cNvPr>
          <p:cNvSpPr/>
          <p:nvPr/>
        </p:nvSpPr>
        <p:spPr>
          <a:xfrm>
            <a:off x="0" y="0"/>
            <a:ext cx="12192000" cy="736600"/>
          </a:xfrm>
          <a:prstGeom prst="rect">
            <a:avLst/>
          </a:prstGeom>
          <a:solidFill>
            <a:srgbClr val="00755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9452D1-DBE5-91A0-EDA3-D4E8048BE4F9}"/>
              </a:ext>
            </a:extLst>
          </p:cNvPr>
          <p:cNvSpPr txBox="1"/>
          <p:nvPr/>
        </p:nvSpPr>
        <p:spPr>
          <a:xfrm>
            <a:off x="533400" y="190500"/>
            <a:ext cx="9652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>
                <a:solidFill>
                  <a:srgbClr val="FFFFFF"/>
                </a:solidFill>
                <a:latin typeface="Arial" panose="020B0604020202020204" pitchFamily="34" charset="0"/>
              </a:rPr>
              <a:t>Rezultate principale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B1CC16-F06E-BE71-9391-E17520315E88}"/>
              </a:ext>
            </a:extLst>
          </p:cNvPr>
          <p:cNvSpPr txBox="1"/>
          <p:nvPr/>
        </p:nvSpPr>
        <p:spPr>
          <a:xfrm>
            <a:off x="11150600" y="177800"/>
            <a:ext cx="533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700" b="1">
                <a:solidFill>
                  <a:srgbClr val="FFFFFF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483F2F9-E2C1-16BF-842E-464B5961E6C5}"/>
              </a:ext>
            </a:extLst>
          </p:cNvPr>
          <p:cNvSpPr/>
          <p:nvPr/>
        </p:nvSpPr>
        <p:spPr>
          <a:xfrm>
            <a:off x="508000" y="914400"/>
            <a:ext cx="914400" cy="63500"/>
          </a:xfrm>
          <a:prstGeom prst="rect">
            <a:avLst/>
          </a:prstGeom>
          <a:solidFill>
            <a:srgbClr val="00755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883314E-EA9A-9B8C-9D82-8BA0F51EBC68}"/>
              </a:ext>
            </a:extLst>
          </p:cNvPr>
          <p:cNvSpPr/>
          <p:nvPr/>
        </p:nvSpPr>
        <p:spPr>
          <a:xfrm>
            <a:off x="584200" y="1219200"/>
            <a:ext cx="2730500" cy="1041400"/>
          </a:xfrm>
          <a:prstGeom prst="roundRect">
            <a:avLst/>
          </a:prstGeom>
          <a:solidFill>
            <a:srgbClr val="FFFFFF"/>
          </a:solidFill>
          <a:ln>
            <a:solidFill>
              <a:srgbClr val="DBE2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E4A1CF-9A3D-F341-089B-FF038764F392}"/>
              </a:ext>
            </a:extLst>
          </p:cNvPr>
          <p:cNvSpPr txBox="1"/>
          <p:nvPr/>
        </p:nvSpPr>
        <p:spPr>
          <a:xfrm>
            <a:off x="889000" y="1447800"/>
            <a:ext cx="2032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007554"/>
                </a:solidFill>
                <a:latin typeface="Arial" panose="020B0604020202020204" pitchFamily="34" charset="0"/>
              </a:rPr>
              <a:t>Binar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E1198A-6C86-C8BD-9D6E-DC872A811A30}"/>
              </a:ext>
            </a:extLst>
          </p:cNvPr>
          <p:cNvSpPr txBox="1"/>
          <p:nvPr/>
        </p:nvSpPr>
        <p:spPr>
          <a:xfrm>
            <a:off x="889000" y="1778000"/>
            <a:ext cx="203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700" b="1">
                <a:solidFill>
                  <a:srgbClr val="263034"/>
                </a:solidFill>
                <a:latin typeface="Arial" panose="020B0604020202020204" pitchFamily="34" charset="0"/>
              </a:rPr>
              <a:t>Val AUC 0,8602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EAD30EC-C2DF-9EF7-80A6-31576F29E40B}"/>
              </a:ext>
            </a:extLst>
          </p:cNvPr>
          <p:cNvSpPr/>
          <p:nvPr/>
        </p:nvSpPr>
        <p:spPr>
          <a:xfrm>
            <a:off x="3530600" y="1219200"/>
            <a:ext cx="2730500" cy="1041400"/>
          </a:xfrm>
          <a:prstGeom prst="roundRect">
            <a:avLst/>
          </a:prstGeom>
          <a:solidFill>
            <a:srgbClr val="FFFFFF"/>
          </a:solidFill>
          <a:ln>
            <a:solidFill>
              <a:srgbClr val="DBE2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C8CB48-605A-1BEA-9626-547BC6BCFF72}"/>
              </a:ext>
            </a:extLst>
          </p:cNvPr>
          <p:cNvSpPr txBox="1"/>
          <p:nvPr/>
        </p:nvSpPr>
        <p:spPr>
          <a:xfrm>
            <a:off x="3810000" y="1447800"/>
            <a:ext cx="2159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007554"/>
                </a:solidFill>
                <a:latin typeface="Arial" panose="020B0604020202020204" pitchFamily="34" charset="0"/>
              </a:rPr>
              <a:t>Cross-entropy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8C2574-7C2F-C1FF-D0BC-691CEF92977F}"/>
              </a:ext>
            </a:extLst>
          </p:cNvPr>
          <p:cNvSpPr txBox="1"/>
          <p:nvPr/>
        </p:nvSpPr>
        <p:spPr>
          <a:xfrm>
            <a:off x="3873500" y="1778000"/>
            <a:ext cx="203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700" b="1">
                <a:solidFill>
                  <a:srgbClr val="263034"/>
                </a:solidFill>
                <a:latin typeface="Arial" panose="020B0604020202020204" pitchFamily="34" charset="0"/>
              </a:rPr>
              <a:t>QWK 0,6247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BF2178E-D8BC-853E-C662-BD1F9A19CBC1}"/>
              </a:ext>
            </a:extLst>
          </p:cNvPr>
          <p:cNvSpPr/>
          <p:nvPr/>
        </p:nvSpPr>
        <p:spPr>
          <a:xfrm>
            <a:off x="6477000" y="1219200"/>
            <a:ext cx="2286000" cy="1041400"/>
          </a:xfrm>
          <a:prstGeom prst="roundRect">
            <a:avLst/>
          </a:prstGeom>
          <a:solidFill>
            <a:srgbClr val="FFFFFF"/>
          </a:solidFill>
          <a:ln>
            <a:solidFill>
              <a:srgbClr val="DBE2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362F0AA-F4EB-F10A-68D3-32139890BF93}"/>
              </a:ext>
            </a:extLst>
          </p:cNvPr>
          <p:cNvSpPr txBox="1"/>
          <p:nvPr/>
        </p:nvSpPr>
        <p:spPr>
          <a:xfrm>
            <a:off x="6794500" y="1447800"/>
            <a:ext cx="1651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007554"/>
                </a:solidFill>
                <a:latin typeface="Arial" panose="020B0604020202020204" pitchFamily="34" charset="0"/>
              </a:rPr>
              <a:t>Regresie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9D11FE0-1EB1-D2C4-97E3-315EDE199146}"/>
              </a:ext>
            </a:extLst>
          </p:cNvPr>
          <p:cNvSpPr txBox="1"/>
          <p:nvPr/>
        </p:nvSpPr>
        <p:spPr>
          <a:xfrm>
            <a:off x="6731000" y="1778000"/>
            <a:ext cx="1778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700" b="1">
                <a:solidFill>
                  <a:srgbClr val="263034"/>
                </a:solidFill>
                <a:latin typeface="Arial" panose="020B0604020202020204" pitchFamily="34" charset="0"/>
              </a:rPr>
              <a:t>QWK 0,6440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AA11F3CE-F2B6-BC70-B053-B0A7077055D2}"/>
              </a:ext>
            </a:extLst>
          </p:cNvPr>
          <p:cNvSpPr/>
          <p:nvPr/>
        </p:nvSpPr>
        <p:spPr>
          <a:xfrm>
            <a:off x="8991600" y="1219200"/>
            <a:ext cx="2413000" cy="1041400"/>
          </a:xfrm>
          <a:prstGeom prst="roundRect">
            <a:avLst/>
          </a:prstGeom>
          <a:solidFill>
            <a:srgbClr val="FFFFFF"/>
          </a:solidFill>
          <a:ln>
            <a:solidFill>
              <a:srgbClr val="DBE2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72371D8-77BE-46AC-5078-8BC861AA2E00}"/>
              </a:ext>
            </a:extLst>
          </p:cNvPr>
          <p:cNvSpPr txBox="1"/>
          <p:nvPr/>
        </p:nvSpPr>
        <p:spPr>
          <a:xfrm>
            <a:off x="9334500" y="1447800"/>
            <a:ext cx="1651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400" b="1">
                <a:solidFill>
                  <a:srgbClr val="007554"/>
                </a:solidFill>
                <a:latin typeface="Arial" panose="020B0604020202020204" pitchFamily="34" charset="0"/>
              </a:rPr>
              <a:t>Ordinal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49BE800-E2D9-5BC5-3B8D-E04554A20318}"/>
              </a:ext>
            </a:extLst>
          </p:cNvPr>
          <p:cNvSpPr txBox="1"/>
          <p:nvPr/>
        </p:nvSpPr>
        <p:spPr>
          <a:xfrm>
            <a:off x="9309100" y="1778000"/>
            <a:ext cx="1778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700" b="1">
                <a:solidFill>
                  <a:srgbClr val="263034"/>
                </a:solidFill>
                <a:latin typeface="Arial" panose="020B0604020202020204" pitchFamily="34" charset="0"/>
              </a:rPr>
              <a:t>QWK 0,6561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2E5031E-AE5D-9EAD-D186-B92E91183ECB}"/>
              </a:ext>
            </a:extLst>
          </p:cNvPr>
          <p:cNvSpPr/>
          <p:nvPr/>
        </p:nvSpPr>
        <p:spPr>
          <a:xfrm>
            <a:off x="584200" y="2679700"/>
            <a:ext cx="5118100" cy="276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2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13F536F3-5173-BD54-D7D4-DB96FD1127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345" y="2730500"/>
            <a:ext cx="3847810" cy="2667001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4B4E2396-DB8C-E2E0-4C74-62F3DB4FF758}"/>
              </a:ext>
            </a:extLst>
          </p:cNvPr>
          <p:cNvSpPr/>
          <p:nvPr/>
        </p:nvSpPr>
        <p:spPr>
          <a:xfrm>
            <a:off x="6489700" y="2667000"/>
            <a:ext cx="4737100" cy="279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AE2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A095724F-F0D2-FE94-6382-6F32F2C9EE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7784" y="2717800"/>
            <a:ext cx="3420932" cy="269240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A3E57347-97C7-5C97-F6D9-AD564BDAC567}"/>
              </a:ext>
            </a:extLst>
          </p:cNvPr>
          <p:cNvSpPr txBox="1"/>
          <p:nvPr/>
        </p:nvSpPr>
        <p:spPr>
          <a:xfrm>
            <a:off x="889000" y="5689600"/>
            <a:ext cx="10160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>
                <a:solidFill>
                  <a:srgbClr val="5C696E"/>
                </a:solidFill>
                <a:latin typeface="Arial" panose="020B0604020202020204" pitchFamily="34" charset="0"/>
              </a:rPr>
              <a:t>Modelul ordinal are cea mai bună aliniere cu severitatea clinică: majoritatea erorilor rămân la un singur grad distanță.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108FB28-9353-5FE8-5BBB-F83E520774DA}"/>
              </a:ext>
            </a:extLst>
          </p:cNvPr>
          <p:cNvSpPr txBox="1"/>
          <p:nvPr/>
        </p:nvSpPr>
        <p:spPr>
          <a:xfrm>
            <a:off x="533400" y="6527800"/>
            <a:ext cx="8255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5C696E"/>
                </a:solidFill>
                <a:latin typeface="Arial" panose="020B0604020202020204" pitchFamily="34" charset="0"/>
              </a:rPr>
              <a:t>Analiza imaginilor cu fund de ochi pentru ajutor în diagnosticul retinopatiei diabetice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2D2A46D-8D40-BC67-0257-2A869146D616}"/>
              </a:ext>
            </a:extLst>
          </p:cNvPr>
          <p:cNvSpPr txBox="1"/>
          <p:nvPr/>
        </p:nvSpPr>
        <p:spPr>
          <a:xfrm>
            <a:off x="9652000" y="6527800"/>
            <a:ext cx="2032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00">
                <a:solidFill>
                  <a:srgbClr val="5C696E"/>
                </a:solidFill>
                <a:latin typeface="Arial" panose="020B0604020202020204" pitchFamily="34" charset="0"/>
              </a:rPr>
              <a:t>Stancovici Marian</a:t>
            </a:r>
          </a:p>
        </p:txBody>
      </p:sp>
    </p:spTree>
    <p:extLst>
      <p:ext uri="{BB962C8B-B14F-4D97-AF65-F5344CB8AC3E}">
        <p14:creationId xmlns:p14="http://schemas.microsoft.com/office/powerpoint/2010/main" val="11228361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A2D5C8F-31EE-352C-5D19-376D8BFBB37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55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237601-9208-7B66-FAFB-69DD88A2744C}"/>
              </a:ext>
            </a:extLst>
          </p:cNvPr>
          <p:cNvSpPr txBox="1"/>
          <p:nvPr/>
        </p:nvSpPr>
        <p:spPr>
          <a:xfrm>
            <a:off x="939800" y="889000"/>
            <a:ext cx="45720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000" b="1">
                <a:solidFill>
                  <a:srgbClr val="FFFFFF"/>
                </a:solidFill>
                <a:latin typeface="Arial" panose="020B0604020202020204" pitchFamily="34" charset="0"/>
              </a:rPr>
              <a:t>Concluzii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4FC68B-C94E-DC97-7EE3-732C7E06E6BC}"/>
              </a:ext>
            </a:extLst>
          </p:cNvPr>
          <p:cNvSpPr txBox="1"/>
          <p:nvPr/>
        </p:nvSpPr>
        <p:spPr>
          <a:xfrm>
            <a:off x="1066800" y="1816100"/>
            <a:ext cx="2032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E1F1EB"/>
                </a:solidFill>
                <a:latin typeface="Arial" panose="020B0604020202020204" pitchFamily="34" charset="0"/>
              </a:rPr>
              <a:t>•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8E3679-9438-E458-4F4C-821204BB23C5}"/>
              </a:ext>
            </a:extLst>
          </p:cNvPr>
          <p:cNvSpPr txBox="1"/>
          <p:nvPr/>
        </p:nvSpPr>
        <p:spPr>
          <a:xfrm>
            <a:off x="1346200" y="1828800"/>
            <a:ext cx="9372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FFFFFF"/>
                </a:solidFill>
                <a:latin typeface="Arial" panose="020B0604020202020204" pitchFamily="34" charset="0"/>
              </a:rPr>
              <a:t>A fost construit un pipeline complet pentru clasificarea retinopatiei diabetice din imagini fundus.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B83431-E747-9F1A-6C88-D0D191A0A1FE}"/>
              </a:ext>
            </a:extLst>
          </p:cNvPr>
          <p:cNvSpPr txBox="1"/>
          <p:nvPr/>
        </p:nvSpPr>
        <p:spPr>
          <a:xfrm>
            <a:off x="1066800" y="2273300"/>
            <a:ext cx="2032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E1F1EB"/>
                </a:solidFill>
                <a:latin typeface="Arial" panose="020B0604020202020204" pitchFamily="34" charset="0"/>
              </a:rPr>
              <a:t>•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568DAA-02D1-CEB4-B787-3102634E1625}"/>
              </a:ext>
            </a:extLst>
          </p:cNvPr>
          <p:cNvSpPr txBox="1"/>
          <p:nvPr/>
        </p:nvSpPr>
        <p:spPr>
          <a:xfrm>
            <a:off x="1346200" y="2286000"/>
            <a:ext cx="9372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it-IT" sz="1500">
                <a:solidFill>
                  <a:srgbClr val="FFFFFF"/>
                </a:solidFill>
                <a:latin typeface="Arial" panose="020B0604020202020204" pitchFamily="34" charset="0"/>
              </a:rPr>
              <a:t>Evaluarea a inclus metrici complementare: accuracy, F1, QWK și matrici de confuzie.</a:t>
            </a:r>
            <a:endParaRPr lang="en-US" sz="15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D2F1C1-408F-DE9A-9588-6FF858A5A3CC}"/>
              </a:ext>
            </a:extLst>
          </p:cNvPr>
          <p:cNvSpPr txBox="1"/>
          <p:nvPr/>
        </p:nvSpPr>
        <p:spPr>
          <a:xfrm>
            <a:off x="1066800" y="2730500"/>
            <a:ext cx="2032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E1F1EB"/>
                </a:solidFill>
                <a:latin typeface="Arial" panose="020B0604020202020204" pitchFamily="34" charset="0"/>
              </a:rPr>
              <a:t>•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516D66-4015-BA4A-F07B-4D77A123606D}"/>
              </a:ext>
            </a:extLst>
          </p:cNvPr>
          <p:cNvSpPr txBox="1"/>
          <p:nvPr/>
        </p:nvSpPr>
        <p:spPr>
          <a:xfrm>
            <a:off x="1346200" y="2743200"/>
            <a:ext cx="9372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it-IT" sz="1500">
                <a:solidFill>
                  <a:srgbClr val="FFFFFF"/>
                </a:solidFill>
                <a:latin typeface="Arial" panose="020B0604020202020204" pitchFamily="34" charset="0"/>
              </a:rPr>
              <a:t>Controlul data leakage-ului a fost esențial pentru rezultate credibile.</a:t>
            </a:r>
            <a:endParaRPr lang="en-US" sz="15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A40C6B-C798-1AE8-7F97-F26E6D2D9F51}"/>
              </a:ext>
            </a:extLst>
          </p:cNvPr>
          <p:cNvSpPr txBox="1"/>
          <p:nvPr/>
        </p:nvSpPr>
        <p:spPr>
          <a:xfrm>
            <a:off x="939800" y="3632200"/>
            <a:ext cx="5588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500" b="1">
                <a:solidFill>
                  <a:srgbClr val="FFFFFF"/>
                </a:solidFill>
                <a:latin typeface="Arial" panose="020B0604020202020204" pitchFamily="34" charset="0"/>
              </a:rPr>
              <a:t>Direcții viitoare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703A6F-CAF4-6615-6E97-4198FD931F3B}"/>
              </a:ext>
            </a:extLst>
          </p:cNvPr>
          <p:cNvSpPr txBox="1"/>
          <p:nvPr/>
        </p:nvSpPr>
        <p:spPr>
          <a:xfrm>
            <a:off x="1066800" y="4305300"/>
            <a:ext cx="2032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E1F1EB"/>
                </a:solidFill>
                <a:latin typeface="Arial" panose="020B0604020202020204" pitchFamily="34" charset="0"/>
              </a:rPr>
              <a:t>•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7291AA-A288-ECB0-64D9-9C0DE6064CE5}"/>
              </a:ext>
            </a:extLst>
          </p:cNvPr>
          <p:cNvSpPr txBox="1"/>
          <p:nvPr/>
        </p:nvSpPr>
        <p:spPr>
          <a:xfrm>
            <a:off x="1346200" y="4318000"/>
            <a:ext cx="9372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FFFFFF"/>
                </a:solidFill>
                <a:latin typeface="Arial" panose="020B0604020202020204" pitchFamily="34" charset="0"/>
              </a:rPr>
              <a:t>Îmbunătățirea augmentărilor și calibrarea pragurilor de decizie.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C52D3D-2363-7ECF-ED96-D74330F35BC5}"/>
              </a:ext>
            </a:extLst>
          </p:cNvPr>
          <p:cNvSpPr txBox="1"/>
          <p:nvPr/>
        </p:nvSpPr>
        <p:spPr>
          <a:xfrm>
            <a:off x="1066800" y="4737100"/>
            <a:ext cx="2032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E1F1EB"/>
                </a:solidFill>
                <a:latin typeface="Arial" panose="020B0604020202020204" pitchFamily="34" charset="0"/>
              </a:rPr>
              <a:t>•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B7E758-5095-47E0-31FB-03B531133D63}"/>
              </a:ext>
            </a:extLst>
          </p:cNvPr>
          <p:cNvSpPr txBox="1"/>
          <p:nvPr/>
        </p:nvSpPr>
        <p:spPr>
          <a:xfrm>
            <a:off x="1346200" y="4749800"/>
            <a:ext cx="9372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it-IT" sz="1500">
                <a:solidFill>
                  <a:srgbClr val="FFFFFF"/>
                </a:solidFill>
                <a:latin typeface="Arial" panose="020B0604020202020204" pitchFamily="34" charset="0"/>
              </a:rPr>
              <a:t>Testarea unor modele bazate pe Vision Transformers.</a:t>
            </a:r>
            <a:endParaRPr lang="en-US" sz="15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838E64-DFD9-A27B-D1D8-C7330A075888}"/>
              </a:ext>
            </a:extLst>
          </p:cNvPr>
          <p:cNvSpPr txBox="1"/>
          <p:nvPr/>
        </p:nvSpPr>
        <p:spPr>
          <a:xfrm>
            <a:off x="1066800" y="5168900"/>
            <a:ext cx="2032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E1F1EB"/>
                </a:solidFill>
                <a:latin typeface="Arial" panose="020B0604020202020204" pitchFamily="34" charset="0"/>
              </a:rPr>
              <a:t>•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DA8367-F732-3910-6DEB-D8D60C25D713}"/>
              </a:ext>
            </a:extLst>
          </p:cNvPr>
          <p:cNvSpPr txBox="1"/>
          <p:nvPr/>
        </p:nvSpPr>
        <p:spPr>
          <a:xfrm>
            <a:off x="1346200" y="5181600"/>
            <a:ext cx="93726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FFFFFF"/>
                </a:solidFill>
                <a:latin typeface="Arial" panose="020B0604020202020204" pitchFamily="34" charset="0"/>
              </a:rPr>
              <a:t>Cascadă: model binar pentru eliminarea cazurilor clasa 0 sigure, apoi model de regresie 0-4 pentru cazurile ambigue.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A72029-4103-0387-DB5D-1311FEE6358A}"/>
              </a:ext>
            </a:extLst>
          </p:cNvPr>
          <p:cNvSpPr txBox="1"/>
          <p:nvPr/>
        </p:nvSpPr>
        <p:spPr>
          <a:xfrm>
            <a:off x="8686800" y="5765800"/>
            <a:ext cx="2667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800" b="1">
                <a:solidFill>
                  <a:srgbClr val="FFFFFF"/>
                </a:solidFill>
                <a:latin typeface="Arial" panose="020B0604020202020204" pitchFamily="34" charset="0"/>
              </a:rPr>
              <a:t>Mulțumesc!</a:t>
            </a:r>
          </a:p>
        </p:txBody>
      </p:sp>
    </p:spTree>
    <p:extLst>
      <p:ext uri="{BB962C8B-B14F-4D97-AF65-F5344CB8AC3E}">
        <p14:creationId xmlns:p14="http://schemas.microsoft.com/office/powerpoint/2010/main" val="1325264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722</Words>
  <Application>Microsoft Office PowerPoint</Application>
  <PresentationFormat>Widescreen</PresentationFormat>
  <Paragraphs>147</Paragraphs>
  <Slides>13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gregsoft16@outlook.com</dc:creator>
  <cp:lastModifiedBy>gregsoft16@outlook.com</cp:lastModifiedBy>
  <cp:revision>5</cp:revision>
  <dcterms:created xsi:type="dcterms:W3CDTF">2026-06-14T12:46:46Z</dcterms:created>
  <dcterms:modified xsi:type="dcterms:W3CDTF">2026-06-14T18:43:46Z</dcterms:modified>
</cp:coreProperties>
</file>