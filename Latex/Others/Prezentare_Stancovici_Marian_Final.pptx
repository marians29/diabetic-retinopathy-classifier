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1" r:id="rId2"/>
    <p:sldId id="278" r:id="rId3"/>
    <p:sldId id="297" r:id="rId4"/>
    <p:sldId id="322" r:id="rId5"/>
    <p:sldId id="300" r:id="rId6"/>
    <p:sldId id="302" r:id="rId7"/>
    <p:sldId id="299" r:id="rId8"/>
    <p:sldId id="301" r:id="rId9"/>
    <p:sldId id="313" r:id="rId10"/>
    <p:sldId id="303" r:id="rId11"/>
    <p:sldId id="314" r:id="rId12"/>
    <p:sldId id="304" r:id="rId13"/>
    <p:sldId id="315" r:id="rId14"/>
    <p:sldId id="306" r:id="rId15"/>
    <p:sldId id="307" r:id="rId16"/>
    <p:sldId id="320" r:id="rId17"/>
    <p:sldId id="308" r:id="rId18"/>
    <p:sldId id="309" r:id="rId19"/>
    <p:sldId id="321" r:id="rId20"/>
    <p:sldId id="319" r:id="rId21"/>
    <p:sldId id="310" r:id="rId22"/>
    <p:sldId id="311" r:id="rId23"/>
    <p:sldId id="312" r:id="rId24"/>
    <p:sldId id="317" r:id="rId25"/>
    <p:sldId id="318" r:id="rId2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554"/>
    <a:srgbClr val="009644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9" autoAdjust="0"/>
  </p:normalViewPr>
  <p:slideViewPr>
    <p:cSldViewPr>
      <p:cViewPr varScale="1">
        <p:scale>
          <a:sx n="103" d="100"/>
          <a:sy n="103" d="100"/>
        </p:scale>
        <p:origin x="858" y="114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B737B-28AB-39B5-E422-9D28209D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1EC08-73B3-B236-E910-927D80542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2EB20-A6AB-374A-B145-DE1883D95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https://pixabay.com/en/seminar-lecture-study-student-2654142/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93B3E-690A-FDFE-124F-B1BDE3911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42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E2C7-ABAA-E48F-F47F-D074D814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063A1-93AA-0138-F293-BA5DBAA04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DBDD2-E3C0-F277-9E51-FFDE46FB0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https://pixabay.com/en/books-science-shelf-library-book-408220/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382EE-05C8-528B-B2B4-69BA9DC8B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01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99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35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34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43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50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8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3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3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3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5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5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90D8B8-307A-4993-9315-0D6ADDAA6CEB}"/>
              </a:ext>
            </a:extLst>
          </p:cNvPr>
          <p:cNvCxnSpPr/>
          <p:nvPr userDrawn="1"/>
        </p:nvCxnSpPr>
        <p:spPr>
          <a:xfrm>
            <a:off x="609441" y="6448926"/>
            <a:ext cx="10969943" cy="0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49A4D36-ACE7-46EE-977E-260D55BF45D2}"/>
              </a:ext>
            </a:extLst>
          </p:cNvPr>
          <p:cNvSpPr/>
          <p:nvPr userDrawn="1"/>
        </p:nvSpPr>
        <p:spPr>
          <a:xfrm>
            <a:off x="5917950" y="6272463"/>
            <a:ext cx="352925" cy="35292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36203" y="6244059"/>
            <a:ext cx="516420" cy="385017"/>
          </a:xfr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93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5" y="273051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4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5" y="1435103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2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40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1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1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3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3" r:id="rId8"/>
    <p:sldLayoutId id="2147483662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6E8E-2183-93F5-E615-A9226298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217544-110E-6EF6-BDDB-4733C10041FB}"/>
              </a:ext>
            </a:extLst>
          </p:cNvPr>
          <p:cNvSpPr/>
          <p:nvPr/>
        </p:nvSpPr>
        <p:spPr>
          <a:xfrm>
            <a:off x="1" y="0"/>
            <a:ext cx="12188825" cy="6858000"/>
          </a:xfrm>
          <a:prstGeom prst="rect">
            <a:avLst/>
          </a:prstGeom>
          <a:solidFill>
            <a:schemeClr val="accent2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53BA5B-66E5-86E9-4947-C943BE623CD0}"/>
              </a:ext>
            </a:extLst>
          </p:cNvPr>
          <p:cNvSpPr/>
          <p:nvPr/>
        </p:nvSpPr>
        <p:spPr>
          <a:xfrm>
            <a:off x="11413" y="-16706"/>
            <a:ext cx="12188825" cy="1307995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6A48E-5CD5-D43B-2C70-050298EA9266}"/>
              </a:ext>
            </a:extLst>
          </p:cNvPr>
          <p:cNvSpPr txBox="1"/>
          <p:nvPr/>
        </p:nvSpPr>
        <p:spPr>
          <a:xfrm>
            <a:off x="-121146" y="1897303"/>
            <a:ext cx="124311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Student: Stancovici Marian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4888F-7DD9-F4B7-D55C-A7F1BD2FB545}"/>
              </a:ext>
            </a:extLst>
          </p:cNvPr>
          <p:cNvSpPr txBox="1"/>
          <p:nvPr/>
        </p:nvSpPr>
        <p:spPr>
          <a:xfrm>
            <a:off x="-117884" y="2569443"/>
            <a:ext cx="124311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Coordonator</a:t>
            </a:r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b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Conf. dr. ing. Laura Maria Florea</a:t>
            </a:r>
            <a:endParaRPr lang="ro-RO" sz="2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DEB-49F7-FFA0-7FCC-72CA9FCD3D31}"/>
              </a:ext>
            </a:extLst>
          </p:cNvPr>
          <p:cNvSpPr txBox="1"/>
          <p:nvPr/>
        </p:nvSpPr>
        <p:spPr>
          <a:xfrm>
            <a:off x="-121146" y="4927867"/>
            <a:ext cx="1243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Facultatea de Electronică, Telecomunicații și Tehnologia Informației</a:t>
            </a:r>
            <a:endParaRPr lang="en-IN" sz="1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612BCD-A998-4A0B-4966-5AF9F89B5C9F}"/>
              </a:ext>
            </a:extLst>
          </p:cNvPr>
          <p:cNvSpPr txBox="1"/>
          <p:nvPr/>
        </p:nvSpPr>
        <p:spPr>
          <a:xfrm>
            <a:off x="-109733" y="5658818"/>
            <a:ext cx="1243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Iulie 202</a:t>
            </a:r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F8191B-BE35-C118-8185-C56496657098}"/>
              </a:ext>
            </a:extLst>
          </p:cNvPr>
          <p:cNvSpPr txBox="1"/>
          <p:nvPr/>
        </p:nvSpPr>
        <p:spPr>
          <a:xfrm>
            <a:off x="90542" y="87050"/>
            <a:ext cx="12431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Analiza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imaginilor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cu fund de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ochi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pentru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ajutor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în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ctr"/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diagnosticul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retinopatiei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diabetice</a:t>
            </a:r>
            <a:endParaRPr lang="en-IN" sz="30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8" name="Picture 4" descr="Departamentul de Telecomunicatii | Site-ul Departamentului ...">
            <a:extLst>
              <a:ext uri="{FF2B5EF4-FFF2-40B4-BE49-F238E27FC236}">
                <a16:creationId xmlns:a16="http://schemas.microsoft.com/office/drawing/2014/main" id="{1C767D0D-81D6-A774-5E25-158B3837D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733" y="5135406"/>
            <a:ext cx="1788789" cy="17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6538C8-345B-21EE-CC02-7D0B6F70B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4" y="5230936"/>
            <a:ext cx="1903283" cy="154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79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EAC1-3BD2-9A4B-362B-C296498F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0377DD-8F04-13AB-8D7B-8988D46D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o-RO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Cuprins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45E411-CF9B-62EB-23D0-4DDF84A42BE4}"/>
              </a:ext>
            </a:extLst>
          </p:cNvPr>
          <p:cNvSpPr/>
          <p:nvPr/>
        </p:nvSpPr>
        <p:spPr>
          <a:xfrm>
            <a:off x="1135186" y="1233155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C07CDA-5A9E-E5B7-F54B-8A5DC33E053B}"/>
              </a:ext>
            </a:extLst>
          </p:cNvPr>
          <p:cNvSpPr/>
          <p:nvPr/>
        </p:nvSpPr>
        <p:spPr>
          <a:xfrm>
            <a:off x="1135186" y="1804157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DC3490-B013-93DE-FA5A-19DD00754603}"/>
              </a:ext>
            </a:extLst>
          </p:cNvPr>
          <p:cNvSpPr/>
          <p:nvPr/>
        </p:nvSpPr>
        <p:spPr>
          <a:xfrm>
            <a:off x="1135186" y="2375159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6B87C6-C3A7-ABCD-53C2-4203631B94E3}"/>
              </a:ext>
            </a:extLst>
          </p:cNvPr>
          <p:cNvSpPr/>
          <p:nvPr/>
        </p:nvSpPr>
        <p:spPr>
          <a:xfrm>
            <a:off x="1135186" y="2946161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76ADB9-C204-6773-46A3-769D274131F8}"/>
              </a:ext>
            </a:extLst>
          </p:cNvPr>
          <p:cNvSpPr/>
          <p:nvPr/>
        </p:nvSpPr>
        <p:spPr>
          <a:xfrm>
            <a:off x="1135186" y="3517163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8317D-3C74-05BB-3A5C-96F9F26B232C}"/>
              </a:ext>
            </a:extLst>
          </p:cNvPr>
          <p:cNvSpPr/>
          <p:nvPr/>
        </p:nvSpPr>
        <p:spPr>
          <a:xfrm>
            <a:off x="1135186" y="4088165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6E92A1-E378-5056-0404-8E74FD3B8007}"/>
              </a:ext>
            </a:extLst>
          </p:cNvPr>
          <p:cNvSpPr/>
          <p:nvPr/>
        </p:nvSpPr>
        <p:spPr>
          <a:xfrm>
            <a:off x="1485900" y="112474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Motivație și obiective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A959C4-4841-7DAC-6E7D-206B31FB93FC}"/>
              </a:ext>
            </a:extLst>
          </p:cNvPr>
          <p:cNvCxnSpPr>
            <a:cxnSpLocks/>
          </p:cNvCxnSpPr>
          <p:nvPr/>
        </p:nvCxnSpPr>
        <p:spPr>
          <a:xfrm>
            <a:off x="1101010" y="152485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05D626C-B72B-AB5A-0EE3-56D2E09397AC}"/>
              </a:ext>
            </a:extLst>
          </p:cNvPr>
          <p:cNvSpPr/>
          <p:nvPr/>
        </p:nvSpPr>
        <p:spPr>
          <a:xfrm>
            <a:off x="1485900" y="1703864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Introducere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D2E85C-30F2-EABB-2209-F40B3F5C030E}"/>
              </a:ext>
            </a:extLst>
          </p:cNvPr>
          <p:cNvCxnSpPr>
            <a:cxnSpLocks/>
          </p:cNvCxnSpPr>
          <p:nvPr/>
        </p:nvCxnSpPr>
        <p:spPr>
          <a:xfrm>
            <a:off x="1101010" y="210397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CAD1EF9-B3E2-49B0-BB91-C87BB57C2BC7}"/>
              </a:ext>
            </a:extLst>
          </p:cNvPr>
          <p:cNvSpPr/>
          <p:nvPr/>
        </p:nvSpPr>
        <p:spPr>
          <a:xfrm>
            <a:off x="1485900" y="228298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utilizate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și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preprocesare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39B76AF-15B0-E45A-44D5-234F5E175B55}"/>
              </a:ext>
            </a:extLst>
          </p:cNvPr>
          <p:cNvCxnSpPr>
            <a:cxnSpLocks/>
          </p:cNvCxnSpPr>
          <p:nvPr/>
        </p:nvCxnSpPr>
        <p:spPr>
          <a:xfrm>
            <a:off x="1101010" y="268309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29B5457-2DEB-C42C-1698-543FF2D4C51D}"/>
              </a:ext>
            </a:extLst>
          </p:cNvPr>
          <p:cNvSpPr/>
          <p:nvPr/>
        </p:nvSpPr>
        <p:spPr>
          <a:xfrm>
            <a:off x="1485900" y="286210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Controlul riscului de data leakage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0444004-9261-C670-EA93-94024D122122}"/>
              </a:ext>
            </a:extLst>
          </p:cNvPr>
          <p:cNvCxnSpPr>
            <a:cxnSpLocks/>
          </p:cNvCxnSpPr>
          <p:nvPr/>
        </p:nvCxnSpPr>
        <p:spPr>
          <a:xfrm>
            <a:off x="1101010" y="326221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9087EBD-8B5B-D84B-556C-F5CCA134C694}"/>
              </a:ext>
            </a:extLst>
          </p:cNvPr>
          <p:cNvSpPr/>
          <p:nvPr/>
        </p:nvSpPr>
        <p:spPr>
          <a:xfrm>
            <a:off x="1485900" y="344122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Metodologia propusă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1C0E94-5A5A-69C2-B8EB-7654B1ED5E6F}"/>
              </a:ext>
            </a:extLst>
          </p:cNvPr>
          <p:cNvCxnSpPr>
            <a:cxnSpLocks/>
          </p:cNvCxnSpPr>
          <p:nvPr/>
        </p:nvCxnSpPr>
        <p:spPr>
          <a:xfrm>
            <a:off x="1101010" y="384133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7877F61-A681-9678-7022-B388021C070E}"/>
              </a:ext>
            </a:extLst>
          </p:cNvPr>
          <p:cNvSpPr/>
          <p:nvPr/>
        </p:nvSpPr>
        <p:spPr>
          <a:xfrm>
            <a:off x="1485900" y="400510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final în două etape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68BE8CF-BEE7-C9A8-B1B1-EF6E83C8C2D4}"/>
              </a:ext>
            </a:extLst>
          </p:cNvPr>
          <p:cNvCxnSpPr>
            <a:cxnSpLocks/>
          </p:cNvCxnSpPr>
          <p:nvPr/>
        </p:nvCxnSpPr>
        <p:spPr>
          <a:xfrm>
            <a:off x="1101010" y="440521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B5BB30D-527E-C0C4-66C7-951274019E52}"/>
              </a:ext>
            </a:extLst>
          </p:cNvPr>
          <p:cNvSpPr/>
          <p:nvPr/>
        </p:nvSpPr>
        <p:spPr>
          <a:xfrm>
            <a:off x="10660769" y="112474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0C90BF3-10F2-A92B-5380-8B8D909565FD}"/>
              </a:ext>
            </a:extLst>
          </p:cNvPr>
          <p:cNvSpPr/>
          <p:nvPr/>
        </p:nvSpPr>
        <p:spPr>
          <a:xfrm>
            <a:off x="10660769" y="170386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BA57680-413D-C841-3151-30EFB8668EB4}"/>
              </a:ext>
            </a:extLst>
          </p:cNvPr>
          <p:cNvSpPr/>
          <p:nvPr/>
        </p:nvSpPr>
        <p:spPr>
          <a:xfrm>
            <a:off x="10660769" y="228298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F4AB7D-5B40-BDAD-77F4-2FA0D5FE6827}"/>
              </a:ext>
            </a:extLst>
          </p:cNvPr>
          <p:cNvSpPr/>
          <p:nvPr/>
        </p:nvSpPr>
        <p:spPr>
          <a:xfrm>
            <a:off x="10660769" y="286210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6C001BA-858B-CE68-AB91-EF7551C3C7E0}"/>
              </a:ext>
            </a:extLst>
          </p:cNvPr>
          <p:cNvSpPr/>
          <p:nvPr/>
        </p:nvSpPr>
        <p:spPr>
          <a:xfrm>
            <a:off x="10660769" y="344122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3F29B2F-0FE5-A47F-AADA-B7BA8471532A}"/>
              </a:ext>
            </a:extLst>
          </p:cNvPr>
          <p:cNvSpPr/>
          <p:nvPr/>
        </p:nvSpPr>
        <p:spPr>
          <a:xfrm>
            <a:off x="10660769" y="400510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033E4B-8389-C6AC-2CD9-1DDFDC98F19C}"/>
              </a:ext>
            </a:extLst>
          </p:cNvPr>
          <p:cNvSpPr/>
          <p:nvPr/>
        </p:nvSpPr>
        <p:spPr>
          <a:xfrm>
            <a:off x="1135186" y="4652044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4EB837-DFE8-F9DB-BC0B-A8B436636006}"/>
              </a:ext>
            </a:extLst>
          </p:cNvPr>
          <p:cNvSpPr/>
          <p:nvPr/>
        </p:nvSpPr>
        <p:spPr>
          <a:xfrm>
            <a:off x="1485900" y="4568983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 experimentale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8888AD-D828-E3BA-C941-27AEED8A4EC5}"/>
              </a:ext>
            </a:extLst>
          </p:cNvPr>
          <p:cNvCxnSpPr>
            <a:cxnSpLocks/>
          </p:cNvCxnSpPr>
          <p:nvPr/>
        </p:nvCxnSpPr>
        <p:spPr>
          <a:xfrm>
            <a:off x="1101010" y="4969093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CD367-685E-BCBF-03E7-A26E3648DBF0}"/>
              </a:ext>
            </a:extLst>
          </p:cNvPr>
          <p:cNvSpPr/>
          <p:nvPr/>
        </p:nvSpPr>
        <p:spPr>
          <a:xfrm>
            <a:off x="10660769" y="4568983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374D04-ACF8-D3E0-4EC6-9B2ADDB62C52}"/>
              </a:ext>
            </a:extLst>
          </p:cNvPr>
          <p:cNvSpPr/>
          <p:nvPr/>
        </p:nvSpPr>
        <p:spPr>
          <a:xfrm>
            <a:off x="1155810" y="5155692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A1ACFA-CF40-A2C7-8FE2-CF89EE2B2455}"/>
              </a:ext>
            </a:extLst>
          </p:cNvPr>
          <p:cNvSpPr/>
          <p:nvPr/>
        </p:nvSpPr>
        <p:spPr>
          <a:xfrm>
            <a:off x="1506524" y="5072631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Aplicația de inferență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C582A7-C515-8AFF-A958-4B1464E217EC}"/>
              </a:ext>
            </a:extLst>
          </p:cNvPr>
          <p:cNvCxnSpPr>
            <a:cxnSpLocks/>
          </p:cNvCxnSpPr>
          <p:nvPr/>
        </p:nvCxnSpPr>
        <p:spPr>
          <a:xfrm>
            <a:off x="1121634" y="5472741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2EFA23-3FBA-0302-3459-32FCA254F6EE}"/>
              </a:ext>
            </a:extLst>
          </p:cNvPr>
          <p:cNvSpPr/>
          <p:nvPr/>
        </p:nvSpPr>
        <p:spPr>
          <a:xfrm>
            <a:off x="10681393" y="5072631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4541E-4EF8-7F9E-746E-9DC9C70138B8}"/>
              </a:ext>
            </a:extLst>
          </p:cNvPr>
          <p:cNvSpPr/>
          <p:nvPr/>
        </p:nvSpPr>
        <p:spPr>
          <a:xfrm>
            <a:off x="1155810" y="5719571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710053-6D85-36CC-9F4C-87EDAD4ED7B8}"/>
              </a:ext>
            </a:extLst>
          </p:cNvPr>
          <p:cNvSpPr/>
          <p:nvPr/>
        </p:nvSpPr>
        <p:spPr>
          <a:xfrm>
            <a:off x="1485900" y="5616291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Concluzii și direcții viitoare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F253AD-B82B-21E1-E730-E2E754C387B1}"/>
              </a:ext>
            </a:extLst>
          </p:cNvPr>
          <p:cNvCxnSpPr>
            <a:cxnSpLocks/>
          </p:cNvCxnSpPr>
          <p:nvPr/>
        </p:nvCxnSpPr>
        <p:spPr>
          <a:xfrm>
            <a:off x="1121634" y="6036620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F791EB2-FEF7-BC75-05F1-80497F3AFFA8}"/>
              </a:ext>
            </a:extLst>
          </p:cNvPr>
          <p:cNvSpPr/>
          <p:nvPr/>
        </p:nvSpPr>
        <p:spPr>
          <a:xfrm>
            <a:off x="10681393" y="5636510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83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B843-6A9D-7E51-54D0-B570A2E5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17ED9D-CDCD-1752-7F2A-13C374623EB2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AE7F2-D39E-54D6-8ED5-3C785BCC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bg1"/>
                </a:solidFill>
              </a:rPr>
              <a:t>Motivație și obiective</a:t>
            </a:r>
          </a:p>
        </p:txBody>
      </p:sp>
    </p:spTree>
    <p:extLst>
      <p:ext uri="{BB962C8B-B14F-4D97-AF65-F5344CB8AC3E}">
        <p14:creationId xmlns:p14="http://schemas.microsoft.com/office/powerpoint/2010/main" val="139860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12E4D1-256F-C738-1B1B-2BCB1457FB37}"/>
              </a:ext>
            </a:extLst>
          </p:cNvPr>
          <p:cNvSpPr/>
          <p:nvPr/>
        </p:nvSpPr>
        <p:spPr>
          <a:xfrm>
            <a:off x="-1" y="893"/>
            <a:ext cx="12188825" cy="736408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20F7E4-279E-EEED-CC22-70C804DD6D22}"/>
              </a:ext>
            </a:extLst>
          </p:cNvPr>
          <p:cNvSpPr txBox="1"/>
          <p:nvPr/>
        </p:nvSpPr>
        <p:spPr>
          <a:xfrm>
            <a:off x="533261" y="191343"/>
            <a:ext cx="9649486" cy="29231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99" b="1">
                <a:solidFill>
                  <a:srgbClr val="FFFFFF"/>
                </a:solidFill>
                <a:latin typeface="Arial" panose="020B0604020202020204" pitchFamily="34" charset="0"/>
              </a:rPr>
              <a:t>Motivație și obiective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89DC96-5B06-775A-4DF4-9C8744DBDD7F}"/>
              </a:ext>
            </a:extLst>
          </p:cNvPr>
          <p:cNvSpPr txBox="1"/>
          <p:nvPr/>
        </p:nvSpPr>
        <p:spPr>
          <a:xfrm>
            <a:off x="11147696" y="178647"/>
            <a:ext cx="533261" cy="2615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99" b="1" dirty="0">
                <a:solidFill>
                  <a:srgbClr val="FFFFFF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A3A548-78F6-DE6A-23E3-833E0EE968B9}"/>
              </a:ext>
            </a:extLst>
          </p:cNvPr>
          <p:cNvSpPr/>
          <p:nvPr/>
        </p:nvSpPr>
        <p:spPr>
          <a:xfrm>
            <a:off x="507867" y="915055"/>
            <a:ext cx="914162" cy="63483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D847A6-FFDE-9E55-AD39-7A035F359536}"/>
              </a:ext>
            </a:extLst>
          </p:cNvPr>
          <p:cNvSpPr/>
          <p:nvPr/>
        </p:nvSpPr>
        <p:spPr>
          <a:xfrm>
            <a:off x="533261" y="1353090"/>
            <a:ext cx="4951710" cy="4316876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1CE50F-EA34-00B2-C8CA-45871396E36A}"/>
              </a:ext>
            </a:extLst>
          </p:cNvPr>
          <p:cNvSpPr txBox="1"/>
          <p:nvPr/>
        </p:nvSpPr>
        <p:spPr>
          <a:xfrm>
            <a:off x="1206184" y="1558285"/>
            <a:ext cx="380900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dirty="0" err="1">
                <a:solidFill>
                  <a:srgbClr val="007554"/>
                </a:solidFill>
                <a:latin typeface="Arial" panose="020B0604020202020204" pitchFamily="34" charset="0"/>
              </a:rPr>
              <a:t>Motivație</a:t>
            </a:r>
            <a:endParaRPr lang="en-US" b="1" dirty="0">
              <a:solidFill>
                <a:srgbClr val="007554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E8B20E-F629-E885-6BA2-EB0633D48062}"/>
              </a:ext>
            </a:extLst>
          </p:cNvPr>
          <p:cNvSpPr txBox="1"/>
          <p:nvPr/>
        </p:nvSpPr>
        <p:spPr>
          <a:xfrm>
            <a:off x="1066522" y="2235511"/>
            <a:ext cx="4088335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Depistarea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timpurie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a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retinopatiei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diabetice</a:t>
            </a:r>
            <a:endParaRPr lang="en-US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89EB74-F723-C0C1-E756-F3565E4D7188}"/>
              </a:ext>
            </a:extLst>
          </p:cNvPr>
          <p:cNvSpPr txBox="1"/>
          <p:nvPr/>
        </p:nvSpPr>
        <p:spPr>
          <a:xfrm>
            <a:off x="1066522" y="2921133"/>
            <a:ext cx="4088335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Timp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redus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pentru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screening-ul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oftalmologic</a:t>
            </a:r>
            <a:endParaRPr lang="en-US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DE9E7-8C94-F792-D480-A9412C4A8CCA}"/>
              </a:ext>
            </a:extLst>
          </p:cNvPr>
          <p:cNvSpPr txBox="1"/>
          <p:nvPr/>
        </p:nvSpPr>
        <p:spPr>
          <a:xfrm>
            <a:off x="1066522" y="3606754"/>
            <a:ext cx="4088335" cy="492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>
                <a:solidFill>
                  <a:srgbClr val="263034"/>
                </a:solidFill>
                <a:latin typeface="Arial" panose="020B0604020202020204" pitchFamily="34" charset="0"/>
              </a:rPr>
              <a:t>Costuri și resurse umane minimizate în spitale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3D9A2CB-A0A9-044F-BCA8-EF0D3CE7E29E}"/>
              </a:ext>
            </a:extLst>
          </p:cNvPr>
          <p:cNvSpPr/>
          <p:nvPr/>
        </p:nvSpPr>
        <p:spPr>
          <a:xfrm>
            <a:off x="6526100" y="1321349"/>
            <a:ext cx="4951710" cy="4316876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8206A5-EEA2-8693-D66B-7873DAA8E7DA}"/>
              </a:ext>
            </a:extLst>
          </p:cNvPr>
          <p:cNvSpPr txBox="1"/>
          <p:nvPr/>
        </p:nvSpPr>
        <p:spPr>
          <a:xfrm>
            <a:off x="6933504" y="1510584"/>
            <a:ext cx="380900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dirty="0" err="1">
                <a:solidFill>
                  <a:srgbClr val="007554"/>
                </a:solidFill>
                <a:latin typeface="Arial" panose="020B0604020202020204" pitchFamily="34" charset="0"/>
              </a:rPr>
              <a:t>Obiective</a:t>
            </a:r>
            <a:endParaRPr lang="en-US" b="1" dirty="0">
              <a:solidFill>
                <a:srgbClr val="007554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BD2740-FD1E-091A-C97B-9FB252CA33B5}"/>
              </a:ext>
            </a:extLst>
          </p:cNvPr>
          <p:cNvSpPr txBox="1"/>
          <p:nvPr/>
        </p:nvSpPr>
        <p:spPr>
          <a:xfrm>
            <a:off x="7186328" y="2806117"/>
            <a:ext cx="3783614" cy="492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>
                <a:solidFill>
                  <a:srgbClr val="263034"/>
                </a:solidFill>
                <a:latin typeface="Arial" panose="020B0604020202020204" pitchFamily="34" charset="0"/>
              </a:rPr>
              <a:t>Clasificarea automată în 2 pași (Detecție binară + Evaluare stadii 1-4)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50CCD8-187F-15F1-E721-97689F7EFC9B}"/>
              </a:ext>
            </a:extLst>
          </p:cNvPr>
          <p:cNvSpPr txBox="1"/>
          <p:nvPr/>
        </p:nvSpPr>
        <p:spPr>
          <a:xfrm>
            <a:off x="7186328" y="2169772"/>
            <a:ext cx="3783614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Analizarea</a:t>
            </a:r>
            <a:r>
              <a:rPr lang="es-E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ro-RO" sz="1600" dirty="0">
                <a:solidFill>
                  <a:srgbClr val="263034"/>
                </a:solidFill>
                <a:latin typeface="Arial" panose="020B0604020202020204" pitchFamily="34" charset="0"/>
              </a:rPr>
              <a:t>și compararea arhitecturilor și seturilor de date disponibile </a:t>
            </a:r>
            <a:endParaRPr lang="en-US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35388-D24F-53BE-693C-930BE32581A5}"/>
              </a:ext>
            </a:extLst>
          </p:cNvPr>
          <p:cNvSpPr txBox="1"/>
          <p:nvPr/>
        </p:nvSpPr>
        <p:spPr>
          <a:xfrm>
            <a:off x="7186328" y="3429000"/>
            <a:ext cx="3783614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>
                <a:solidFill>
                  <a:srgbClr val="263034"/>
                </a:solidFill>
                <a:latin typeface="Arial" panose="020B0604020202020204" pitchFamily="34" charset="0"/>
              </a:rPr>
              <a:t>Echilibrarea setului de date prin augment</a:t>
            </a:r>
            <a:r>
              <a:rPr lang="ro-RO" sz="1600" dirty="0">
                <a:solidFill>
                  <a:srgbClr val="263034"/>
                </a:solidFill>
                <a:latin typeface="Arial" panose="020B0604020202020204" pitchFamily="34" charset="0"/>
              </a:rPr>
              <a:t>ă</a:t>
            </a:r>
            <a:r>
              <a:rPr lang="it-IT" sz="1600" dirty="0">
                <a:solidFill>
                  <a:srgbClr val="263034"/>
                </a:solidFill>
                <a:latin typeface="Arial" panose="020B0604020202020204" pitchFamily="34" charset="0"/>
              </a:rPr>
              <a:t>r</a:t>
            </a:r>
            <a:r>
              <a:rPr lang="ro-RO" sz="1600" dirty="0">
                <a:solidFill>
                  <a:srgbClr val="263034"/>
                </a:solidFill>
                <a:latin typeface="Arial" panose="020B0604020202020204" pitchFamily="34" charset="0"/>
              </a:rPr>
              <a:t>i</a:t>
            </a:r>
            <a:endParaRPr lang="it-IT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7F3472-6C35-2C5B-119B-3194D37EB678}"/>
              </a:ext>
            </a:extLst>
          </p:cNvPr>
          <p:cNvSpPr txBox="1"/>
          <p:nvPr/>
        </p:nvSpPr>
        <p:spPr>
          <a:xfrm>
            <a:off x="7191418" y="4030688"/>
            <a:ext cx="3783614" cy="492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Integrarea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modelelor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într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-o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aplicație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web de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inferență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1247FF-023B-3746-B5E7-02736EEF9A13}"/>
              </a:ext>
            </a:extLst>
          </p:cNvPr>
          <p:cNvSpPr txBox="1"/>
          <p:nvPr/>
        </p:nvSpPr>
        <p:spPr>
          <a:xfrm>
            <a:off x="533261" y="6526993"/>
            <a:ext cx="8252850" cy="123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Analiza </a:t>
            </a:r>
            <a:r>
              <a:rPr lang="en-US" sz="800" dirty="0" err="1">
                <a:solidFill>
                  <a:srgbClr val="5C696E"/>
                </a:solidFill>
                <a:latin typeface="Arial" panose="020B0604020202020204" pitchFamily="34" charset="0"/>
              </a:rPr>
              <a:t>imaginilor</a:t>
            </a:r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 cu fund de </a:t>
            </a:r>
            <a:r>
              <a:rPr lang="en-US" sz="800" dirty="0" err="1">
                <a:solidFill>
                  <a:srgbClr val="5C696E"/>
                </a:solidFill>
                <a:latin typeface="Arial" panose="020B0604020202020204" pitchFamily="34" charset="0"/>
              </a:rPr>
              <a:t>ochi</a:t>
            </a:r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5C696E"/>
                </a:solidFill>
                <a:latin typeface="Arial" panose="020B0604020202020204" pitchFamily="34" charset="0"/>
              </a:rPr>
              <a:t>pentru</a:t>
            </a:r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5C696E"/>
                </a:solidFill>
                <a:latin typeface="Arial" panose="020B0604020202020204" pitchFamily="34" charset="0"/>
              </a:rPr>
              <a:t>ajutor</a:t>
            </a:r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5C696E"/>
                </a:solidFill>
                <a:latin typeface="Arial" panose="020B0604020202020204" pitchFamily="34" charset="0"/>
              </a:rPr>
              <a:t>în</a:t>
            </a:r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5C696E"/>
                </a:solidFill>
                <a:latin typeface="Arial" panose="020B0604020202020204" pitchFamily="34" charset="0"/>
              </a:rPr>
              <a:t>diagnosticul</a:t>
            </a:r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5C696E"/>
                </a:solidFill>
                <a:latin typeface="Arial" panose="020B0604020202020204" pitchFamily="34" charset="0"/>
              </a:rPr>
              <a:t>retinopatiei</a:t>
            </a:r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5C696E"/>
                </a:solidFill>
                <a:latin typeface="Arial" panose="020B0604020202020204" pitchFamily="34" charset="0"/>
              </a:rPr>
              <a:t>diabetice</a:t>
            </a:r>
            <a:endParaRPr lang="en-US" sz="800" dirty="0">
              <a:solidFill>
                <a:srgbClr val="5C696E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E47CDA-8AAF-E3E0-B254-18C9BC1B789C}"/>
              </a:ext>
            </a:extLst>
          </p:cNvPr>
          <p:cNvSpPr txBox="1"/>
          <p:nvPr/>
        </p:nvSpPr>
        <p:spPr>
          <a:xfrm>
            <a:off x="9649486" y="6526993"/>
            <a:ext cx="2031471" cy="123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dirty="0">
                <a:solidFill>
                  <a:srgbClr val="5C696E"/>
                </a:solidFill>
                <a:latin typeface="Arial" panose="020B0604020202020204" pitchFamily="34" charset="0"/>
              </a:rPr>
              <a:t>Stancovici Marian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CFC28-7AE5-B2DA-D5DB-5222A922289A}"/>
              </a:ext>
            </a:extLst>
          </p:cNvPr>
          <p:cNvSpPr txBox="1"/>
          <p:nvPr/>
        </p:nvSpPr>
        <p:spPr>
          <a:xfrm>
            <a:off x="1066521" y="4292247"/>
            <a:ext cx="4088335" cy="492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rgbClr val="263034"/>
                </a:solidFill>
                <a:latin typeface="Arial" panose="020B0604020202020204" pitchFamily="34" charset="0"/>
              </a:rPr>
              <a:t>Eliminarea subiectivismului și a erorilor umane</a:t>
            </a:r>
            <a:endParaRPr lang="it-IT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61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solidFill>
                <a:srgbClr val="007554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bg1"/>
                </a:solidFill>
              </a:rPr>
              <a:t>Introducere</a:t>
            </a:r>
          </a:p>
        </p:txBody>
      </p:sp>
    </p:spTree>
    <p:extLst>
      <p:ext uri="{BB962C8B-B14F-4D97-AF65-F5344CB8AC3E}">
        <p14:creationId xmlns:p14="http://schemas.microsoft.com/office/powerpoint/2010/main" val="318397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Retinopatia</a:t>
            </a:r>
            <a:r>
              <a:rPr lang="en-US" dirty="0">
                <a:solidFill>
                  <a:schemeClr val="bg1"/>
                </a:solidFill>
              </a:rPr>
              <a:t> diabetic</a:t>
            </a:r>
            <a:r>
              <a:rPr lang="ro-RO" dirty="0">
                <a:solidFill>
                  <a:schemeClr val="bg1"/>
                </a:solidFill>
              </a:rPr>
              <a:t>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o-RO" dirty="0">
                <a:solidFill>
                  <a:schemeClr val="bg1"/>
                </a:solidFill>
              </a:rPr>
              <a:t>ș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imaginile</a:t>
            </a:r>
            <a:r>
              <a:rPr lang="en-US" dirty="0">
                <a:solidFill>
                  <a:schemeClr val="bg1"/>
                </a:solidFill>
              </a:rPr>
              <a:t> fundus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333772" y="70922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80FC1-AC16-D5D5-8E38-2DC00970B51C}"/>
              </a:ext>
            </a:extLst>
          </p:cNvPr>
          <p:cNvSpPr txBox="1"/>
          <p:nvPr/>
        </p:nvSpPr>
        <p:spPr>
          <a:xfrm>
            <a:off x="405780" y="1268760"/>
            <a:ext cx="6336704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Complicație oculară apărută la pacienții cu diabet zaharat (din cauza nivelului ridicat de glicemie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Prezintă 4 stadii evolutive de boală: </a:t>
            </a:r>
          </a:p>
          <a:p>
            <a:pPr marL="952393" lvl="1" indent="-342900">
              <a:buFont typeface="Wingdings" panose="05000000000000000000" pitchFamily="2" charset="2"/>
              <a:buChar char="Ø"/>
            </a:pPr>
            <a:r>
              <a:rPr lang="en-US" dirty="0" err="1"/>
              <a:t>Ușoară</a:t>
            </a:r>
            <a:r>
              <a:rPr lang="en-US" dirty="0"/>
              <a:t> (Mild)</a:t>
            </a:r>
          </a:p>
          <a:p>
            <a:pPr marL="952393" lvl="1" indent="-342900">
              <a:buFont typeface="Wingdings" panose="05000000000000000000" pitchFamily="2" charset="2"/>
              <a:buChar char="Ø"/>
            </a:pPr>
            <a:r>
              <a:rPr lang="en-US" dirty="0" err="1"/>
              <a:t>Moderată</a:t>
            </a:r>
            <a:r>
              <a:rPr lang="en-US" dirty="0"/>
              <a:t> (Moderate)</a:t>
            </a:r>
          </a:p>
          <a:p>
            <a:pPr marL="952393" lvl="1" indent="-342900">
              <a:buFont typeface="Wingdings" panose="05000000000000000000" pitchFamily="2" charset="2"/>
              <a:buChar char="Ø"/>
            </a:pPr>
            <a:r>
              <a:rPr lang="en-US" dirty="0" err="1"/>
              <a:t>Severă</a:t>
            </a:r>
            <a:r>
              <a:rPr lang="en-US" dirty="0"/>
              <a:t> (Severe)</a:t>
            </a:r>
          </a:p>
          <a:p>
            <a:pPr marL="952393" lvl="1" indent="-342900">
              <a:buFont typeface="Wingdings" panose="05000000000000000000" pitchFamily="2" charset="2"/>
              <a:buChar char="Ø"/>
            </a:pPr>
            <a:r>
              <a:rPr lang="it-IT" dirty="0"/>
              <a:t>Proliferativă (stadiul critic, cu risc de orbire)</a:t>
            </a:r>
          </a:p>
          <a:p>
            <a:pPr lvl="1"/>
            <a:endParaRPr lang="it-IT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Se </a:t>
            </a:r>
            <a:r>
              <a:rPr lang="en-US" dirty="0" err="1"/>
              <a:t>caracterizează</a:t>
            </a:r>
            <a:r>
              <a:rPr lang="en-US" dirty="0"/>
              <a:t> </a:t>
            </a:r>
            <a:r>
              <a:rPr lang="en-US" dirty="0" err="1"/>
              <a:t>vizual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:</a:t>
            </a:r>
          </a:p>
          <a:p>
            <a:pPr marL="952393" lvl="1" indent="-342900">
              <a:buFont typeface="Wingdings" panose="05000000000000000000" pitchFamily="2" charset="2"/>
              <a:buChar char="Ø"/>
            </a:pPr>
            <a:r>
              <a:rPr lang="en-US" dirty="0" err="1"/>
              <a:t>Microanevrisme</a:t>
            </a:r>
            <a:r>
              <a:rPr lang="en-US" dirty="0"/>
              <a:t> (</a:t>
            </a:r>
            <a:r>
              <a:rPr lang="en-US" dirty="0" err="1"/>
              <a:t>mici</a:t>
            </a:r>
            <a:r>
              <a:rPr lang="en-US" dirty="0"/>
              <a:t> </a:t>
            </a:r>
            <a:r>
              <a:rPr lang="en-US" dirty="0" err="1"/>
              <a:t>dilatații</a:t>
            </a:r>
            <a:r>
              <a:rPr lang="en-US" dirty="0"/>
              <a:t>/</a:t>
            </a:r>
            <a:r>
              <a:rPr lang="en-US" dirty="0" err="1"/>
              <a:t>umflături</a:t>
            </a:r>
            <a:r>
              <a:rPr lang="en-US" dirty="0"/>
              <a:t> ale </a:t>
            </a:r>
            <a:r>
              <a:rPr lang="en-US" dirty="0" err="1"/>
              <a:t>vaselor</a:t>
            </a:r>
            <a:r>
              <a:rPr lang="en-US" dirty="0"/>
              <a:t> de </a:t>
            </a:r>
            <a:r>
              <a:rPr lang="en-US" dirty="0" err="1"/>
              <a:t>sânge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Hemoragii</a:t>
            </a:r>
            <a:r>
              <a:rPr lang="en-US" dirty="0"/>
              <a:t> </a:t>
            </a:r>
            <a:r>
              <a:rPr lang="en-US" dirty="0" err="1"/>
              <a:t>intraretiniene</a:t>
            </a:r>
            <a:r>
              <a:rPr lang="en-US" dirty="0"/>
              <a:t> (</a:t>
            </a:r>
            <a:r>
              <a:rPr lang="en-US" dirty="0" err="1"/>
              <a:t>sângerări</a:t>
            </a:r>
            <a:r>
              <a:rPr lang="en-US" dirty="0"/>
              <a:t> pe </a:t>
            </a:r>
            <a:r>
              <a:rPr lang="en-US" dirty="0" err="1"/>
              <a:t>suprafața</a:t>
            </a:r>
            <a:r>
              <a:rPr lang="en-US" dirty="0"/>
              <a:t> </a:t>
            </a:r>
            <a:r>
              <a:rPr lang="en-US" dirty="0" err="1"/>
              <a:t>retinei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Exsudate</a:t>
            </a:r>
            <a:r>
              <a:rPr lang="en-US" dirty="0"/>
              <a:t> dure </a:t>
            </a:r>
            <a:r>
              <a:rPr lang="en-US" dirty="0" err="1"/>
              <a:t>și</a:t>
            </a:r>
            <a:r>
              <a:rPr lang="en-US" dirty="0"/>
              <a:t> moi (</a:t>
            </a:r>
            <a:r>
              <a:rPr lang="en-US" dirty="0" err="1"/>
              <a:t>pete</a:t>
            </a:r>
            <a:r>
              <a:rPr lang="en-US" dirty="0"/>
              <a:t> </a:t>
            </a:r>
            <a:r>
              <a:rPr lang="en-US" dirty="0" err="1"/>
              <a:t>galbene</a:t>
            </a:r>
            <a:r>
              <a:rPr lang="en-US" dirty="0"/>
              <a:t> </a:t>
            </a:r>
            <a:r>
              <a:rPr lang="en-US" dirty="0" err="1"/>
              <a:t>reprezentând</a:t>
            </a:r>
            <a:r>
              <a:rPr lang="en-US" dirty="0"/>
              <a:t> </a:t>
            </a:r>
            <a:r>
              <a:rPr lang="en-US" dirty="0" err="1"/>
              <a:t>depozite</a:t>
            </a:r>
            <a:r>
              <a:rPr lang="en-US" dirty="0"/>
              <a:t> de lipide/</a:t>
            </a:r>
            <a:r>
              <a:rPr lang="en-US" dirty="0" err="1"/>
              <a:t>grăsime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Neovascularizație</a:t>
            </a:r>
            <a:r>
              <a:rPr lang="en-US" dirty="0"/>
              <a:t> (</a:t>
            </a:r>
            <a:r>
              <a:rPr lang="en-US" dirty="0" err="1"/>
              <a:t>apariția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vase de </a:t>
            </a:r>
            <a:r>
              <a:rPr lang="en-US" dirty="0" err="1"/>
              <a:t>sânge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, fragile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anormale</a:t>
            </a:r>
            <a:r>
              <a:rPr lang="en-US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F635BA-90B9-4A04-BB6A-EEEEF498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613" y="3110034"/>
            <a:ext cx="5030751" cy="37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7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Inserarea logicii de test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27B7AE-EFE1-51B6-C187-82319B567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84" y="893585"/>
            <a:ext cx="9505056" cy="404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AC24D4-B691-2375-FFFE-7AAA3E117FED}"/>
              </a:ext>
            </a:extLst>
          </p:cNvPr>
          <p:cNvSpPr txBox="1"/>
          <p:nvPr/>
        </p:nvSpPr>
        <p:spPr>
          <a:xfrm>
            <a:off x="549796" y="4942999"/>
            <a:ext cx="92980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Transformarea</a:t>
            </a:r>
            <a:r>
              <a:rPr lang="en-US" dirty="0"/>
              <a:t> flip-flop-</a:t>
            </a:r>
            <a:r>
              <a:rPr lang="en-US" dirty="0" err="1"/>
              <a:t>ilor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A</a:t>
            </a:r>
            <a:r>
              <a:rPr lang="en-US" dirty="0"/>
              <a:t>d</a:t>
            </a:r>
            <a:r>
              <a:rPr lang="ro-RO" dirty="0"/>
              <a:t>ă</a:t>
            </a:r>
            <a:r>
              <a:rPr lang="en-US" dirty="0" err="1"/>
              <a:t>ugarea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mux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inserarea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selec</a:t>
            </a:r>
            <a:r>
              <a:rPr lang="ro-RO" dirty="0"/>
              <a:t>ț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semnalelor</a:t>
            </a:r>
            <a:r>
              <a:rPr lang="en-US" dirty="0"/>
              <a:t> de control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SE = 0 =&gt; </a:t>
            </a:r>
            <a:r>
              <a:rPr lang="en-US" dirty="0" err="1"/>
              <a:t>faz</a:t>
            </a:r>
            <a:r>
              <a:rPr lang="ro-RO" dirty="0"/>
              <a:t>ă</a:t>
            </a:r>
            <a:r>
              <a:rPr lang="en-US" dirty="0"/>
              <a:t> de </a:t>
            </a:r>
            <a:r>
              <a:rPr lang="en-US" dirty="0" err="1"/>
              <a:t>capturare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SE = 1 =&gt; </a:t>
            </a:r>
            <a:r>
              <a:rPr lang="en-US" dirty="0" err="1"/>
              <a:t>faz</a:t>
            </a:r>
            <a:r>
              <a:rPr lang="ro-RO" dirty="0"/>
              <a:t>ă</a:t>
            </a:r>
            <a:r>
              <a:rPr lang="en-US" dirty="0"/>
              <a:t> de </a:t>
            </a:r>
            <a:r>
              <a:rPr lang="en-US" dirty="0" err="1"/>
              <a:t>shiftare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2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Inserarea logicii de test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C6FE699-B4BE-ACAE-825A-76AFA500D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72" y="893585"/>
            <a:ext cx="10079519" cy="553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4FA265-A48E-C5F7-75C7-D9759D7ADE9E}"/>
              </a:ext>
            </a:extLst>
          </p:cNvPr>
          <p:cNvSpPr txBox="1"/>
          <p:nvPr/>
        </p:nvSpPr>
        <p:spPr>
          <a:xfrm>
            <a:off x="4222204" y="6247529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Reprezentarea unui lanț de scan</a:t>
            </a:r>
          </a:p>
        </p:txBody>
      </p:sp>
    </p:spTree>
    <p:extLst>
      <p:ext uri="{BB962C8B-B14F-4D97-AF65-F5344CB8AC3E}">
        <p14:creationId xmlns:p14="http://schemas.microsoft.com/office/powerpoint/2010/main" val="983586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Inserarea logicii de test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C35159-6738-E08C-FCFA-99F95B1A1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71" y="893585"/>
            <a:ext cx="10081120" cy="551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97DC7D-9E41-13C4-6629-5FF690448C50}"/>
              </a:ext>
            </a:extLst>
          </p:cNvPr>
          <p:cNvSpPr txBox="1"/>
          <p:nvPr/>
        </p:nvSpPr>
        <p:spPr>
          <a:xfrm>
            <a:off x="4222204" y="6247529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Reprezentarea unui lanț de scan</a:t>
            </a:r>
          </a:p>
        </p:txBody>
      </p:sp>
    </p:spTree>
    <p:extLst>
      <p:ext uri="{BB962C8B-B14F-4D97-AF65-F5344CB8AC3E}">
        <p14:creationId xmlns:p14="http://schemas.microsoft.com/office/powerpoint/2010/main" val="24673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Integrarea modulului EDT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FD95E-93DB-A50E-38EC-53192B3DDB83}"/>
              </a:ext>
            </a:extLst>
          </p:cNvPr>
          <p:cNvSpPr txBox="1"/>
          <p:nvPr/>
        </p:nvSpPr>
        <p:spPr>
          <a:xfrm>
            <a:off x="132047" y="1052736"/>
            <a:ext cx="335163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Modul EDT format din:</a:t>
            </a:r>
          </a:p>
          <a:p>
            <a:pPr marL="952393" lvl="1" indent="-342900">
              <a:buFont typeface="Wingdings" panose="05000000000000000000" pitchFamily="2" charset="2"/>
              <a:buChar char="§"/>
            </a:pPr>
            <a:r>
              <a:rPr lang="en-US" dirty="0" err="1"/>
              <a:t>Decompresor</a:t>
            </a:r>
            <a:endParaRPr lang="en-US" dirty="0"/>
          </a:p>
          <a:p>
            <a:pPr marL="952393" lvl="1" indent="-342900">
              <a:buFont typeface="Wingdings" panose="05000000000000000000" pitchFamily="2" charset="2"/>
              <a:buChar char="§"/>
            </a:pPr>
            <a:r>
              <a:rPr lang="en-US" dirty="0"/>
              <a:t>Compactor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Instan</a:t>
            </a:r>
            <a:r>
              <a:rPr lang="ro-RO" dirty="0"/>
              <a:t>ț</a:t>
            </a:r>
            <a:r>
              <a:rPr lang="en-US" dirty="0" err="1"/>
              <a:t>iat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mpreun</a:t>
            </a:r>
            <a:r>
              <a:rPr lang="ro-RO" dirty="0"/>
              <a:t>ă</a:t>
            </a:r>
            <a:r>
              <a:rPr lang="en-US" dirty="0"/>
              <a:t> </a:t>
            </a:r>
          </a:p>
          <a:p>
            <a:r>
              <a:rPr lang="en-US" dirty="0"/>
              <a:t>     cu </a:t>
            </a:r>
            <a:r>
              <a:rPr lang="en-US" dirty="0" err="1"/>
              <a:t>modulul</a:t>
            </a:r>
            <a:r>
              <a:rPr lang="en-US" dirty="0"/>
              <a:t> SoC</a:t>
            </a:r>
          </a:p>
          <a:p>
            <a:endParaRPr lang="en-US" dirty="0"/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</a:t>
            </a:r>
            <a:r>
              <a:rPr kumimoji="0" lang="ro-R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ț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scan</a:t>
            </a:r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Se mic</a:t>
            </a:r>
            <a:r>
              <a:rPr lang="ro-RO" dirty="0"/>
              <a:t>ș</a:t>
            </a:r>
            <a:r>
              <a:rPr lang="en-US" dirty="0" err="1"/>
              <a:t>oreaz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exponen</a:t>
            </a:r>
            <a:r>
              <a:rPr lang="ro-RO" dirty="0"/>
              <a:t>ț</a:t>
            </a:r>
            <a:r>
              <a:rPr lang="en-US" dirty="0" err="1"/>
              <a:t>ial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5C79229-8C9D-CAE4-2EA0-70D7124A8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555" y="870308"/>
            <a:ext cx="8608223" cy="577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76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Exemplu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imbunatatire</a:t>
            </a:r>
            <a:r>
              <a:rPr lang="en-US" dirty="0">
                <a:solidFill>
                  <a:schemeClr val="bg1"/>
                </a:solidFill>
              </a:rPr>
              <a:t> cu EDT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9E32D-13ED-72AF-432D-12F577972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061" y="1145349"/>
            <a:ext cx="10004700" cy="5011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DA0BFE-B7BE-7F2B-800C-6B441D97671E}"/>
              </a:ext>
            </a:extLst>
          </p:cNvPr>
          <p:cNvSpPr txBox="1"/>
          <p:nvPr/>
        </p:nvSpPr>
        <p:spPr>
          <a:xfrm>
            <a:off x="4470986" y="6157090"/>
            <a:ext cx="3246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Comparație ATPG vs EDT</a:t>
            </a:r>
          </a:p>
        </p:txBody>
      </p:sp>
    </p:spTree>
    <p:extLst>
      <p:ext uri="{BB962C8B-B14F-4D97-AF65-F5344CB8AC3E}">
        <p14:creationId xmlns:p14="http://schemas.microsoft.com/office/powerpoint/2010/main" val="472677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Flow-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DFT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aplicat</a:t>
            </a:r>
            <a:endParaRPr lang="ro-R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8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146005" y="515932"/>
            <a:ext cx="4076200" cy="967765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108" y="712325"/>
            <a:ext cx="4728425" cy="574977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Flow-</a:t>
            </a:r>
            <a:r>
              <a:rPr lang="en-US" sz="24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</a:t>
            </a:r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DFT </a:t>
            </a:r>
            <a:r>
              <a:rPr lang="en-US" sz="24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aplicat</a:t>
            </a:r>
            <a:endParaRPr lang="ro-RO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E8EBE-C61F-63E7-6163-E46138FD3D62}"/>
              </a:ext>
            </a:extLst>
          </p:cNvPr>
          <p:cNvSpPr txBox="1"/>
          <p:nvPr/>
        </p:nvSpPr>
        <p:spPr>
          <a:xfrm>
            <a:off x="261764" y="1844824"/>
            <a:ext cx="4851906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Pa</a:t>
            </a:r>
            <a:r>
              <a:rPr lang="ro-RO" sz="3200" b="1" dirty="0"/>
              <a:t>ș</a:t>
            </a:r>
            <a:r>
              <a:rPr lang="en-US" sz="3200" b="1" dirty="0"/>
              <a:t>ii </a:t>
            </a:r>
            <a:r>
              <a:rPr lang="ro-RO" sz="3200" b="1" dirty="0"/>
              <a:t>efectuați</a:t>
            </a:r>
            <a:r>
              <a:rPr lang="en-US" sz="3200" b="1" dirty="0"/>
              <a:t>: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Sinteza</a:t>
            </a:r>
            <a:r>
              <a:rPr lang="en-US" dirty="0"/>
              <a:t> </a:t>
            </a:r>
            <a:r>
              <a:rPr lang="en-US" dirty="0" err="1"/>
              <a:t>circuitului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Generarea</a:t>
            </a:r>
            <a:r>
              <a:rPr lang="en-US" dirty="0"/>
              <a:t> EDT-</a:t>
            </a:r>
            <a:r>
              <a:rPr lang="en-US" dirty="0" err="1"/>
              <a:t>ului</a:t>
            </a:r>
            <a:r>
              <a:rPr lang="en-US" dirty="0"/>
              <a:t> (dup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Generare</a:t>
            </a:r>
            <a:r>
              <a:rPr lang="en-US" dirty="0"/>
              <a:t> de </a:t>
            </a:r>
            <a:r>
              <a:rPr lang="en-US" dirty="0" err="1"/>
              <a:t>vectori</a:t>
            </a:r>
            <a:r>
              <a:rPr lang="en-US" dirty="0"/>
              <a:t> de test (ATPG)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Simulare</a:t>
            </a:r>
            <a:r>
              <a:rPr lang="en-US" dirty="0"/>
              <a:t> (testbench)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Diagnoz</a:t>
            </a:r>
            <a:r>
              <a:rPr lang="ro-RO" dirty="0"/>
              <a:t>ă</a:t>
            </a:r>
            <a:r>
              <a:rPr lang="en-US" dirty="0"/>
              <a:t> (op</a:t>
            </a:r>
            <a:r>
              <a:rPr lang="ro-RO" dirty="0"/>
              <a:t>ț</a:t>
            </a:r>
            <a:r>
              <a:rPr lang="en-US" dirty="0" err="1"/>
              <a:t>ional</a:t>
            </a:r>
            <a:r>
              <a:rPr lang="en-US" dirty="0"/>
              <a:t>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F8854C4-1886-AB3A-C18B-ACE858041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670" y="-1"/>
            <a:ext cx="7075155" cy="691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6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Rezultatele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generarii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vectorilor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test</a:t>
            </a:r>
          </a:p>
        </p:txBody>
      </p:sp>
    </p:spTree>
    <p:extLst>
      <p:ext uri="{BB962C8B-B14F-4D97-AF65-F5344CB8AC3E}">
        <p14:creationId xmlns:p14="http://schemas.microsoft.com/office/powerpoint/2010/main" val="3167639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27384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Rezultatele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generarii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vectorilor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test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8C0D79-B776-6C9C-BF3E-B4633D24E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99444"/>
              </p:ext>
            </p:extLst>
          </p:nvPr>
        </p:nvGraphicFramePr>
        <p:xfrm>
          <a:off x="270148" y="1412776"/>
          <a:ext cx="11656915" cy="5039726"/>
        </p:xfrm>
        <a:graphic>
          <a:graphicData uri="http://schemas.openxmlformats.org/drawingml/2006/table">
            <a:tbl>
              <a:tblPr/>
              <a:tblGrid>
                <a:gridCol w="1458069">
                  <a:extLst>
                    <a:ext uri="{9D8B030D-6E8A-4147-A177-3AD203B41FA5}">
                      <a16:colId xmlns:a16="http://schemas.microsoft.com/office/drawing/2014/main" val="707514836"/>
                    </a:ext>
                  </a:extLst>
                </a:gridCol>
                <a:gridCol w="946599">
                  <a:extLst>
                    <a:ext uri="{9D8B030D-6E8A-4147-A177-3AD203B41FA5}">
                      <a16:colId xmlns:a16="http://schemas.microsoft.com/office/drawing/2014/main" val="2336556471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174292338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1209854848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643487017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3027673186"/>
                    </a:ext>
                  </a:extLst>
                </a:gridCol>
                <a:gridCol w="946599">
                  <a:extLst>
                    <a:ext uri="{9D8B030D-6E8A-4147-A177-3AD203B41FA5}">
                      <a16:colId xmlns:a16="http://schemas.microsoft.com/office/drawing/2014/main" val="3291748641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2072929453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3812539059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3144115322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3063187399"/>
                    </a:ext>
                  </a:extLst>
                </a:gridCol>
              </a:tblGrid>
              <a:tr h="502779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ro-RO" sz="1600" b="1" i="0" u="sng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E9E7E7"/>
                          </a:highlight>
                          <a:latin typeface="Arial" panose="020B0604020202020204" pitchFamily="34" charset="0"/>
                        </a:rPr>
                        <a:t>ATPG</a:t>
                      </a:r>
                      <a:r>
                        <a:rPr lang="en-US" sz="1600" b="1" i="0" u="sng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E9E7E7"/>
                          </a:highlight>
                          <a:latin typeface="Arial" panose="020B0604020202020204" pitchFamily="34" charset="0"/>
                        </a:rPr>
                        <a:t> (Automatic Test Pattern Generation)</a:t>
                      </a:r>
                      <a:endParaRPr lang="ro-RO" sz="1600" b="1" i="0" u="sng" strike="noStrike" dirty="0">
                        <a:solidFill>
                          <a:srgbClr val="000000"/>
                        </a:solidFill>
                        <a:effectLst/>
                        <a:highlight>
                          <a:srgbClr val="E9E7E7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97568"/>
                  </a:ext>
                </a:extLst>
              </a:tr>
              <a:tr h="4539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Final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ro-RO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Stuckat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ro-RO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Transition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09422"/>
                  </a:ext>
                </a:extLst>
              </a:tr>
              <a:tr h="453922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FastScan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30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40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50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60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FastScan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30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40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50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60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93049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Patternuri totale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883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1122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1253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1398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1575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1609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2492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3158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3485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3805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830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Ciclii de shiftare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5548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5548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47641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Offset de EDT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091351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Ciclii totali de shiftare   (per pattern)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5548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211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5548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211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222426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Ciclii totali de shiftare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4898884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236742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206745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192924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187425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8926732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525812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521070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480930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452795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583604"/>
                  </a:ext>
                </a:extLst>
              </a:tr>
              <a:tr h="451649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test time</a:t>
                      </a:r>
                      <a:b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</a:br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(@100MHz) [ms]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48,989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2,367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2,067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1,929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1,874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89,267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5,258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5,211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4,809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4,528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16706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test coverage (%)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99.78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99.74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99.73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99.66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99.57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98.76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98.71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98.66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98.58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98.44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616195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Arie (µm</a:t>
                      </a:r>
                      <a:r>
                        <a:rPr lang="en-US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41526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42068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42220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42295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41526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42068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42220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42295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745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41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27384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Rezultatele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generarii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vectorilor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test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8EF7AB9-A10F-A674-B49A-F04994F10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566" y="880135"/>
            <a:ext cx="6099002" cy="5527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164E29-820F-5C6A-8DC3-39CFE30C1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30" y="893585"/>
            <a:ext cx="4844944" cy="5527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89F041-4E62-31B7-8B0A-02D803CBF0CE}"/>
              </a:ext>
            </a:extLst>
          </p:cNvPr>
          <p:cNvSpPr txBox="1"/>
          <p:nvPr/>
        </p:nvSpPr>
        <p:spPr>
          <a:xfrm>
            <a:off x="345959" y="6407356"/>
            <a:ext cx="46962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Log privind generarea vectorilor pentru EDT 30 chains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98052-7BD8-0E97-DE9F-BB4AA5B13FBF}"/>
              </a:ext>
            </a:extLst>
          </p:cNvPr>
          <p:cNvSpPr txBox="1"/>
          <p:nvPr/>
        </p:nvSpPr>
        <p:spPr>
          <a:xfrm>
            <a:off x="6413924" y="6398363"/>
            <a:ext cx="4601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Raport privind lanturile de scan pentru EDT 30 chains</a:t>
            </a:r>
          </a:p>
        </p:txBody>
      </p:sp>
    </p:spTree>
    <p:extLst>
      <p:ext uri="{BB962C8B-B14F-4D97-AF65-F5344CB8AC3E}">
        <p14:creationId xmlns:p14="http://schemas.microsoft.com/office/powerpoint/2010/main" val="3120736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Simularea vectorilor de test</a:t>
            </a:r>
            <a:endParaRPr lang="en-US" sz="3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735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63739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397" y="-74174"/>
            <a:ext cx="10969943" cy="711081"/>
          </a:xfrm>
        </p:spPr>
        <p:txBody>
          <a:bodyPr/>
          <a:lstStyle/>
          <a:p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Simularea vectorilor de test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B30C2AE-F2D6-DED6-B2FD-FE4FD0957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88" y="695500"/>
            <a:ext cx="9804647" cy="5811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497DE0-0713-63EA-914F-187BCF29CF4B}"/>
              </a:ext>
            </a:extLst>
          </p:cNvPr>
          <p:cNvSpPr txBox="1"/>
          <p:nvPr/>
        </p:nvSpPr>
        <p:spPr>
          <a:xfrm>
            <a:off x="3406976" y="6507339"/>
            <a:ext cx="5326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Log pentru simularea vectorilor de test î</a:t>
            </a:r>
            <a:r>
              <a:rPr lang="en-US" sz="1600" dirty="0"/>
              <a:t>n </a:t>
            </a:r>
            <a:r>
              <a:rPr lang="en-US" sz="1600" dirty="0" err="1"/>
              <a:t>cazul</a:t>
            </a:r>
            <a:r>
              <a:rPr lang="ro-RO" sz="1600" dirty="0"/>
              <a:t> EDT 30 chains</a:t>
            </a:r>
          </a:p>
        </p:txBody>
      </p:sp>
    </p:spTree>
    <p:extLst>
      <p:ext uri="{BB962C8B-B14F-4D97-AF65-F5344CB8AC3E}">
        <p14:creationId xmlns:p14="http://schemas.microsoft.com/office/powerpoint/2010/main" val="90679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Simularea vectorilor de test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8A78EC-1ED4-B26B-A165-FCACC0129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76872"/>
            <a:ext cx="12188825" cy="3101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7A18D5-95A9-E9B3-A9B2-7D6ABA80CD4D}"/>
              </a:ext>
            </a:extLst>
          </p:cNvPr>
          <p:cNvSpPr txBox="1"/>
          <p:nvPr/>
        </p:nvSpPr>
        <p:spPr>
          <a:xfrm>
            <a:off x="3746268" y="5517232"/>
            <a:ext cx="565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Vizualizarea formelor de undă in cadrul simulării vectorilor de test</a:t>
            </a:r>
          </a:p>
        </p:txBody>
      </p:sp>
    </p:spTree>
    <p:extLst>
      <p:ext uri="{BB962C8B-B14F-4D97-AF65-F5344CB8AC3E}">
        <p14:creationId xmlns:p14="http://schemas.microsoft.com/office/powerpoint/2010/main" val="2011984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Exemplu de lanț de scan pe simulare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66A93-70EC-4507-6176-02DEFCEAC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48" y="4293096"/>
            <a:ext cx="11656912" cy="2071507"/>
          </a:xfrm>
          <a:prstGeom prst="rect">
            <a:avLst/>
          </a:prstGeom>
          <a:noFill/>
        </p:spPr>
      </p:pic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5E751AE9-9680-2E3F-44A4-7A075030A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48" y="1084583"/>
            <a:ext cx="11656912" cy="26778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9422F5-185D-77FD-081D-4038C2DF2739}"/>
              </a:ext>
            </a:extLst>
          </p:cNvPr>
          <p:cNvSpPr txBox="1"/>
          <p:nvPr/>
        </p:nvSpPr>
        <p:spPr>
          <a:xfrm>
            <a:off x="3313681" y="3769941"/>
            <a:ext cx="5561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Reprezentarea schematică a unor elemente dintr-un lanț de scan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E22F0-BC39-7724-497B-455CF571849D}"/>
              </a:ext>
            </a:extLst>
          </p:cNvPr>
          <p:cNvSpPr txBox="1"/>
          <p:nvPr/>
        </p:nvSpPr>
        <p:spPr>
          <a:xfrm>
            <a:off x="3112826" y="6364603"/>
            <a:ext cx="59631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Reprezentarea unor elemente dintr-un lanț de scan pe forma de undă</a:t>
            </a:r>
          </a:p>
        </p:txBody>
      </p:sp>
    </p:spTree>
    <p:extLst>
      <p:ext uri="{BB962C8B-B14F-4D97-AF65-F5344CB8AC3E}">
        <p14:creationId xmlns:p14="http://schemas.microsoft.com/office/powerpoint/2010/main" val="1171990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Concluzii</a:t>
            </a:r>
            <a:endParaRPr lang="en-US" sz="3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481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4"/>
            <a:ext cx="12200239" cy="711082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8" y="-32216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Concluzii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69955-BD1E-947C-A30A-D660BB8CA986}"/>
              </a:ext>
            </a:extLst>
          </p:cNvPr>
          <p:cNvSpPr/>
          <p:nvPr/>
        </p:nvSpPr>
        <p:spPr>
          <a:xfrm>
            <a:off x="837827" y="1008875"/>
            <a:ext cx="10061615" cy="504056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Concluziile</a:t>
            </a:r>
            <a:r>
              <a:rPr lang="en-US" dirty="0"/>
              <a:t> </a:t>
            </a:r>
            <a:r>
              <a:rPr lang="ro-RO" dirty="0"/>
              <a:t>p</a:t>
            </a:r>
            <a:r>
              <a:rPr lang="en-US" dirty="0" err="1"/>
              <a:t>roiectului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1693B-B57E-878E-644A-0861AAEDA696}"/>
              </a:ext>
            </a:extLst>
          </p:cNvPr>
          <p:cNvSpPr/>
          <p:nvPr/>
        </p:nvSpPr>
        <p:spPr>
          <a:xfrm>
            <a:off x="837826" y="2877717"/>
            <a:ext cx="10061615" cy="504056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Contribu</a:t>
            </a:r>
            <a:r>
              <a:rPr lang="ro-RO" dirty="0"/>
              <a:t>ț</a:t>
            </a:r>
            <a:r>
              <a:rPr lang="en-US" dirty="0"/>
              <a:t>ii </a:t>
            </a:r>
            <a:r>
              <a:rPr lang="ro-RO" dirty="0"/>
              <a:t>p</a:t>
            </a:r>
            <a:r>
              <a:rPr lang="en-US" dirty="0" err="1"/>
              <a:t>ersonale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7EB7F7-3C8C-34CB-F26E-7BA47577FEB4}"/>
              </a:ext>
            </a:extLst>
          </p:cNvPr>
          <p:cNvSpPr/>
          <p:nvPr/>
        </p:nvSpPr>
        <p:spPr>
          <a:xfrm>
            <a:off x="837826" y="1534794"/>
            <a:ext cx="10061615" cy="964779"/>
          </a:xfrm>
          <a:prstGeom prst="rect">
            <a:avLst/>
          </a:prstGeom>
          <a:solidFill>
            <a:srgbClr val="00964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ro-RO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41101-720B-326E-6E20-87368A0981C7}"/>
              </a:ext>
            </a:extLst>
          </p:cNvPr>
          <p:cNvSpPr/>
          <p:nvPr/>
        </p:nvSpPr>
        <p:spPr>
          <a:xfrm>
            <a:off x="837826" y="3422546"/>
            <a:ext cx="10061615" cy="945869"/>
          </a:xfrm>
          <a:prstGeom prst="rect">
            <a:avLst/>
          </a:prstGeom>
          <a:solidFill>
            <a:srgbClr val="00964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o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9219F-27E0-04E1-C17F-250B63FD8170}"/>
              </a:ext>
            </a:extLst>
          </p:cNvPr>
          <p:cNvSpPr/>
          <p:nvPr/>
        </p:nvSpPr>
        <p:spPr>
          <a:xfrm>
            <a:off x="837826" y="4819150"/>
            <a:ext cx="10061615" cy="504056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dirty="0"/>
              <a:t>Posibilități</a:t>
            </a:r>
            <a:r>
              <a:rPr lang="en-US" dirty="0"/>
              <a:t> </a:t>
            </a:r>
            <a:r>
              <a:rPr lang="en-US" dirty="0" err="1"/>
              <a:t>ulterioare</a:t>
            </a:r>
            <a:r>
              <a:rPr lang="ro-RO" dirty="0"/>
              <a:t> de dezvoltare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7783B-F2AD-3FD9-AC3C-EBE697DF8860}"/>
              </a:ext>
            </a:extLst>
          </p:cNvPr>
          <p:cNvSpPr/>
          <p:nvPr/>
        </p:nvSpPr>
        <p:spPr>
          <a:xfrm>
            <a:off x="837826" y="5363979"/>
            <a:ext cx="10061615" cy="1089357"/>
          </a:xfrm>
          <a:prstGeom prst="rect">
            <a:avLst/>
          </a:prstGeom>
          <a:solidFill>
            <a:srgbClr val="00964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6C0E3-00EB-E75E-7C7E-A54EF0FC6F9C}"/>
              </a:ext>
            </a:extLst>
          </p:cNvPr>
          <p:cNvSpPr txBox="1"/>
          <p:nvPr/>
        </p:nvSpPr>
        <p:spPr>
          <a:xfrm>
            <a:off x="830413" y="1514881"/>
            <a:ext cx="10061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Posibilitatea</a:t>
            </a:r>
            <a:r>
              <a:rPr lang="en-US" dirty="0"/>
              <a:t> </a:t>
            </a:r>
            <a:r>
              <a:rPr lang="en-US" dirty="0" err="1"/>
              <a:t>reducerii</a:t>
            </a:r>
            <a:r>
              <a:rPr lang="en-US" dirty="0"/>
              <a:t> </a:t>
            </a:r>
            <a:r>
              <a:rPr lang="en-US" dirty="0" err="1"/>
              <a:t>costurilor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duratei</a:t>
            </a:r>
            <a:r>
              <a:rPr lang="en-US" dirty="0"/>
              <a:t> test</a:t>
            </a:r>
            <a:r>
              <a:rPr lang="ro-RO" dirty="0"/>
              <a:t>ă</a:t>
            </a:r>
            <a:r>
              <a:rPr lang="en-US" dirty="0" err="1"/>
              <a:t>rii</a:t>
            </a:r>
            <a:r>
              <a:rPr lang="en-US" dirty="0"/>
              <a:t> </a:t>
            </a:r>
            <a:r>
              <a:rPr lang="en-US" dirty="0" err="1"/>
              <a:t>circuitelor</a:t>
            </a:r>
            <a:r>
              <a:rPr lang="en-US" dirty="0"/>
              <a:t> pre-silicon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Reducerea</a:t>
            </a:r>
            <a:r>
              <a:rPr lang="en-US" dirty="0"/>
              <a:t> </a:t>
            </a:r>
            <a:r>
              <a:rPr lang="en-US" dirty="0" err="1"/>
              <a:t>semnificativ</a:t>
            </a:r>
            <a:r>
              <a:rPr lang="ro-RO" dirty="0"/>
              <a:t>ă</a:t>
            </a:r>
            <a:r>
              <a:rPr lang="en-US" dirty="0"/>
              <a:t> a </a:t>
            </a:r>
            <a:r>
              <a:rPr lang="en-US" dirty="0" err="1"/>
              <a:t>timpului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utilizarea</a:t>
            </a:r>
            <a:r>
              <a:rPr lang="en-US" dirty="0"/>
              <a:t> EDT-</a:t>
            </a:r>
            <a:r>
              <a:rPr lang="en-US" dirty="0" err="1"/>
              <a:t>ului</a:t>
            </a:r>
            <a:endParaRPr lang="ro-R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12E88-3A92-E2BB-DB70-D4964624D93B}"/>
              </a:ext>
            </a:extLst>
          </p:cNvPr>
          <p:cNvSpPr txBox="1"/>
          <p:nvPr/>
        </p:nvSpPr>
        <p:spPr>
          <a:xfrm>
            <a:off x="830412" y="3400338"/>
            <a:ext cx="10061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vectorilor</a:t>
            </a:r>
            <a:r>
              <a:rPr lang="en-US" dirty="0"/>
              <a:t> de test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automatizate</a:t>
            </a:r>
            <a:r>
              <a:rPr lang="en-US" dirty="0"/>
              <a:t> (</a:t>
            </a:r>
            <a:r>
              <a:rPr lang="en-US" dirty="0" err="1"/>
              <a:t>scripturi</a:t>
            </a:r>
            <a:r>
              <a:rPr lang="ro-RO" dirty="0"/>
              <a:t> ATPG</a:t>
            </a:r>
            <a:r>
              <a:rPr lang="en-US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Analiza </a:t>
            </a:r>
            <a:r>
              <a:rPr lang="en-US" dirty="0" err="1"/>
              <a:t>performan</a:t>
            </a:r>
            <a:r>
              <a:rPr lang="ro-RO" dirty="0"/>
              <a:t>ț</a:t>
            </a:r>
            <a:r>
              <a:rPr lang="en-US" dirty="0" err="1"/>
              <a:t>elor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EDT vs non-EDT</a:t>
            </a:r>
            <a:endParaRPr lang="ro-RO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4E752-1B6A-A625-F509-5C4E12146EE5}"/>
              </a:ext>
            </a:extLst>
          </p:cNvPr>
          <p:cNvSpPr txBox="1"/>
          <p:nvPr/>
        </p:nvSpPr>
        <p:spPr>
          <a:xfrm>
            <a:off x="808896" y="5343119"/>
            <a:ext cx="10061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Integrarea</a:t>
            </a:r>
            <a:r>
              <a:rPr lang="en-US" dirty="0"/>
              <a:t> a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, precum </a:t>
            </a:r>
            <a:r>
              <a:rPr lang="ro-RO" dirty="0"/>
              <a:t>BIST sau inteligența artificială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Extinderea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depistarea</a:t>
            </a:r>
            <a:r>
              <a:rPr lang="en-US" dirty="0"/>
              <a:t> de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defecte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98027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Referin</a:t>
            </a:r>
            <a:r>
              <a:rPr lang="ro-RO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ț</a:t>
            </a:r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endParaRPr lang="en-US" sz="3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108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Referinte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13" name="Graphic 12" descr="Address Book with solid fill">
            <a:extLst>
              <a:ext uri="{FF2B5EF4-FFF2-40B4-BE49-F238E27FC236}">
                <a16:creationId xmlns:a16="http://schemas.microsoft.com/office/drawing/2014/main" id="{E166D916-6153-36F8-2C97-92794ADE41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80" y="1138120"/>
            <a:ext cx="999049" cy="9990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A53B69-4592-DCE2-C9FB-F50B4C10D423}"/>
              </a:ext>
            </a:extLst>
          </p:cNvPr>
          <p:cNvSpPr txBox="1"/>
          <p:nvPr/>
        </p:nvSpPr>
        <p:spPr>
          <a:xfrm>
            <a:off x="1404829" y="1084583"/>
            <a:ext cx="98924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9644"/>
                </a:solidFill>
              </a:rPr>
              <a:t>Zainalabedin</a:t>
            </a:r>
            <a:r>
              <a:rPr lang="en-US" dirty="0">
                <a:solidFill>
                  <a:srgbClr val="009644"/>
                </a:solidFill>
              </a:rPr>
              <a:t> </a:t>
            </a:r>
            <a:r>
              <a:rPr lang="en-US" dirty="0" err="1">
                <a:solidFill>
                  <a:srgbClr val="009644"/>
                </a:solidFill>
              </a:rPr>
              <a:t>Navabi</a:t>
            </a:r>
            <a:br>
              <a:rPr lang="en-US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Digital System Test and Testable Design: Using HDL Models and Architectures. </a:t>
            </a:r>
            <a:br>
              <a:rPr lang="en-US" dirty="0"/>
            </a:br>
            <a:r>
              <a:rPr lang="en-US" dirty="0">
                <a:solidFill>
                  <a:srgbClr val="009644"/>
                </a:solidFill>
              </a:rPr>
              <a:t>2019</a:t>
            </a:r>
          </a:p>
        </p:txBody>
      </p:sp>
      <p:pic>
        <p:nvPicPr>
          <p:cNvPr id="15" name="Graphic 14" descr="Address Book with solid fill">
            <a:extLst>
              <a:ext uri="{FF2B5EF4-FFF2-40B4-BE49-F238E27FC236}">
                <a16:creationId xmlns:a16="http://schemas.microsoft.com/office/drawing/2014/main" id="{27B96A78-5C1B-6058-4F7D-9DDBB3FA0A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80" y="2448978"/>
            <a:ext cx="999049" cy="9990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539088-6D7E-E828-BA8A-403FD4153C04}"/>
              </a:ext>
            </a:extLst>
          </p:cNvPr>
          <p:cNvSpPr txBox="1"/>
          <p:nvPr/>
        </p:nvSpPr>
        <p:spPr>
          <a:xfrm>
            <a:off x="1404829" y="2395441"/>
            <a:ext cx="47655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44"/>
                </a:solidFill>
              </a:rPr>
              <a:t>Mentor Graphics Corporation</a:t>
            </a:r>
            <a:br>
              <a:rPr lang="en-US" dirty="0"/>
            </a:b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Tessent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TestKompress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User’s Manual</a:t>
            </a:r>
          </a:p>
          <a:p>
            <a:r>
              <a:rPr lang="en-US" dirty="0">
                <a:solidFill>
                  <a:srgbClr val="009644"/>
                </a:solidFill>
              </a:rPr>
              <a:t>2015</a:t>
            </a:r>
          </a:p>
        </p:txBody>
      </p:sp>
      <p:pic>
        <p:nvPicPr>
          <p:cNvPr id="17" name="Graphic 16" descr="Address Book with solid fill">
            <a:extLst>
              <a:ext uri="{FF2B5EF4-FFF2-40B4-BE49-F238E27FC236}">
                <a16:creationId xmlns:a16="http://schemas.microsoft.com/office/drawing/2014/main" id="{E874D76B-FCFE-0CE5-7B31-506F41FFD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80" y="3850744"/>
            <a:ext cx="999049" cy="9990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D9F4582-7153-4B63-044B-30B9A98621D1}"/>
              </a:ext>
            </a:extLst>
          </p:cNvPr>
          <p:cNvSpPr txBox="1"/>
          <p:nvPr/>
        </p:nvSpPr>
        <p:spPr>
          <a:xfrm>
            <a:off x="1404829" y="3797207"/>
            <a:ext cx="104084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44"/>
                </a:solidFill>
              </a:rPr>
              <a:t>Chris Spear</a:t>
            </a:r>
            <a:br>
              <a:rPr lang="en-US" dirty="0"/>
            </a:b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verification: a guide to learning the testbench language features</a:t>
            </a:r>
            <a:br>
              <a:rPr lang="en-US" dirty="0"/>
            </a:br>
            <a:r>
              <a:rPr lang="en-US" dirty="0">
                <a:solidFill>
                  <a:srgbClr val="009644"/>
                </a:solidFill>
              </a:rPr>
              <a:t>Springer Science &amp; Business Media, 2008</a:t>
            </a:r>
          </a:p>
        </p:txBody>
      </p:sp>
      <p:pic>
        <p:nvPicPr>
          <p:cNvPr id="19" name="Graphic 18" descr="Address Book with solid fill">
            <a:extLst>
              <a:ext uri="{FF2B5EF4-FFF2-40B4-BE49-F238E27FC236}">
                <a16:creationId xmlns:a16="http://schemas.microsoft.com/office/drawing/2014/main" id="{A2DB04AE-FF86-FCDA-5374-A3CE717D7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80" y="5375346"/>
            <a:ext cx="999049" cy="9990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7F622E1-B645-B4D4-E7A0-A5543E3EED44}"/>
              </a:ext>
            </a:extLst>
          </p:cNvPr>
          <p:cNvSpPr txBox="1"/>
          <p:nvPr/>
        </p:nvSpPr>
        <p:spPr>
          <a:xfrm>
            <a:off x="1404829" y="5321809"/>
            <a:ext cx="50374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44"/>
                </a:solidFill>
              </a:rPr>
              <a:t>Mentor Graphics Corporation</a:t>
            </a:r>
            <a:br>
              <a:rPr lang="en-US" dirty="0"/>
            </a:b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Tessent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Scan and ATPG User’s Manual </a:t>
            </a:r>
            <a:br>
              <a:rPr lang="en-US" dirty="0"/>
            </a:br>
            <a:r>
              <a:rPr lang="en-US" dirty="0">
                <a:solidFill>
                  <a:srgbClr val="009644"/>
                </a:solidFill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2605485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6D33-5C2C-3465-07E7-4022EF3D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" y="3073459"/>
            <a:ext cx="10969943" cy="71108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Mul</a:t>
            </a:r>
            <a:r>
              <a:rPr lang="ro-RO" dirty="0">
                <a:solidFill>
                  <a:schemeClr val="bg1"/>
                </a:solidFill>
              </a:rPr>
              <a:t>ț</a:t>
            </a:r>
            <a:r>
              <a:rPr lang="en-US" dirty="0" err="1">
                <a:solidFill>
                  <a:schemeClr val="bg1"/>
                </a:solidFill>
              </a:rPr>
              <a:t>umesc</a:t>
            </a:r>
            <a:r>
              <a:rPr lang="en-US" dirty="0">
                <a:solidFill>
                  <a:schemeClr val="bg1"/>
                </a:solidFill>
              </a:rPr>
              <a:t>!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58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187C0"/>
      </a:accent1>
      <a:accent2>
        <a:srgbClr val="57687B"/>
      </a:accent2>
      <a:accent3>
        <a:srgbClr val="359CDB"/>
      </a:accent3>
      <a:accent4>
        <a:srgbClr val="F4AB17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9242</TotalTime>
  <Words>843</Words>
  <Application>Microsoft Office PowerPoint</Application>
  <PresentationFormat>Custom</PresentationFormat>
  <Paragraphs>236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Open Sans</vt:lpstr>
      <vt:lpstr>Wingdings</vt:lpstr>
      <vt:lpstr>Office Theme</vt:lpstr>
      <vt:lpstr>PowerPoint Presentation</vt:lpstr>
      <vt:lpstr>Cuprins</vt:lpstr>
      <vt:lpstr>Motivație și obiective</vt:lpstr>
      <vt:lpstr>PowerPoint Presentation</vt:lpstr>
      <vt:lpstr>Introducere</vt:lpstr>
      <vt:lpstr>Retinopatia diabetică și imaginile fundus</vt:lpstr>
      <vt:lpstr>Inserarea logicii de test</vt:lpstr>
      <vt:lpstr>Inserarea logicii de test</vt:lpstr>
      <vt:lpstr>Inserarea logicii de test</vt:lpstr>
      <vt:lpstr>Integrarea modulului EDT</vt:lpstr>
      <vt:lpstr>Exemplu de imbunatatire cu EDT</vt:lpstr>
      <vt:lpstr>Flow-ul de DFT aplicat</vt:lpstr>
      <vt:lpstr>Flow-ul de DFT aplicat</vt:lpstr>
      <vt:lpstr>Rezultatele generarii vectorilor de test</vt:lpstr>
      <vt:lpstr>Rezultatele generarii vectorilor de test</vt:lpstr>
      <vt:lpstr>Rezultatele generarii vectorilor de test</vt:lpstr>
      <vt:lpstr>Simularea vectorilor de test</vt:lpstr>
      <vt:lpstr>Simularea vectorilor de test</vt:lpstr>
      <vt:lpstr>Simularea vectorilor de test</vt:lpstr>
      <vt:lpstr>Exemplu de lanț de scan pe simulare</vt:lpstr>
      <vt:lpstr>Concluzii</vt:lpstr>
      <vt:lpstr>Concluzii</vt:lpstr>
      <vt:lpstr>Referințe</vt:lpstr>
      <vt:lpstr>Referinte</vt:lpstr>
      <vt:lpstr>Mulțumesc! 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gregsoft16@outlook.com</cp:lastModifiedBy>
  <cp:revision>177</cp:revision>
  <dcterms:created xsi:type="dcterms:W3CDTF">2013-09-12T13:05:01Z</dcterms:created>
  <dcterms:modified xsi:type="dcterms:W3CDTF">2026-06-14T16:23:07Z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true</vt:lpwstr>
  </property>
  <property fmtid="{D5CDD505-2E9C-101B-9397-08002B2CF9AE}" pid="3" name="MSIP_Label_a15a25aa-e944-415d-b7a7-40f6b9180b6b_SetDate">
    <vt:lpwstr>2024-06-28T06:31:40Z</vt:lpwstr>
  </property>
  <property fmtid="{D5CDD505-2E9C-101B-9397-08002B2CF9AE}" pid="4" name="MSIP_Label_a15a25aa-e944-415d-b7a7-40f6b9180b6b_Method">
    <vt:lpwstr>Standard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d9e9e18e-9f8a-4739-adfc-395e71d206c1</vt:lpwstr>
  </property>
  <property fmtid="{D5CDD505-2E9C-101B-9397-08002B2CF9AE}" pid="8" name="MSIP_Label_a15a25aa-e944-415d-b7a7-40f6b9180b6b_ContentBits">
    <vt:lpwstr>0</vt:lpwstr>
  </property>
</Properties>
</file>