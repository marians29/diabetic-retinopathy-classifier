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1" r:id="rId2"/>
    <p:sldId id="278" r:id="rId3"/>
    <p:sldId id="297" r:id="rId4"/>
    <p:sldId id="298" r:id="rId5"/>
    <p:sldId id="300" r:id="rId6"/>
    <p:sldId id="302" r:id="rId7"/>
    <p:sldId id="299" r:id="rId8"/>
    <p:sldId id="301" r:id="rId9"/>
    <p:sldId id="313" r:id="rId10"/>
    <p:sldId id="303" r:id="rId11"/>
    <p:sldId id="314" r:id="rId12"/>
    <p:sldId id="304" r:id="rId13"/>
    <p:sldId id="315" r:id="rId14"/>
    <p:sldId id="306" r:id="rId15"/>
    <p:sldId id="307" r:id="rId16"/>
    <p:sldId id="320" r:id="rId17"/>
    <p:sldId id="308" r:id="rId18"/>
    <p:sldId id="309" r:id="rId19"/>
    <p:sldId id="321" r:id="rId20"/>
    <p:sldId id="319" r:id="rId21"/>
    <p:sldId id="310" r:id="rId22"/>
    <p:sldId id="311" r:id="rId23"/>
    <p:sldId id="312" r:id="rId24"/>
    <p:sldId id="317" r:id="rId25"/>
    <p:sldId id="318" r:id="rId2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44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8" autoAdjust="0"/>
    <p:restoredTop sz="94609" autoAdjust="0"/>
  </p:normalViewPr>
  <p:slideViewPr>
    <p:cSldViewPr>
      <p:cViewPr varScale="1">
        <p:scale>
          <a:sx n="79" d="100"/>
          <a:sy n="79" d="100"/>
        </p:scale>
        <p:origin x="864" y="67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https://pixabay.com/en/seminar-lecture-study-student-2654142/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https://pixabay.com/en/books-science-shelf-library-book-408220/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65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99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35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34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43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50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8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3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3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3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5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5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90D8B8-307A-4993-9315-0D6ADDAA6CEB}"/>
              </a:ext>
            </a:extLst>
          </p:cNvPr>
          <p:cNvCxnSpPr/>
          <p:nvPr userDrawn="1"/>
        </p:nvCxnSpPr>
        <p:spPr>
          <a:xfrm>
            <a:off x="609441" y="6448926"/>
            <a:ext cx="10969943" cy="0"/>
          </a:xfrm>
          <a:prstGeom prst="line">
            <a:avLst/>
          </a:prstGeom>
          <a:ln>
            <a:solidFill>
              <a:schemeClr val="bg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49A4D36-ACE7-46EE-977E-260D55BF45D2}"/>
              </a:ext>
            </a:extLst>
          </p:cNvPr>
          <p:cNvSpPr/>
          <p:nvPr userDrawn="1"/>
        </p:nvSpPr>
        <p:spPr>
          <a:xfrm>
            <a:off x="5917950" y="6272463"/>
            <a:ext cx="352925" cy="35292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36203" y="6244059"/>
            <a:ext cx="516420" cy="385017"/>
          </a:xfrm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3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5" y="273051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4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5" y="1435103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2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40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1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1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3" r:id="rId8"/>
    <p:sldLayoutId id="2147483662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6000" contrast="4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D2BAF2-6E03-4B24-8EE4-0AF3286EFC48}"/>
              </a:ext>
            </a:extLst>
          </p:cNvPr>
          <p:cNvSpPr/>
          <p:nvPr/>
        </p:nvSpPr>
        <p:spPr>
          <a:xfrm>
            <a:off x="1" y="0"/>
            <a:ext cx="12188825" cy="6858000"/>
          </a:xfrm>
          <a:prstGeom prst="rect">
            <a:avLst/>
          </a:prstGeom>
          <a:solidFill>
            <a:schemeClr val="accent2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26330-921B-1F48-0946-7FD325B3673D}"/>
              </a:ext>
            </a:extLst>
          </p:cNvPr>
          <p:cNvSpPr/>
          <p:nvPr/>
        </p:nvSpPr>
        <p:spPr>
          <a:xfrm>
            <a:off x="11413" y="-16706"/>
            <a:ext cx="12188825" cy="1307995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B5AB2D-15CD-C7AA-47B7-8F55F999BA9D}"/>
              </a:ext>
            </a:extLst>
          </p:cNvPr>
          <p:cNvSpPr txBox="1"/>
          <p:nvPr/>
        </p:nvSpPr>
        <p:spPr>
          <a:xfrm>
            <a:off x="-121146" y="1897303"/>
            <a:ext cx="124311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Student: Stancovici Marian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9ADCA-803F-6393-2921-FFEABE010481}"/>
              </a:ext>
            </a:extLst>
          </p:cNvPr>
          <p:cNvSpPr txBox="1"/>
          <p:nvPr/>
        </p:nvSpPr>
        <p:spPr>
          <a:xfrm>
            <a:off x="-117884" y="2569443"/>
            <a:ext cx="124311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Coordonatori</a:t>
            </a: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b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o-RO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Ș</a:t>
            </a: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L. </a:t>
            </a:r>
            <a:r>
              <a:rPr lang="en-IN" sz="2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</a:t>
            </a:r>
            <a:r>
              <a:rPr lang="en-IN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Ing. Diana-Elena B</a:t>
            </a:r>
            <a:r>
              <a:rPr lang="ro-RO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rî</a:t>
            </a:r>
            <a:r>
              <a:rPr lang="en-IN" sz="2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naru</a:t>
            </a:r>
            <a:endParaRPr lang="ro-RO" sz="2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ro-RO" sz="2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Ing. Liviu Gugu</a:t>
            </a:r>
            <a:endParaRPr lang="en-IN" sz="22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91C0F-8FEE-B60F-5F41-B9EC8DB054C2}"/>
              </a:ext>
            </a:extLst>
          </p:cNvPr>
          <p:cNvSpPr txBox="1"/>
          <p:nvPr/>
        </p:nvSpPr>
        <p:spPr>
          <a:xfrm>
            <a:off x="-121146" y="4927867"/>
            <a:ext cx="1243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Facultatea de Electronică, Telecomunicații și Tehnologia Informației</a:t>
            </a:r>
            <a:endParaRPr lang="en-IN" sz="1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3A20C-1719-626C-77AB-BA96FA5FF382}"/>
              </a:ext>
            </a:extLst>
          </p:cNvPr>
          <p:cNvSpPr txBox="1"/>
          <p:nvPr/>
        </p:nvSpPr>
        <p:spPr>
          <a:xfrm>
            <a:off x="-109733" y="5658818"/>
            <a:ext cx="1243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Iulie 2024</a:t>
            </a:r>
            <a:endParaRPr lang="en-IN" sz="1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2CEEB-1510-4449-A435-7628D31D6F07}"/>
              </a:ext>
            </a:extLst>
          </p:cNvPr>
          <p:cNvSpPr txBox="1"/>
          <p:nvPr/>
        </p:nvSpPr>
        <p:spPr>
          <a:xfrm>
            <a:off x="90542" y="87050"/>
            <a:ext cx="124311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</a:t>
            </a:r>
            <a:r>
              <a:rPr lang="ro-RO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ț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defectelor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fabrica</a:t>
            </a:r>
            <a:r>
              <a:rPr lang="ro-RO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ț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ie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o-RO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î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ntr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-un circuit digital,</a:t>
            </a:r>
          </a:p>
          <a:p>
            <a:pPr algn="ctr"/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ajutorul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 genera</a:t>
            </a:r>
            <a:r>
              <a:rPr lang="ro-RO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ț</a:t>
            </a:r>
            <a:r>
              <a:rPr lang="en-IN" sz="30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en-IN" sz="3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automat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8" name="Picture 4" descr="Departamentul de Telecomunicatii | Site-ul Departamentului ...">
            <a:extLst>
              <a:ext uri="{FF2B5EF4-FFF2-40B4-BE49-F238E27FC236}">
                <a16:creationId xmlns:a16="http://schemas.microsoft.com/office/drawing/2014/main" id="{1AF8EAC6-2DA9-F4F0-4E51-0F19BD57D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733" y="5135406"/>
            <a:ext cx="1788789" cy="17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3AEF1A-2947-3B7E-38C6-8B4096B82475}"/>
              </a:ext>
            </a:extLst>
          </p:cNvPr>
          <p:cNvSpPr/>
          <p:nvPr/>
        </p:nvSpPr>
        <p:spPr>
          <a:xfrm>
            <a:off x="90542" y="5198831"/>
            <a:ext cx="2021746" cy="15721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4D2FACC-89E1-C9EE-40AA-4F52D2DA3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81" y="5552323"/>
            <a:ext cx="1686667" cy="99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58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B1FDF6-ECC0-46F4-959E-4450192B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o-RO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Cuprins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19D05E-C159-4D18-950C-8DB21A95A3FF}"/>
              </a:ext>
            </a:extLst>
          </p:cNvPr>
          <p:cNvSpPr/>
          <p:nvPr/>
        </p:nvSpPr>
        <p:spPr>
          <a:xfrm>
            <a:off x="1135186" y="1953235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483CB1-9355-4994-AC33-E70D3AB49F71}"/>
              </a:ext>
            </a:extLst>
          </p:cNvPr>
          <p:cNvSpPr/>
          <p:nvPr/>
        </p:nvSpPr>
        <p:spPr>
          <a:xfrm>
            <a:off x="1135186" y="2524237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C3C6A6-012F-499B-99E2-4CB11EA0E8CC}"/>
              </a:ext>
            </a:extLst>
          </p:cNvPr>
          <p:cNvSpPr/>
          <p:nvPr/>
        </p:nvSpPr>
        <p:spPr>
          <a:xfrm>
            <a:off x="1135186" y="3095239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5DE87D-0D17-4702-8827-1F859F8C5724}"/>
              </a:ext>
            </a:extLst>
          </p:cNvPr>
          <p:cNvSpPr/>
          <p:nvPr/>
        </p:nvSpPr>
        <p:spPr>
          <a:xfrm>
            <a:off x="1135186" y="3666241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AAA62D-11DB-4A82-8736-C8B2029AC197}"/>
              </a:ext>
            </a:extLst>
          </p:cNvPr>
          <p:cNvSpPr/>
          <p:nvPr/>
        </p:nvSpPr>
        <p:spPr>
          <a:xfrm>
            <a:off x="1135186" y="4237243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E2FD02-4040-4334-B7F5-7188C52015A7}"/>
              </a:ext>
            </a:extLst>
          </p:cNvPr>
          <p:cNvSpPr/>
          <p:nvPr/>
        </p:nvSpPr>
        <p:spPr>
          <a:xfrm>
            <a:off x="1135186" y="4808245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51C02E-B7CD-4960-A431-6DA7A66A9936}"/>
              </a:ext>
            </a:extLst>
          </p:cNvPr>
          <p:cNvSpPr/>
          <p:nvPr/>
        </p:nvSpPr>
        <p:spPr>
          <a:xfrm>
            <a:off x="1485900" y="184482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Motivație și obiective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0A4075B-0123-4A98-BF17-07C3B6831ACD}"/>
              </a:ext>
            </a:extLst>
          </p:cNvPr>
          <p:cNvCxnSpPr>
            <a:cxnSpLocks/>
          </p:cNvCxnSpPr>
          <p:nvPr/>
        </p:nvCxnSpPr>
        <p:spPr>
          <a:xfrm>
            <a:off x="1101010" y="224493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5D9A390-F971-4409-8CC4-DB2FCCE79FB1}"/>
              </a:ext>
            </a:extLst>
          </p:cNvPr>
          <p:cNvSpPr/>
          <p:nvPr/>
        </p:nvSpPr>
        <p:spPr>
          <a:xfrm>
            <a:off x="1485900" y="2423944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Introducere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CB4947-C35A-42EF-9D17-A81F25B0226C}"/>
              </a:ext>
            </a:extLst>
          </p:cNvPr>
          <p:cNvCxnSpPr>
            <a:cxnSpLocks/>
          </p:cNvCxnSpPr>
          <p:nvPr/>
        </p:nvCxnSpPr>
        <p:spPr>
          <a:xfrm>
            <a:off x="1101010" y="282405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0D72-5998-42A6-BFB2-03DC0B2EEA3E}"/>
              </a:ext>
            </a:extLst>
          </p:cNvPr>
          <p:cNvSpPr/>
          <p:nvPr/>
        </p:nvSpPr>
        <p:spPr>
          <a:xfrm>
            <a:off x="1485900" y="300306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Flow-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DFT </a:t>
            </a:r>
            <a:r>
              <a:rPr 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171088-ABDC-435D-BC05-68119684664A}"/>
              </a:ext>
            </a:extLst>
          </p:cNvPr>
          <p:cNvCxnSpPr>
            <a:cxnSpLocks/>
          </p:cNvCxnSpPr>
          <p:nvPr/>
        </p:nvCxnSpPr>
        <p:spPr>
          <a:xfrm>
            <a:off x="1101010" y="340317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966B7EB-7D00-406E-9DA3-3DE33BFFA4C2}"/>
              </a:ext>
            </a:extLst>
          </p:cNvPr>
          <p:cNvSpPr/>
          <p:nvPr/>
        </p:nvSpPr>
        <p:spPr>
          <a:xfrm>
            <a:off x="1485900" y="358218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 generării vectorilor de test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34A06B-2877-4D7B-8555-65C8BB86E4E4}"/>
              </a:ext>
            </a:extLst>
          </p:cNvPr>
          <p:cNvCxnSpPr>
            <a:cxnSpLocks/>
          </p:cNvCxnSpPr>
          <p:nvPr/>
        </p:nvCxnSpPr>
        <p:spPr>
          <a:xfrm>
            <a:off x="1101010" y="398229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529C805-1150-4889-9DC9-B3B1AB28DC6F}"/>
              </a:ext>
            </a:extLst>
          </p:cNvPr>
          <p:cNvSpPr/>
          <p:nvPr/>
        </p:nvSpPr>
        <p:spPr>
          <a:xfrm>
            <a:off x="1485900" y="416130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AC0BC0-09E6-4BBE-B72F-DF871F43EC5F}"/>
              </a:ext>
            </a:extLst>
          </p:cNvPr>
          <p:cNvCxnSpPr>
            <a:cxnSpLocks/>
          </p:cNvCxnSpPr>
          <p:nvPr/>
        </p:nvCxnSpPr>
        <p:spPr>
          <a:xfrm>
            <a:off x="1101010" y="456141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C663235-A7E9-495B-AF3E-E59869128B19}"/>
              </a:ext>
            </a:extLst>
          </p:cNvPr>
          <p:cNvSpPr/>
          <p:nvPr/>
        </p:nvSpPr>
        <p:spPr>
          <a:xfrm>
            <a:off x="1485900" y="4725184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B3BD117-4B15-47B6-95FE-9484418AC7B7}"/>
              </a:ext>
            </a:extLst>
          </p:cNvPr>
          <p:cNvCxnSpPr>
            <a:cxnSpLocks/>
          </p:cNvCxnSpPr>
          <p:nvPr/>
        </p:nvCxnSpPr>
        <p:spPr>
          <a:xfrm>
            <a:off x="1101010" y="5125294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3423C60E-AEDF-4CA2-966C-0239EE683DB4}"/>
              </a:ext>
            </a:extLst>
          </p:cNvPr>
          <p:cNvSpPr/>
          <p:nvPr/>
        </p:nvSpPr>
        <p:spPr>
          <a:xfrm>
            <a:off x="10660769" y="184482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B2B97F-2885-475E-ADCC-F1BE12FFCB4F}"/>
              </a:ext>
            </a:extLst>
          </p:cNvPr>
          <p:cNvSpPr/>
          <p:nvPr/>
        </p:nvSpPr>
        <p:spPr>
          <a:xfrm>
            <a:off x="10660769" y="242394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93D7FD8-0266-44E1-B47A-7C7190A26AC8}"/>
              </a:ext>
            </a:extLst>
          </p:cNvPr>
          <p:cNvSpPr/>
          <p:nvPr/>
        </p:nvSpPr>
        <p:spPr>
          <a:xfrm>
            <a:off x="10660769" y="300306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2888F3-9857-43B0-8973-61B09A0086DF}"/>
              </a:ext>
            </a:extLst>
          </p:cNvPr>
          <p:cNvSpPr/>
          <p:nvPr/>
        </p:nvSpPr>
        <p:spPr>
          <a:xfrm>
            <a:off x="10660769" y="358218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44FF8F-C6E1-4D28-A8BC-E55086D031D3}"/>
              </a:ext>
            </a:extLst>
          </p:cNvPr>
          <p:cNvSpPr/>
          <p:nvPr/>
        </p:nvSpPr>
        <p:spPr>
          <a:xfrm>
            <a:off x="10660769" y="416130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CC2A5D-0E10-43B2-B2B8-EC1713D9EAE7}"/>
              </a:ext>
            </a:extLst>
          </p:cNvPr>
          <p:cNvSpPr/>
          <p:nvPr/>
        </p:nvSpPr>
        <p:spPr>
          <a:xfrm>
            <a:off x="10660769" y="4725184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0E7EE-EAAB-3C70-78C9-A6E39C38A5D8}"/>
              </a:ext>
            </a:extLst>
          </p:cNvPr>
          <p:cNvSpPr/>
          <p:nvPr/>
        </p:nvSpPr>
        <p:spPr>
          <a:xfrm>
            <a:off x="1135186" y="5372124"/>
            <a:ext cx="173758" cy="1737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8AEEA4-3ABE-2846-11E2-5CFD75A1787F}"/>
              </a:ext>
            </a:extLst>
          </p:cNvPr>
          <p:cNvSpPr/>
          <p:nvPr/>
        </p:nvSpPr>
        <p:spPr>
          <a:xfrm>
            <a:off x="1485900" y="5289063"/>
            <a:ext cx="7622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ro-RO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Referințe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F87BE6-5600-9B55-0DB0-FBCD02E3FAC8}"/>
              </a:ext>
            </a:extLst>
          </p:cNvPr>
          <p:cNvCxnSpPr>
            <a:cxnSpLocks/>
          </p:cNvCxnSpPr>
          <p:nvPr/>
        </p:nvCxnSpPr>
        <p:spPr>
          <a:xfrm>
            <a:off x="1101010" y="5689173"/>
            <a:ext cx="99804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FC9AB-FD8B-8F6F-DDD7-8602A1E477BB}"/>
              </a:ext>
            </a:extLst>
          </p:cNvPr>
          <p:cNvSpPr/>
          <p:nvPr/>
        </p:nvSpPr>
        <p:spPr>
          <a:xfrm>
            <a:off x="10660769" y="5289063"/>
            <a:ext cx="5433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ro-RO" sz="2000" b="1" dirty="0">
                <a:solidFill>
                  <a:srgbClr val="0096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endParaRPr lang="en-IN" sz="2000" b="1" dirty="0">
              <a:solidFill>
                <a:srgbClr val="0096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925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bg1"/>
                </a:solidFill>
              </a:rPr>
              <a:t>Motivație și obiective</a:t>
            </a:r>
          </a:p>
        </p:txBody>
      </p:sp>
    </p:spTree>
    <p:extLst>
      <p:ext uri="{BB962C8B-B14F-4D97-AF65-F5344CB8AC3E}">
        <p14:creationId xmlns:p14="http://schemas.microsoft.com/office/powerpoint/2010/main" val="264655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Motivatie si obiective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69955-BD1E-947C-A30A-D660BB8CA986}"/>
              </a:ext>
            </a:extLst>
          </p:cNvPr>
          <p:cNvSpPr/>
          <p:nvPr/>
        </p:nvSpPr>
        <p:spPr>
          <a:xfrm>
            <a:off x="837828" y="1484784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dirty="0"/>
              <a:t>Obiective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1693B-B57E-878E-644A-0861AAEDA696}"/>
              </a:ext>
            </a:extLst>
          </p:cNvPr>
          <p:cNvSpPr/>
          <p:nvPr/>
        </p:nvSpPr>
        <p:spPr>
          <a:xfrm>
            <a:off x="837828" y="4061595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dirty="0"/>
              <a:t>Motivatie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7EB7F7-3C8C-34CB-F26E-7BA47577FEB4}"/>
              </a:ext>
            </a:extLst>
          </p:cNvPr>
          <p:cNvSpPr/>
          <p:nvPr/>
        </p:nvSpPr>
        <p:spPr>
          <a:xfrm>
            <a:off x="837828" y="1988840"/>
            <a:ext cx="10061615" cy="1748718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41101-720B-326E-6E20-87368A0981C7}"/>
              </a:ext>
            </a:extLst>
          </p:cNvPr>
          <p:cNvSpPr/>
          <p:nvPr/>
        </p:nvSpPr>
        <p:spPr>
          <a:xfrm>
            <a:off x="837828" y="4611538"/>
            <a:ext cx="10061615" cy="1748718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8A50A-88FD-5A91-1357-3D48A36DCD78}"/>
              </a:ext>
            </a:extLst>
          </p:cNvPr>
          <p:cNvSpPr txBox="1"/>
          <p:nvPr/>
        </p:nvSpPr>
        <p:spPr>
          <a:xfrm>
            <a:off x="837828" y="1988840"/>
            <a:ext cx="10061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Testarea defectelor pre-silicon al unui modul SoC cu arhitectură RISC-V</a:t>
            </a:r>
            <a:r>
              <a:rPr lang="en-US" dirty="0"/>
              <a:t> (DFT)</a:t>
            </a:r>
            <a:endParaRPr lang="ro-RO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Inserarea logicii de test și sinteza circuitului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Generarea vectorilor de test prin metode automate și simularea acestora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Introducerea unui modul numit EDT pentru reducerea timpului de testare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F5287-5522-8249-E1CC-63BF901C0626}"/>
              </a:ext>
            </a:extLst>
          </p:cNvPr>
          <p:cNvSpPr txBox="1"/>
          <p:nvPr/>
        </p:nvSpPr>
        <p:spPr>
          <a:xfrm>
            <a:off x="837828" y="4633117"/>
            <a:ext cx="10061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Depistarea diverselor tipuri de defecte (ex: Stuckat și Transition)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Cost redus de testare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Durată mai scurtă de testare</a:t>
            </a:r>
          </a:p>
        </p:txBody>
      </p:sp>
    </p:spTree>
    <p:extLst>
      <p:ext uri="{BB962C8B-B14F-4D97-AF65-F5344CB8AC3E}">
        <p14:creationId xmlns:p14="http://schemas.microsoft.com/office/powerpoint/2010/main" val="2669043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b="1" dirty="0">
                <a:solidFill>
                  <a:schemeClr val="bg1"/>
                </a:solidFill>
              </a:rPr>
              <a:t>Introducere</a:t>
            </a:r>
          </a:p>
        </p:txBody>
      </p:sp>
    </p:spTree>
    <p:extLst>
      <p:ext uri="{BB962C8B-B14F-4D97-AF65-F5344CB8AC3E}">
        <p14:creationId xmlns:p14="http://schemas.microsoft.com/office/powerpoint/2010/main" val="318397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Exemplu de testare a vectorilor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333772" y="709229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80FC1-AC16-D5D5-8E38-2DC00970B51C}"/>
              </a:ext>
            </a:extLst>
          </p:cNvPr>
          <p:cNvSpPr txBox="1"/>
          <p:nvPr/>
        </p:nvSpPr>
        <p:spPr>
          <a:xfrm>
            <a:off x="5297568" y="1420310"/>
            <a:ext cx="63367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testează defect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ul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tip Stuck-at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-1 din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figur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ă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Pentru a depista defectul, trebuie să generăm valoarea inversă blocării la locația respectivă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propagat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ă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â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ă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ie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ș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ire</a:t>
            </a:r>
          </a:p>
          <a:p>
            <a:endParaRPr lang="ro-RO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aplică stimuli la intrare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ș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compar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ă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ie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ș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irea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real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ă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cu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ie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ș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irea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asteptat</a:t>
            </a: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ă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ro-RO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Vectorii selectati sunt singurii care depistează defectul în exemplu.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Circuite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complexe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=&gt; ATPG</a:t>
            </a:r>
            <a:endParaRPr lang="ro-RO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F2BC4F9-9EDD-4704-9A7B-84360405B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" y="843246"/>
            <a:ext cx="4896811" cy="600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27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Inserarea logicii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27B7AE-EFE1-51B6-C187-82319B567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84" y="893585"/>
            <a:ext cx="9505056" cy="404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AC24D4-B691-2375-FFFE-7AAA3E117FED}"/>
              </a:ext>
            </a:extLst>
          </p:cNvPr>
          <p:cNvSpPr txBox="1"/>
          <p:nvPr/>
        </p:nvSpPr>
        <p:spPr>
          <a:xfrm>
            <a:off x="549796" y="4942999"/>
            <a:ext cx="92980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Transformarea</a:t>
            </a:r>
            <a:r>
              <a:rPr lang="en-US" dirty="0"/>
              <a:t> flip-flop-</a:t>
            </a:r>
            <a:r>
              <a:rPr lang="en-US" dirty="0" err="1"/>
              <a:t>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o-RO" dirty="0"/>
              <a:t>A</a:t>
            </a:r>
            <a:r>
              <a:rPr lang="en-US" dirty="0"/>
              <a:t>d</a:t>
            </a:r>
            <a:r>
              <a:rPr lang="ro-RO" dirty="0"/>
              <a:t>ă</a:t>
            </a:r>
            <a:r>
              <a:rPr lang="en-US" dirty="0" err="1"/>
              <a:t>ugarea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mux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inserarea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selec</a:t>
            </a:r>
            <a:r>
              <a:rPr lang="ro-RO" dirty="0"/>
              <a:t>ț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semnalelor</a:t>
            </a:r>
            <a:r>
              <a:rPr lang="en-US" dirty="0"/>
              <a:t> de control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= 0 =&gt; </a:t>
            </a:r>
            <a:r>
              <a:rPr lang="en-US" dirty="0" err="1"/>
              <a:t>faz</a:t>
            </a:r>
            <a:r>
              <a:rPr lang="ro-RO" dirty="0"/>
              <a:t>ă</a:t>
            </a:r>
            <a:r>
              <a:rPr lang="en-US" dirty="0"/>
              <a:t> de </a:t>
            </a:r>
            <a:r>
              <a:rPr lang="en-US" dirty="0" err="1"/>
              <a:t>capturare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= 1 =&gt; </a:t>
            </a:r>
            <a:r>
              <a:rPr lang="en-US" dirty="0" err="1"/>
              <a:t>faz</a:t>
            </a:r>
            <a:r>
              <a:rPr lang="ro-RO" dirty="0"/>
              <a:t>ă</a:t>
            </a:r>
            <a:r>
              <a:rPr lang="en-US" dirty="0"/>
              <a:t> de </a:t>
            </a:r>
            <a:r>
              <a:rPr lang="en-US" dirty="0" err="1"/>
              <a:t>shiftare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2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Inserarea logicii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C6FE699-B4BE-ACAE-825A-76AFA500D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72" y="893585"/>
            <a:ext cx="10079519" cy="553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4FA265-A48E-C5F7-75C7-D9759D7ADE9E}"/>
              </a:ext>
            </a:extLst>
          </p:cNvPr>
          <p:cNvSpPr txBox="1"/>
          <p:nvPr/>
        </p:nvSpPr>
        <p:spPr>
          <a:xfrm>
            <a:off x="4222204" y="6247529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Reprezentarea unui lanț de scan</a:t>
            </a:r>
          </a:p>
        </p:txBody>
      </p:sp>
    </p:spTree>
    <p:extLst>
      <p:ext uri="{BB962C8B-B14F-4D97-AF65-F5344CB8AC3E}">
        <p14:creationId xmlns:p14="http://schemas.microsoft.com/office/powerpoint/2010/main" val="98358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Inserarea logicii de test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C35159-6738-E08C-FCFA-99F95B1A1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71" y="893585"/>
            <a:ext cx="10081120" cy="551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97DC7D-9E41-13C4-6629-5FF690448C50}"/>
              </a:ext>
            </a:extLst>
          </p:cNvPr>
          <p:cNvSpPr txBox="1"/>
          <p:nvPr/>
        </p:nvSpPr>
        <p:spPr>
          <a:xfrm>
            <a:off x="4222204" y="6247529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Reprezentarea unui lanț de scan</a:t>
            </a:r>
          </a:p>
        </p:txBody>
      </p:sp>
    </p:spTree>
    <p:extLst>
      <p:ext uri="{BB962C8B-B14F-4D97-AF65-F5344CB8AC3E}">
        <p14:creationId xmlns:p14="http://schemas.microsoft.com/office/powerpoint/2010/main" val="24673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Integrarea modulului EDT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FD95E-93DB-A50E-38EC-53192B3DDB83}"/>
              </a:ext>
            </a:extLst>
          </p:cNvPr>
          <p:cNvSpPr txBox="1"/>
          <p:nvPr/>
        </p:nvSpPr>
        <p:spPr>
          <a:xfrm>
            <a:off x="132047" y="1052736"/>
            <a:ext cx="33516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Modul EDT format din:</a:t>
            </a:r>
          </a:p>
          <a:p>
            <a:pPr marL="952393" lvl="1" indent="-342900">
              <a:buFont typeface="Wingdings" panose="05000000000000000000" pitchFamily="2" charset="2"/>
              <a:buChar char="§"/>
            </a:pPr>
            <a:r>
              <a:rPr lang="en-US" dirty="0" err="1"/>
              <a:t>Decompresor</a:t>
            </a:r>
            <a:endParaRPr lang="en-US" dirty="0"/>
          </a:p>
          <a:p>
            <a:pPr marL="952393" lvl="1" indent="-342900">
              <a:buFont typeface="Wingdings" panose="05000000000000000000" pitchFamily="2" charset="2"/>
              <a:buChar char="§"/>
            </a:pPr>
            <a:r>
              <a:rPr lang="en-US" dirty="0"/>
              <a:t>Compactor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Instan</a:t>
            </a:r>
            <a:r>
              <a:rPr lang="ro-RO" dirty="0"/>
              <a:t>ț</a:t>
            </a:r>
            <a:r>
              <a:rPr lang="en-US" dirty="0" err="1"/>
              <a:t>iat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mpreun</a:t>
            </a:r>
            <a:r>
              <a:rPr lang="ro-RO" dirty="0"/>
              <a:t>ă</a:t>
            </a:r>
            <a:r>
              <a:rPr lang="en-US" dirty="0"/>
              <a:t> </a:t>
            </a:r>
          </a:p>
          <a:p>
            <a:r>
              <a:rPr lang="en-US" dirty="0"/>
              <a:t>     cu </a:t>
            </a:r>
            <a:r>
              <a:rPr lang="en-US" dirty="0" err="1"/>
              <a:t>modulul</a:t>
            </a:r>
            <a:r>
              <a:rPr lang="en-US" dirty="0"/>
              <a:t> SoC</a:t>
            </a:r>
          </a:p>
          <a:p>
            <a:endParaRPr lang="en-US" dirty="0"/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</a:t>
            </a:r>
            <a:r>
              <a:rPr kumimoji="0" lang="ro-R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ț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scan</a:t>
            </a:r>
            <a:endParaRPr lang="en-US" dirty="0"/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 mic</a:t>
            </a:r>
            <a:r>
              <a:rPr lang="ro-RO" dirty="0"/>
              <a:t>ș</a:t>
            </a:r>
            <a:r>
              <a:rPr lang="en-US" dirty="0" err="1"/>
              <a:t>oreaz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exponen</a:t>
            </a:r>
            <a:r>
              <a:rPr lang="ro-RO" dirty="0"/>
              <a:t>ț</a:t>
            </a:r>
            <a:r>
              <a:rPr lang="en-US" dirty="0" err="1"/>
              <a:t>ial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5C79229-8C9D-CAE4-2EA0-70D7124A8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555" y="870308"/>
            <a:ext cx="8608223" cy="577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76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Exemplu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imbunatatire</a:t>
            </a:r>
            <a:r>
              <a:rPr lang="en-US" dirty="0">
                <a:solidFill>
                  <a:schemeClr val="bg1"/>
                </a:solidFill>
              </a:rPr>
              <a:t> cu EDT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9E32D-13ED-72AF-432D-12F577972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61" y="1145349"/>
            <a:ext cx="10004700" cy="5011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A0BFE-B7BE-7F2B-800C-6B441D97671E}"/>
              </a:ext>
            </a:extLst>
          </p:cNvPr>
          <p:cNvSpPr txBox="1"/>
          <p:nvPr/>
        </p:nvSpPr>
        <p:spPr>
          <a:xfrm>
            <a:off x="4470986" y="6157090"/>
            <a:ext cx="3246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Comparație ATPG vs EDT</a:t>
            </a:r>
          </a:p>
        </p:txBody>
      </p:sp>
    </p:spTree>
    <p:extLst>
      <p:ext uri="{BB962C8B-B14F-4D97-AF65-F5344CB8AC3E}">
        <p14:creationId xmlns:p14="http://schemas.microsoft.com/office/powerpoint/2010/main" val="47267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Flow-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DFT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</a:t>
            </a:r>
            <a:endParaRPr lang="ro-R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8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146005" y="515932"/>
            <a:ext cx="4076200" cy="967765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108" y="712325"/>
            <a:ext cx="4728425" cy="574977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Flow-</a:t>
            </a:r>
            <a:r>
              <a:rPr lang="en-US" sz="24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ul</a:t>
            </a:r>
            <a:r>
              <a:rPr lang="en-US" sz="2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DFT </a:t>
            </a:r>
            <a:r>
              <a:rPr lang="en-US" sz="24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aplicat</a:t>
            </a:r>
            <a:endParaRPr lang="ro-RO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E8EBE-C61F-63E7-6163-E46138FD3D62}"/>
              </a:ext>
            </a:extLst>
          </p:cNvPr>
          <p:cNvSpPr txBox="1"/>
          <p:nvPr/>
        </p:nvSpPr>
        <p:spPr>
          <a:xfrm>
            <a:off x="261764" y="1844824"/>
            <a:ext cx="4851906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Pa</a:t>
            </a:r>
            <a:r>
              <a:rPr lang="ro-RO" sz="3200" b="1" dirty="0"/>
              <a:t>ș</a:t>
            </a:r>
            <a:r>
              <a:rPr lang="en-US" sz="3200" b="1" dirty="0"/>
              <a:t>ii </a:t>
            </a:r>
            <a:r>
              <a:rPr lang="ro-RO" sz="3200" b="1" dirty="0"/>
              <a:t>efectuați</a:t>
            </a:r>
            <a:r>
              <a:rPr lang="en-US" sz="3200" b="1" dirty="0"/>
              <a:t>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circuitului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Generarea</a:t>
            </a:r>
            <a:r>
              <a:rPr lang="en-US" dirty="0"/>
              <a:t> EDT-</a:t>
            </a:r>
            <a:r>
              <a:rPr lang="en-US" dirty="0" err="1"/>
              <a:t>ului</a:t>
            </a:r>
            <a:r>
              <a:rPr lang="en-US" dirty="0"/>
              <a:t> (dup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vectori</a:t>
            </a:r>
            <a:r>
              <a:rPr lang="en-US" dirty="0"/>
              <a:t> de test (ATPG)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Simulare</a:t>
            </a:r>
            <a:r>
              <a:rPr lang="en-US" dirty="0"/>
              <a:t> (testbench)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Diagnoz</a:t>
            </a:r>
            <a:r>
              <a:rPr lang="ro-RO" dirty="0"/>
              <a:t>ă</a:t>
            </a:r>
            <a:r>
              <a:rPr lang="en-US" dirty="0"/>
              <a:t> (op</a:t>
            </a:r>
            <a:r>
              <a:rPr lang="ro-RO" dirty="0"/>
              <a:t>ț</a:t>
            </a:r>
            <a:r>
              <a:rPr lang="en-US" dirty="0" err="1"/>
              <a:t>ional</a:t>
            </a:r>
            <a:r>
              <a:rPr lang="en-US" dirty="0"/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F8854C4-1886-AB3A-C18B-ACE858041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670" y="-1"/>
            <a:ext cx="7075155" cy="691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6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generarii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</a:t>
            </a:r>
          </a:p>
        </p:txBody>
      </p:sp>
    </p:spTree>
    <p:extLst>
      <p:ext uri="{BB962C8B-B14F-4D97-AF65-F5344CB8AC3E}">
        <p14:creationId xmlns:p14="http://schemas.microsoft.com/office/powerpoint/2010/main" val="3167639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27384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generarii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8C0D79-B776-6C9C-BF3E-B4633D24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299444"/>
              </p:ext>
            </p:extLst>
          </p:nvPr>
        </p:nvGraphicFramePr>
        <p:xfrm>
          <a:off x="270148" y="1412776"/>
          <a:ext cx="11656915" cy="5039726"/>
        </p:xfrm>
        <a:graphic>
          <a:graphicData uri="http://schemas.openxmlformats.org/drawingml/2006/table">
            <a:tbl>
              <a:tblPr/>
              <a:tblGrid>
                <a:gridCol w="1458069">
                  <a:extLst>
                    <a:ext uri="{9D8B030D-6E8A-4147-A177-3AD203B41FA5}">
                      <a16:colId xmlns:a16="http://schemas.microsoft.com/office/drawing/2014/main" val="707514836"/>
                    </a:ext>
                  </a:extLst>
                </a:gridCol>
                <a:gridCol w="946599">
                  <a:extLst>
                    <a:ext uri="{9D8B030D-6E8A-4147-A177-3AD203B41FA5}">
                      <a16:colId xmlns:a16="http://schemas.microsoft.com/office/drawing/2014/main" val="2336556471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174292338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1209854848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643487017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027673186"/>
                    </a:ext>
                  </a:extLst>
                </a:gridCol>
                <a:gridCol w="946599">
                  <a:extLst>
                    <a:ext uri="{9D8B030D-6E8A-4147-A177-3AD203B41FA5}">
                      <a16:colId xmlns:a16="http://schemas.microsoft.com/office/drawing/2014/main" val="3291748641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2072929453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812539059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144115322"/>
                    </a:ext>
                  </a:extLst>
                </a:gridCol>
                <a:gridCol w="1038206">
                  <a:extLst>
                    <a:ext uri="{9D8B030D-6E8A-4147-A177-3AD203B41FA5}">
                      <a16:colId xmlns:a16="http://schemas.microsoft.com/office/drawing/2014/main" val="3063187399"/>
                    </a:ext>
                  </a:extLst>
                </a:gridCol>
              </a:tblGrid>
              <a:tr h="502779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ro-RO" sz="1600" b="1" i="0" u="sng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E9E7E7"/>
                          </a:highlight>
                          <a:latin typeface="Arial" panose="020B0604020202020204" pitchFamily="34" charset="0"/>
                        </a:rPr>
                        <a:t>ATPG</a:t>
                      </a:r>
                      <a:r>
                        <a:rPr lang="en-US" sz="1600" b="1" i="0" u="sng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E9E7E7"/>
                          </a:highlight>
                          <a:latin typeface="Arial" panose="020B0604020202020204" pitchFamily="34" charset="0"/>
                        </a:rPr>
                        <a:t> (Automatic Test Pattern Generation)</a:t>
                      </a:r>
                      <a:endParaRPr lang="ro-RO" sz="1600" b="1" i="0" u="sng" strike="noStrike" dirty="0">
                        <a:solidFill>
                          <a:srgbClr val="000000"/>
                        </a:solidFill>
                        <a:effectLst/>
                        <a:highlight>
                          <a:srgbClr val="E9E7E7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97568"/>
                  </a:ext>
                </a:extLst>
              </a:tr>
              <a:tr h="45392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o-RO" sz="15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Final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o-RO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Stuckat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ro-RO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Transition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09422"/>
                  </a:ext>
                </a:extLst>
              </a:tr>
              <a:tr h="453922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FastScan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30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40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50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60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FastScan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30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40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50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EE1DC"/>
                          </a:highlight>
                          <a:latin typeface="Arial" panose="020B0604020202020204" pitchFamily="34" charset="0"/>
                        </a:rPr>
                        <a:t>EDT 60 chains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393049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Patternuri totale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883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1122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1253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1398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1575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1609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2492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3158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3485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3805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719830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Ciclii de shiftare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47641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Offset de EDT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091351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Ciclii totali de shiftare   (per pattern)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5548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222426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Ciclii totali de shiftare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4898884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236742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206745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192924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187425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8926732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525812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521070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480930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9DD"/>
                          </a:highlight>
                          <a:latin typeface="Arial" panose="020B0604020202020204" pitchFamily="34" charset="0"/>
                        </a:rPr>
                        <a:t>452795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83604"/>
                  </a:ext>
                </a:extLst>
              </a:tr>
              <a:tr h="451649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test time</a:t>
                      </a:r>
                      <a:b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</a:br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(@100MHz) [ms]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48,989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2,367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2,067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1,929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1,874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89,267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5,258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5,211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4,809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1D3E4"/>
                          </a:highlight>
                          <a:latin typeface="Arial" panose="020B0604020202020204" pitchFamily="34" charset="0"/>
                        </a:rPr>
                        <a:t>4,528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16706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test coverage (%)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99.78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99.74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99.73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99.66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99.57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98.76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98.71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98.66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98.58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o-RO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98.44</a:t>
                      </a:r>
                    </a:p>
                  </a:txBody>
                  <a:tcPr marL="7185" marR="7185" marT="718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616195"/>
                  </a:ext>
                </a:extLst>
              </a:tr>
              <a:tr h="4539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Arie (µm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41526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42068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41526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42068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DEE6C1"/>
                          </a:highlight>
                          <a:latin typeface="Arial" panose="020B0604020202020204" pitchFamily="34" charset="0"/>
                        </a:rPr>
                        <a:t>42295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745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415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27384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Rezultatele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generarii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vectorilor</a:t>
            </a:r>
            <a:r>
              <a:rPr lang="en-US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8EF7AB9-A10F-A674-B49A-F04994F10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566" y="880135"/>
            <a:ext cx="6099002" cy="5527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164E29-820F-5C6A-8DC3-39CFE30C1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30" y="893585"/>
            <a:ext cx="4844944" cy="5527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89F041-4E62-31B7-8B0A-02D803CBF0CE}"/>
              </a:ext>
            </a:extLst>
          </p:cNvPr>
          <p:cNvSpPr txBox="1"/>
          <p:nvPr/>
        </p:nvSpPr>
        <p:spPr>
          <a:xfrm>
            <a:off x="345959" y="6407356"/>
            <a:ext cx="4696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Log privind generarea vectorilor pentru EDT 30 chains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98052-7BD8-0E97-DE9F-BB4AA5B13FBF}"/>
              </a:ext>
            </a:extLst>
          </p:cNvPr>
          <p:cNvSpPr txBox="1"/>
          <p:nvPr/>
        </p:nvSpPr>
        <p:spPr>
          <a:xfrm>
            <a:off x="6413924" y="6398363"/>
            <a:ext cx="4601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Raport privind lanturile de scan pentru EDT 30 chains</a:t>
            </a:r>
          </a:p>
        </p:txBody>
      </p:sp>
    </p:spTree>
    <p:extLst>
      <p:ext uri="{BB962C8B-B14F-4D97-AF65-F5344CB8AC3E}">
        <p14:creationId xmlns:p14="http://schemas.microsoft.com/office/powerpoint/2010/main" val="3120736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735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63739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397" y="-74174"/>
            <a:ext cx="10969943" cy="711081"/>
          </a:xfrm>
        </p:spPr>
        <p:txBody>
          <a:bodyPr/>
          <a:lstStyle/>
          <a:p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B30C2AE-F2D6-DED6-B2FD-FE4FD0957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88" y="695500"/>
            <a:ext cx="9804647" cy="5811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497DE0-0713-63EA-914F-187BCF29CF4B}"/>
              </a:ext>
            </a:extLst>
          </p:cNvPr>
          <p:cNvSpPr txBox="1"/>
          <p:nvPr/>
        </p:nvSpPr>
        <p:spPr>
          <a:xfrm>
            <a:off x="3406976" y="6507339"/>
            <a:ext cx="5326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Log pentru simularea vectorilor de test î</a:t>
            </a:r>
            <a:r>
              <a:rPr lang="en-US" sz="1600" dirty="0"/>
              <a:t>n </a:t>
            </a:r>
            <a:r>
              <a:rPr lang="en-US" sz="1600" dirty="0" err="1"/>
              <a:t>cazul</a:t>
            </a:r>
            <a:r>
              <a:rPr lang="ro-RO" sz="1600" dirty="0"/>
              <a:t> EDT 30 chains</a:t>
            </a:r>
          </a:p>
        </p:txBody>
      </p:sp>
    </p:spTree>
    <p:extLst>
      <p:ext uri="{BB962C8B-B14F-4D97-AF65-F5344CB8AC3E}">
        <p14:creationId xmlns:p14="http://schemas.microsoft.com/office/powerpoint/2010/main" val="90679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Simularea vectorilor de test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A78EC-1ED4-B26B-A165-FCACC0129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76872"/>
            <a:ext cx="12188825" cy="310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7A18D5-95A9-E9B3-A9B2-7D6ABA80CD4D}"/>
              </a:ext>
            </a:extLst>
          </p:cNvPr>
          <p:cNvSpPr txBox="1"/>
          <p:nvPr/>
        </p:nvSpPr>
        <p:spPr>
          <a:xfrm>
            <a:off x="3746268" y="5517232"/>
            <a:ext cx="565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Vizualizarea formelor de undă in cadrul simulării vectorilor de test</a:t>
            </a:r>
          </a:p>
        </p:txBody>
      </p:sp>
    </p:spTree>
    <p:extLst>
      <p:ext uri="{BB962C8B-B14F-4D97-AF65-F5344CB8AC3E}">
        <p14:creationId xmlns:p14="http://schemas.microsoft.com/office/powerpoint/2010/main" val="201198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Exemplu de lanț de scan pe simulare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266A93-70EC-4507-6176-02DEFCEAC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48" y="4293096"/>
            <a:ext cx="11656912" cy="2071507"/>
          </a:xfrm>
          <a:prstGeom prst="rect">
            <a:avLst/>
          </a:prstGeom>
          <a:noFill/>
        </p:spPr>
      </p:pic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5E751AE9-9680-2E3F-44A4-7A075030A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48" y="1084583"/>
            <a:ext cx="11656912" cy="2677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9422F5-185D-77FD-081D-4038C2DF2739}"/>
              </a:ext>
            </a:extLst>
          </p:cNvPr>
          <p:cNvSpPr txBox="1"/>
          <p:nvPr/>
        </p:nvSpPr>
        <p:spPr>
          <a:xfrm>
            <a:off x="3313681" y="3769941"/>
            <a:ext cx="5561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Reprezentarea schematică a unor elemente dintr-un lanț de scan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E22F0-BC39-7724-497B-455CF571849D}"/>
              </a:ext>
            </a:extLst>
          </p:cNvPr>
          <p:cNvSpPr txBox="1"/>
          <p:nvPr/>
        </p:nvSpPr>
        <p:spPr>
          <a:xfrm>
            <a:off x="3112826" y="6364603"/>
            <a:ext cx="59631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/>
              <a:t>Reprezentarea unor elemente dintr-un lanț de scan pe forma de undă</a:t>
            </a:r>
          </a:p>
        </p:txBody>
      </p:sp>
    </p:spTree>
    <p:extLst>
      <p:ext uri="{BB962C8B-B14F-4D97-AF65-F5344CB8AC3E}">
        <p14:creationId xmlns:p14="http://schemas.microsoft.com/office/powerpoint/2010/main" val="117199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Concluzii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481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4"/>
            <a:ext cx="12200239" cy="711082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8" y="-32216"/>
            <a:ext cx="10969943" cy="711081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Concluzii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69955-BD1E-947C-A30A-D660BB8CA986}"/>
              </a:ext>
            </a:extLst>
          </p:cNvPr>
          <p:cNvSpPr/>
          <p:nvPr/>
        </p:nvSpPr>
        <p:spPr>
          <a:xfrm>
            <a:off x="837827" y="1008875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Concluziile</a:t>
            </a:r>
            <a:r>
              <a:rPr lang="en-US" dirty="0"/>
              <a:t> </a:t>
            </a:r>
            <a:r>
              <a:rPr lang="ro-RO" dirty="0"/>
              <a:t>p</a:t>
            </a:r>
            <a:r>
              <a:rPr lang="en-US" dirty="0" err="1"/>
              <a:t>roiectului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1693B-B57E-878E-644A-0861AAEDA696}"/>
              </a:ext>
            </a:extLst>
          </p:cNvPr>
          <p:cNvSpPr/>
          <p:nvPr/>
        </p:nvSpPr>
        <p:spPr>
          <a:xfrm>
            <a:off x="837826" y="2877717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Contribu</a:t>
            </a:r>
            <a:r>
              <a:rPr lang="ro-RO" dirty="0"/>
              <a:t>ț</a:t>
            </a:r>
            <a:r>
              <a:rPr lang="en-US" dirty="0"/>
              <a:t>ii </a:t>
            </a:r>
            <a:r>
              <a:rPr lang="ro-RO" dirty="0"/>
              <a:t>p</a:t>
            </a:r>
            <a:r>
              <a:rPr lang="en-US" dirty="0" err="1"/>
              <a:t>ersonale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7EB7F7-3C8C-34CB-F26E-7BA47577FEB4}"/>
              </a:ext>
            </a:extLst>
          </p:cNvPr>
          <p:cNvSpPr/>
          <p:nvPr/>
        </p:nvSpPr>
        <p:spPr>
          <a:xfrm>
            <a:off x="837826" y="1534794"/>
            <a:ext cx="10061615" cy="964779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ro-RO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41101-720B-326E-6E20-87368A0981C7}"/>
              </a:ext>
            </a:extLst>
          </p:cNvPr>
          <p:cNvSpPr/>
          <p:nvPr/>
        </p:nvSpPr>
        <p:spPr>
          <a:xfrm>
            <a:off x="837826" y="3422546"/>
            <a:ext cx="10061615" cy="945869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C9219F-27E0-04E1-C17F-250B63FD8170}"/>
              </a:ext>
            </a:extLst>
          </p:cNvPr>
          <p:cNvSpPr/>
          <p:nvPr/>
        </p:nvSpPr>
        <p:spPr>
          <a:xfrm>
            <a:off x="837826" y="4819150"/>
            <a:ext cx="10061615" cy="504056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dirty="0"/>
              <a:t>Posibilități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ro-RO" dirty="0"/>
              <a:t> de dezvoltare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7783B-F2AD-3FD9-AC3C-EBE697DF8860}"/>
              </a:ext>
            </a:extLst>
          </p:cNvPr>
          <p:cNvSpPr/>
          <p:nvPr/>
        </p:nvSpPr>
        <p:spPr>
          <a:xfrm>
            <a:off x="837826" y="5363979"/>
            <a:ext cx="10061615" cy="1089357"/>
          </a:xfrm>
          <a:prstGeom prst="rect">
            <a:avLst/>
          </a:prstGeom>
          <a:solidFill>
            <a:srgbClr val="00964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6C0E3-00EB-E75E-7C7E-A54EF0FC6F9C}"/>
              </a:ext>
            </a:extLst>
          </p:cNvPr>
          <p:cNvSpPr txBox="1"/>
          <p:nvPr/>
        </p:nvSpPr>
        <p:spPr>
          <a:xfrm>
            <a:off x="830413" y="1514881"/>
            <a:ext cx="10061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Posibilitatea</a:t>
            </a:r>
            <a:r>
              <a:rPr lang="en-US" dirty="0"/>
              <a:t> </a:t>
            </a:r>
            <a:r>
              <a:rPr lang="en-US" dirty="0" err="1"/>
              <a:t>reducerii</a:t>
            </a:r>
            <a:r>
              <a:rPr lang="en-US" dirty="0"/>
              <a:t> </a:t>
            </a:r>
            <a:r>
              <a:rPr lang="en-US" dirty="0" err="1"/>
              <a:t>costurilor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duratei</a:t>
            </a:r>
            <a:r>
              <a:rPr lang="en-US" dirty="0"/>
              <a:t> test</a:t>
            </a:r>
            <a:r>
              <a:rPr lang="ro-RO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circuitelor</a:t>
            </a:r>
            <a:r>
              <a:rPr lang="en-US" dirty="0"/>
              <a:t> pre-silicon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Reducerea</a:t>
            </a:r>
            <a:r>
              <a:rPr lang="en-US" dirty="0"/>
              <a:t> </a:t>
            </a:r>
            <a:r>
              <a:rPr lang="en-US" dirty="0" err="1"/>
              <a:t>semnificativ</a:t>
            </a:r>
            <a:r>
              <a:rPr lang="ro-RO" dirty="0"/>
              <a:t>ă</a:t>
            </a:r>
            <a:r>
              <a:rPr lang="en-US" dirty="0"/>
              <a:t> a </a:t>
            </a:r>
            <a:r>
              <a:rPr lang="en-US" dirty="0" err="1"/>
              <a:t>timpului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EDT-</a:t>
            </a:r>
            <a:r>
              <a:rPr lang="en-US" dirty="0" err="1"/>
              <a:t>ului</a:t>
            </a:r>
            <a:endParaRPr lang="ro-R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12E88-3A92-E2BB-DB70-D4964624D93B}"/>
              </a:ext>
            </a:extLst>
          </p:cNvPr>
          <p:cNvSpPr txBox="1"/>
          <p:nvPr/>
        </p:nvSpPr>
        <p:spPr>
          <a:xfrm>
            <a:off x="830412" y="3400338"/>
            <a:ext cx="10061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Generarea</a:t>
            </a:r>
            <a:r>
              <a:rPr lang="en-US" dirty="0"/>
              <a:t> </a:t>
            </a:r>
            <a:r>
              <a:rPr lang="en-US" dirty="0" err="1"/>
              <a:t>vectorilor</a:t>
            </a:r>
            <a:r>
              <a:rPr lang="en-US" dirty="0"/>
              <a:t> de test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automatizate</a:t>
            </a:r>
            <a:r>
              <a:rPr lang="en-US" dirty="0"/>
              <a:t> (</a:t>
            </a:r>
            <a:r>
              <a:rPr lang="en-US" dirty="0" err="1"/>
              <a:t>scripturi</a:t>
            </a:r>
            <a:r>
              <a:rPr lang="ro-RO" dirty="0"/>
              <a:t> ATPG</a:t>
            </a:r>
            <a:r>
              <a:rPr lang="en-US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Analiza </a:t>
            </a:r>
            <a:r>
              <a:rPr lang="en-US" dirty="0" err="1"/>
              <a:t>performan</a:t>
            </a:r>
            <a:r>
              <a:rPr lang="ro-RO" dirty="0"/>
              <a:t>ț</a:t>
            </a:r>
            <a:r>
              <a:rPr lang="en-US" dirty="0" err="1"/>
              <a:t>elor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EDT vs non-EDT</a:t>
            </a:r>
            <a:endParaRPr lang="ro-RO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4E752-1B6A-A625-F509-5C4E12146EE5}"/>
              </a:ext>
            </a:extLst>
          </p:cNvPr>
          <p:cNvSpPr txBox="1"/>
          <p:nvPr/>
        </p:nvSpPr>
        <p:spPr>
          <a:xfrm>
            <a:off x="808896" y="5343119"/>
            <a:ext cx="10061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Integrarea</a:t>
            </a:r>
            <a:r>
              <a:rPr lang="en-US" dirty="0"/>
              <a:t> a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, precum </a:t>
            </a:r>
            <a:r>
              <a:rPr lang="ro-RO" dirty="0"/>
              <a:t>BIST sau inteligența artificială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depistarea</a:t>
            </a:r>
            <a:r>
              <a:rPr lang="en-US" dirty="0"/>
              <a:t> de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defecte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98027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EEFFE8-5E38-AED9-DF62-EC96A7972E79}"/>
              </a:ext>
            </a:extLst>
          </p:cNvPr>
          <p:cNvSpPr/>
          <p:nvPr/>
        </p:nvSpPr>
        <p:spPr>
          <a:xfrm>
            <a:off x="873831" y="2497395"/>
            <a:ext cx="10441160" cy="1152128"/>
          </a:xfrm>
          <a:prstGeom prst="round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3FBC-2805-87D7-3D33-3F09B1AA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17921"/>
            <a:ext cx="10969943" cy="711081"/>
          </a:xfrm>
        </p:spPr>
        <p:txBody>
          <a:bodyPr/>
          <a:lstStyle/>
          <a:p>
            <a:pPr algn="ctr"/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Referin</a:t>
            </a:r>
            <a:r>
              <a:rPr lang="ro-RO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ț</a:t>
            </a:r>
            <a:r>
              <a:rPr lang="ro-RO" sz="3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endParaRPr lang="en-US" sz="3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108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BE0626-445A-60E3-A91E-0FF3F4416666}"/>
              </a:ext>
            </a:extLst>
          </p:cNvPr>
          <p:cNvSpPr/>
          <p:nvPr/>
        </p:nvSpPr>
        <p:spPr>
          <a:xfrm>
            <a:off x="-1" y="-16705"/>
            <a:ext cx="12200239" cy="856753"/>
          </a:xfrm>
          <a:prstGeom prst="rect">
            <a:avLst/>
          </a:prstGeom>
          <a:solidFill>
            <a:srgbClr val="009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78929-09CC-633E-634C-D2527E9A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36832"/>
            <a:ext cx="10969943" cy="711081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Referinte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A3944C-F412-DE53-EA95-B8FE236243A1}"/>
              </a:ext>
            </a:extLst>
          </p:cNvPr>
          <p:cNvSpPr txBox="1">
            <a:spLocks/>
          </p:cNvSpPr>
          <p:nvPr/>
        </p:nvSpPr>
        <p:spPr>
          <a:xfrm>
            <a:off x="270148" y="281367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3" name="Graphic 12" descr="Address Book with solid fill">
            <a:extLst>
              <a:ext uri="{FF2B5EF4-FFF2-40B4-BE49-F238E27FC236}">
                <a16:creationId xmlns:a16="http://schemas.microsoft.com/office/drawing/2014/main" id="{E166D916-6153-36F8-2C97-92794ADE4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80" y="1138120"/>
            <a:ext cx="999049" cy="9990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A53B69-4592-DCE2-C9FB-F50B4C10D423}"/>
              </a:ext>
            </a:extLst>
          </p:cNvPr>
          <p:cNvSpPr txBox="1"/>
          <p:nvPr/>
        </p:nvSpPr>
        <p:spPr>
          <a:xfrm>
            <a:off x="1404829" y="1084583"/>
            <a:ext cx="9892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9644"/>
                </a:solidFill>
              </a:rPr>
              <a:t>Zainalabedin</a:t>
            </a:r>
            <a:r>
              <a:rPr lang="en-US" dirty="0">
                <a:solidFill>
                  <a:srgbClr val="009644"/>
                </a:solidFill>
              </a:rPr>
              <a:t> </a:t>
            </a:r>
            <a:r>
              <a:rPr lang="en-US" dirty="0" err="1">
                <a:solidFill>
                  <a:srgbClr val="009644"/>
                </a:solidFill>
              </a:rPr>
              <a:t>Navabi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System Test and Testable Design: Using HDL Models and Architectures. </a:t>
            </a:r>
            <a:br>
              <a:rPr lang="en-US" dirty="0"/>
            </a:br>
            <a:r>
              <a:rPr lang="en-US" dirty="0">
                <a:solidFill>
                  <a:srgbClr val="009644"/>
                </a:solidFill>
              </a:rPr>
              <a:t>2019</a:t>
            </a:r>
          </a:p>
        </p:txBody>
      </p:sp>
      <p:pic>
        <p:nvPicPr>
          <p:cNvPr id="15" name="Graphic 14" descr="Address Book with solid fill">
            <a:extLst>
              <a:ext uri="{FF2B5EF4-FFF2-40B4-BE49-F238E27FC236}">
                <a16:creationId xmlns:a16="http://schemas.microsoft.com/office/drawing/2014/main" id="{27B96A78-5C1B-6058-4F7D-9DDBB3FA0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80" y="2448978"/>
            <a:ext cx="999049" cy="9990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539088-6D7E-E828-BA8A-403FD4153C04}"/>
              </a:ext>
            </a:extLst>
          </p:cNvPr>
          <p:cNvSpPr txBox="1"/>
          <p:nvPr/>
        </p:nvSpPr>
        <p:spPr>
          <a:xfrm>
            <a:off x="1404829" y="2395441"/>
            <a:ext cx="47655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44"/>
                </a:solidFill>
              </a:rPr>
              <a:t>Mentor Graphics Corporation</a:t>
            </a:r>
            <a:br>
              <a:rPr lang="en-US" dirty="0"/>
            </a:b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Tessent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TestKompress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User’s Manual</a:t>
            </a:r>
          </a:p>
          <a:p>
            <a:r>
              <a:rPr lang="en-US" dirty="0">
                <a:solidFill>
                  <a:srgbClr val="009644"/>
                </a:solidFill>
              </a:rPr>
              <a:t>2015</a:t>
            </a:r>
          </a:p>
        </p:txBody>
      </p:sp>
      <p:pic>
        <p:nvPicPr>
          <p:cNvPr id="17" name="Graphic 16" descr="Address Book with solid fill">
            <a:extLst>
              <a:ext uri="{FF2B5EF4-FFF2-40B4-BE49-F238E27FC236}">
                <a16:creationId xmlns:a16="http://schemas.microsoft.com/office/drawing/2014/main" id="{E874D76B-FCFE-0CE5-7B31-506F41FFD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80" y="3850744"/>
            <a:ext cx="999049" cy="9990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D9F4582-7153-4B63-044B-30B9A98621D1}"/>
              </a:ext>
            </a:extLst>
          </p:cNvPr>
          <p:cNvSpPr txBox="1"/>
          <p:nvPr/>
        </p:nvSpPr>
        <p:spPr>
          <a:xfrm>
            <a:off x="1404829" y="3797207"/>
            <a:ext cx="104084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44"/>
                </a:solidFill>
              </a:rPr>
              <a:t>Chris Spear</a:t>
            </a:r>
            <a:br>
              <a:rPr lang="en-US" dirty="0"/>
            </a:b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SystemVerilog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verification: a guide to learning the testbench language features</a:t>
            </a:r>
            <a:br>
              <a:rPr lang="en-US" dirty="0"/>
            </a:br>
            <a:r>
              <a:rPr lang="en-US" dirty="0">
                <a:solidFill>
                  <a:srgbClr val="009644"/>
                </a:solidFill>
              </a:rPr>
              <a:t>Springer Science &amp; Business Media, 2008</a:t>
            </a:r>
          </a:p>
        </p:txBody>
      </p:sp>
      <p:pic>
        <p:nvPicPr>
          <p:cNvPr id="19" name="Graphic 18" descr="Address Book with solid fill">
            <a:extLst>
              <a:ext uri="{FF2B5EF4-FFF2-40B4-BE49-F238E27FC236}">
                <a16:creationId xmlns:a16="http://schemas.microsoft.com/office/drawing/2014/main" id="{A2DB04AE-FF86-FCDA-5374-A3CE717D7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80" y="5375346"/>
            <a:ext cx="999049" cy="9990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F622E1-B645-B4D4-E7A0-A5543E3EED44}"/>
              </a:ext>
            </a:extLst>
          </p:cNvPr>
          <p:cNvSpPr txBox="1"/>
          <p:nvPr/>
        </p:nvSpPr>
        <p:spPr>
          <a:xfrm>
            <a:off x="1404829" y="5321809"/>
            <a:ext cx="50374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44"/>
                </a:solidFill>
              </a:rPr>
              <a:t>Mentor Graphics Corporation</a:t>
            </a:r>
            <a:br>
              <a:rPr lang="en-US" dirty="0"/>
            </a:b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Tessent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Scan and ATPG User’s Manual </a:t>
            </a:r>
            <a:br>
              <a:rPr lang="en-US" dirty="0"/>
            </a:br>
            <a:r>
              <a:rPr lang="en-US" dirty="0">
                <a:solidFill>
                  <a:srgbClr val="009644"/>
                </a:solidFill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2605485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6D33-5C2C-3465-07E7-4022EF3D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3073459"/>
            <a:ext cx="10969943" cy="71108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Mul</a:t>
            </a:r>
            <a:r>
              <a:rPr lang="ro-RO" dirty="0">
                <a:solidFill>
                  <a:schemeClr val="bg1"/>
                </a:solidFill>
              </a:rPr>
              <a:t>ț</a:t>
            </a:r>
            <a:r>
              <a:rPr lang="en-US" dirty="0" err="1">
                <a:solidFill>
                  <a:schemeClr val="bg1"/>
                </a:solidFill>
              </a:rPr>
              <a:t>umesc</a:t>
            </a:r>
            <a:r>
              <a:rPr lang="en-US" dirty="0">
                <a:solidFill>
                  <a:schemeClr val="bg1"/>
                </a:solidFill>
              </a:rPr>
              <a:t>!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58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187C0"/>
      </a:accent1>
      <a:accent2>
        <a:srgbClr val="57687B"/>
      </a:accent2>
      <a:accent3>
        <a:srgbClr val="359CDB"/>
      </a:accent3>
      <a:accent4>
        <a:srgbClr val="F4AB17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9055</TotalTime>
  <Words>802</Words>
  <Application>Microsoft Office PowerPoint</Application>
  <PresentationFormat>Custom</PresentationFormat>
  <Paragraphs>222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Open Sans</vt:lpstr>
      <vt:lpstr>Wingdings</vt:lpstr>
      <vt:lpstr>Office Theme</vt:lpstr>
      <vt:lpstr>PowerPoint Presentation</vt:lpstr>
      <vt:lpstr>Cuprins</vt:lpstr>
      <vt:lpstr>Motivație și obiective</vt:lpstr>
      <vt:lpstr>Motivatie si obiective</vt:lpstr>
      <vt:lpstr>Introducere</vt:lpstr>
      <vt:lpstr>Exemplu de testare a vectorilor de test</vt:lpstr>
      <vt:lpstr>Inserarea logicii de test</vt:lpstr>
      <vt:lpstr>Inserarea logicii de test</vt:lpstr>
      <vt:lpstr>Inserarea logicii de test</vt:lpstr>
      <vt:lpstr>Integrarea modulului EDT</vt:lpstr>
      <vt:lpstr>Exemplu de imbunatatire cu EDT</vt:lpstr>
      <vt:lpstr>Flow-ul de DFT aplicat</vt:lpstr>
      <vt:lpstr>Flow-ul de DFT aplicat</vt:lpstr>
      <vt:lpstr>Rezultatele generarii vectorilor de test</vt:lpstr>
      <vt:lpstr>Rezultatele generarii vectorilor de test</vt:lpstr>
      <vt:lpstr>Rezultatele generarii vectorilor de test</vt:lpstr>
      <vt:lpstr>Simularea vectorilor de test</vt:lpstr>
      <vt:lpstr>Simularea vectorilor de test</vt:lpstr>
      <vt:lpstr>Simularea vectorilor de test</vt:lpstr>
      <vt:lpstr>Exemplu de lanț de scan pe simulare</vt:lpstr>
      <vt:lpstr>Concluzii</vt:lpstr>
      <vt:lpstr>Concluzii</vt:lpstr>
      <vt:lpstr>Referințe</vt:lpstr>
      <vt:lpstr>Referinte</vt:lpstr>
      <vt:lpstr>Mulțumesc! 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CAPM Efficient Frontier Curve for PowerPoint</dc:title>
  <dc:creator>Julian</dc:creator>
  <cp:lastModifiedBy>Marian STANCOVICI (116501)</cp:lastModifiedBy>
  <cp:revision>176</cp:revision>
  <dcterms:created xsi:type="dcterms:W3CDTF">2013-09-12T13:05:01Z</dcterms:created>
  <dcterms:modified xsi:type="dcterms:W3CDTF">2024-07-02T15:04:02Z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true</vt:lpwstr>
  </property>
  <property fmtid="{D5CDD505-2E9C-101B-9397-08002B2CF9AE}" pid="3" name="MSIP_Label_a15a25aa-e944-415d-b7a7-40f6b9180b6b_SetDate">
    <vt:lpwstr>2024-06-28T06:31:40Z</vt:lpwstr>
  </property>
  <property fmtid="{D5CDD505-2E9C-101B-9397-08002B2CF9AE}" pid="4" name="MSIP_Label_a15a25aa-e944-415d-b7a7-40f6b9180b6b_Method">
    <vt:lpwstr>Standard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d9e9e18e-9f8a-4739-adfc-395e71d206c1</vt:lpwstr>
  </property>
  <property fmtid="{D5CDD505-2E9C-101B-9397-08002B2CF9AE}" pid="8" name="MSIP_Label_a15a25aa-e944-415d-b7a7-40f6b9180b6b_ContentBits">
    <vt:lpwstr>0</vt:lpwstr>
  </property>
</Properties>
</file>